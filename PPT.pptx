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9" r:id="rId4"/>
    <p:sldId id="281" r:id="rId5"/>
    <p:sldId id="260" r:id="rId6"/>
    <p:sldId id="282" r:id="rId7"/>
    <p:sldId id="258" r:id="rId8"/>
    <p:sldId id="263" r:id="rId9"/>
    <p:sldId id="264" r:id="rId10"/>
    <p:sldId id="280" r:id="rId11"/>
    <p:sldId id="266" r:id="rId12"/>
    <p:sldId id="283" r:id="rId13"/>
    <p:sldId id="284" r:id="rId14"/>
    <p:sldId id="285" r:id="rId15"/>
    <p:sldId id="269" r:id="rId16"/>
    <p:sldId id="286" r:id="rId17"/>
    <p:sldId id="271" r:id="rId18"/>
    <p:sldId id="272" r:id="rId19"/>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5" d="100"/>
          <a:sy n="85" d="100"/>
        </p:scale>
        <p:origin x="744"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svg"/><Relationship Id="rId1"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svg"/><Relationship Id="rId1"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B432F4-5FDB-4518-9272-2F3934AC6AA2}" type="doc">
      <dgm:prSet loTypeId="urn:microsoft.com/office/officeart/2018/2/layout/IconVerticalSolidList" loCatId="icon" qsTypeId="urn:microsoft.com/office/officeart/2005/8/quickstyle/simple4" qsCatId="simple" csTypeId="urn:microsoft.com/office/officeart/2018/5/colors/Iconchunking_neutralbg_colorful1" csCatId="colorful" phldr="1"/>
      <dgm:spPr/>
      <dgm:t>
        <a:bodyPr/>
        <a:lstStyle/>
        <a:p>
          <a:endParaRPr lang="en-US"/>
        </a:p>
      </dgm:t>
    </dgm:pt>
    <dgm:pt modelId="{B633A646-2062-4841-AF18-847B074C6716}">
      <dgm:prSet custT="1"/>
      <dgm:spPr/>
      <dgm:t>
        <a:bodyPr/>
        <a:lstStyle/>
        <a:p>
          <a:pPr>
            <a:lnSpc>
              <a:spcPct val="100000"/>
            </a:lnSpc>
          </a:pPr>
          <a:r>
            <a:rPr lang="en-US" sz="1800" dirty="0">
              <a:solidFill>
                <a:schemeClr val="bg1"/>
              </a:solidFill>
            </a:rPr>
            <a:t>Insurance is referred to as a means of protection from financial loss and it aids during a potential financial risk.</a:t>
          </a:r>
          <a:endParaRPr lang="en-US" sz="1800" noProof="0" dirty="0">
            <a:solidFill>
              <a:schemeClr val="bg1"/>
            </a:solidFill>
            <a:effectLst>
              <a:glow rad="152400">
                <a:schemeClr val="bg1">
                  <a:alpha val="19000"/>
                </a:schemeClr>
              </a:glow>
            </a:effectLst>
          </a:endParaRPr>
        </a:p>
      </dgm:t>
    </dgm:pt>
    <dgm:pt modelId="{DB4A5689-BD48-4D3D-8017-D1E3C49B0DDB}" type="parTrans" cxnId="{56ADA02B-9055-4F39-B74D-2D556F11DDB6}">
      <dgm:prSet/>
      <dgm:spPr/>
      <dgm:t>
        <a:bodyPr/>
        <a:lstStyle/>
        <a:p>
          <a:endParaRPr lang="en-US" noProof="0">
            <a:solidFill>
              <a:schemeClr val="bg1"/>
            </a:solidFill>
            <a:effectLst>
              <a:glow rad="152400">
                <a:schemeClr val="bg1">
                  <a:alpha val="19000"/>
                </a:schemeClr>
              </a:glow>
            </a:effectLst>
          </a:endParaRPr>
        </a:p>
      </dgm:t>
    </dgm:pt>
    <dgm:pt modelId="{1397C75F-5FD8-4120-9A24-A246D042942B}" type="sibTrans" cxnId="{56ADA02B-9055-4F39-B74D-2D556F11DDB6}">
      <dgm:prSet/>
      <dgm:spPr/>
      <dgm:t>
        <a:bodyPr/>
        <a:lstStyle/>
        <a:p>
          <a:endParaRPr lang="en-US" noProof="0">
            <a:solidFill>
              <a:schemeClr val="bg1"/>
            </a:solidFill>
            <a:effectLst>
              <a:glow rad="152400">
                <a:schemeClr val="bg1">
                  <a:alpha val="19000"/>
                </a:schemeClr>
              </a:glow>
            </a:effectLst>
          </a:endParaRPr>
        </a:p>
      </dgm:t>
    </dgm:pt>
    <dgm:pt modelId="{14BC708E-A0A1-4102-88E4-E75128B4E51E}">
      <dgm:prSet/>
      <dgm:spPr/>
      <dgm:t>
        <a:bodyPr/>
        <a:lstStyle/>
        <a:p>
          <a:pPr>
            <a:lnSpc>
              <a:spcPct val="100000"/>
            </a:lnSpc>
          </a:pPr>
          <a:r>
            <a:rPr lang="en-US" sz="1400" dirty="0">
              <a:solidFill>
                <a:schemeClr val="bg1"/>
              </a:solidFill>
            </a:rPr>
            <a:t>Efficiencies in insurance claim severity analysis helps keep rates lower for consumers and provide targeted assistance to sever them better.</a:t>
          </a:r>
          <a:r>
            <a:rPr lang="en-US" sz="1400" b="0" noProof="0" dirty="0">
              <a:solidFill>
                <a:schemeClr val="bg1"/>
              </a:solidFill>
              <a:effectLst>
                <a:glow rad="152400">
                  <a:schemeClr val="bg1">
                    <a:alpha val="19000"/>
                  </a:schemeClr>
                </a:glow>
              </a:effectLst>
            </a:rPr>
            <a:t> </a:t>
          </a:r>
        </a:p>
      </dgm:t>
    </dgm:pt>
    <dgm:pt modelId="{CF221EFF-354A-47A9-A498-1F0BBF01ECB8}" type="par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7519C821-85FB-4CA3-BEB5-E4BFBC529B83}" type="sibTrans" cxnId="{EB9839C5-F324-41C4-8950-5284E09FB71E}">
      <dgm:prSet/>
      <dgm:spPr/>
      <dgm:t>
        <a:bodyPr/>
        <a:lstStyle/>
        <a:p>
          <a:endParaRPr lang="en-US" noProof="0">
            <a:solidFill>
              <a:schemeClr val="bg1"/>
            </a:solidFill>
            <a:effectLst>
              <a:glow rad="152400">
                <a:schemeClr val="bg1">
                  <a:alpha val="19000"/>
                </a:schemeClr>
              </a:glow>
            </a:effectLst>
          </a:endParaRPr>
        </a:p>
      </dgm:t>
    </dgm:pt>
    <dgm:pt modelId="{C6D21269-399B-4BA2-8621-C7B9DA1E1B8F}">
      <dgm:prSet/>
      <dgm:spPr/>
      <dgm:t>
        <a:bodyPr/>
        <a:lstStyle/>
        <a:p>
          <a:pPr>
            <a:lnSpc>
              <a:spcPct val="100000"/>
            </a:lnSpc>
          </a:pPr>
          <a:r>
            <a:rPr lang="en-US" dirty="0">
              <a:solidFill>
                <a:schemeClr val="bg1"/>
              </a:solidFill>
            </a:rPr>
            <a:t>Through our project, we seek to predict the repair cost or loss of an insurance claim computationally using regression based learning methods.</a:t>
          </a:r>
          <a:endParaRPr lang="en-US" noProof="0" dirty="0">
            <a:solidFill>
              <a:schemeClr val="bg1"/>
            </a:solidFill>
            <a:effectLst>
              <a:glow rad="152400">
                <a:schemeClr val="bg1">
                  <a:alpha val="19000"/>
                </a:schemeClr>
              </a:glow>
            </a:effectLst>
          </a:endParaRPr>
        </a:p>
      </dgm:t>
    </dgm:pt>
    <dgm:pt modelId="{AA3929B3-1058-4240-AD5D-9518D4976567}" type="parTrans" cxnId="{E4AD895B-72A4-4A6B-A7F4-C77A53EC51BC}">
      <dgm:prSet/>
      <dgm:spPr/>
      <dgm:t>
        <a:bodyPr/>
        <a:lstStyle/>
        <a:p>
          <a:endParaRPr lang="en-US" noProof="0">
            <a:solidFill>
              <a:schemeClr val="bg1"/>
            </a:solidFill>
            <a:effectLst>
              <a:glow rad="152400">
                <a:schemeClr val="bg1">
                  <a:alpha val="19000"/>
                </a:schemeClr>
              </a:glow>
            </a:effectLst>
          </a:endParaRPr>
        </a:p>
      </dgm:t>
    </dgm:pt>
    <dgm:pt modelId="{C79B0F2C-DDB4-44EB-89F7-717146B88B10}" type="sibTrans" cxnId="{E4AD895B-72A4-4A6B-A7F4-C77A53EC51BC}">
      <dgm:prSet/>
      <dgm:spPr/>
      <dgm:t>
        <a:bodyPr/>
        <a:lstStyle/>
        <a:p>
          <a:endParaRPr lang="en-US" noProof="0">
            <a:solidFill>
              <a:schemeClr val="bg1"/>
            </a:solidFill>
            <a:effectLst>
              <a:glow rad="152400">
                <a:schemeClr val="bg1">
                  <a:alpha val="19000"/>
                </a:schemeClr>
              </a:glow>
            </a:effectLst>
          </a:endParaRPr>
        </a:p>
      </dgm:t>
    </dgm:pt>
    <dgm:pt modelId="{D40A0249-41A7-44A6-A657-361E8C18FD42}" type="pres">
      <dgm:prSet presAssocID="{E1B432F4-5FDB-4518-9272-2F3934AC6AA2}" presName="root" presStyleCnt="0">
        <dgm:presLayoutVars>
          <dgm:dir/>
          <dgm:resizeHandles val="exact"/>
        </dgm:presLayoutVars>
      </dgm:prSet>
      <dgm:spPr/>
      <dgm:t>
        <a:bodyPr/>
        <a:lstStyle/>
        <a:p>
          <a:endParaRPr lang="en-US"/>
        </a:p>
      </dgm:t>
    </dgm:pt>
    <dgm:pt modelId="{7D1F47A2-8F6C-4C7F-B3B3-2100C986DE32}" type="pres">
      <dgm:prSet presAssocID="{B633A646-2062-4841-AF18-847B074C6716}" presName="compNode" presStyleCnt="0"/>
      <dgm:spPr/>
    </dgm:pt>
    <dgm:pt modelId="{EC4D957C-BFAC-446D-9573-48333BEC34E6}" type="pres">
      <dgm:prSet presAssocID="{B633A646-2062-4841-AF18-847B074C6716}" presName="bgRect" presStyleLbl="bgShp" presStyleIdx="0" presStyleCnt="3" custLinFactNeighborX="-15650" custLinFactNeighborY="16847"/>
      <dgm:spPr>
        <a:prstGeom prst="rect">
          <a:avLst/>
        </a:prstGeom>
        <a:solidFill>
          <a:schemeClr val="tx1">
            <a:alpha val="70000"/>
          </a:schemeClr>
        </a:solidFill>
      </dgm:spPr>
    </dgm:pt>
    <dgm:pt modelId="{BE6B2CCF-B717-4C6F-9115-44EF0ECE6018}" type="pres">
      <dgm:prSet presAssocID="{B633A646-2062-4841-AF18-847B074C6716}" presName="iconRect" presStyleLbl="node1" presStyleIdx="0" presStyleCnt="3" custScaleX="76644" custScaleY="66365"/>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hopping cart"/>
        </a:ext>
      </dgm:extLst>
    </dgm:pt>
    <dgm:pt modelId="{95420642-092B-41B9-94FA-E0EC36F9AF7E}" type="pres">
      <dgm:prSet presAssocID="{B633A646-2062-4841-AF18-847B074C6716}" presName="spaceRect" presStyleCnt="0"/>
      <dgm:spPr/>
    </dgm:pt>
    <dgm:pt modelId="{C95AF6F0-F4DA-48FE-85EB-61ADFB42AA13}" type="pres">
      <dgm:prSet presAssocID="{B633A646-2062-4841-AF18-847B074C6716}" presName="parTx" presStyleLbl="revTx" presStyleIdx="0" presStyleCnt="3">
        <dgm:presLayoutVars>
          <dgm:chMax val="0"/>
          <dgm:chPref val="0"/>
        </dgm:presLayoutVars>
      </dgm:prSet>
      <dgm:spPr/>
      <dgm:t>
        <a:bodyPr/>
        <a:lstStyle/>
        <a:p>
          <a:endParaRPr lang="en-US"/>
        </a:p>
      </dgm:t>
    </dgm:pt>
    <dgm:pt modelId="{51DD96AA-8DD7-4B07-A561-5C9B41ACFA3C}" type="pres">
      <dgm:prSet presAssocID="{1397C75F-5FD8-4120-9A24-A246D042942B}" presName="sibTrans" presStyleCnt="0"/>
      <dgm:spPr/>
    </dgm:pt>
    <dgm:pt modelId="{38E06421-A6BB-4D10-8565-2812C2C5C6B3}" type="pres">
      <dgm:prSet presAssocID="{14BC708E-A0A1-4102-88E4-E75128B4E51E}" presName="compNode" presStyleCnt="0"/>
      <dgm:spPr/>
    </dgm:pt>
    <dgm:pt modelId="{79919C57-A32A-40F6-B106-B4E0CE644E4C}" type="pres">
      <dgm:prSet presAssocID="{14BC708E-A0A1-4102-88E4-E75128B4E51E}" presName="bgRect" presStyleLbl="bgShp" presStyleIdx="1" presStyleCnt="3"/>
      <dgm:spPr>
        <a:xfrm>
          <a:off x="0" y="1760029"/>
          <a:ext cx="5607050" cy="1407541"/>
        </a:xfrm>
        <a:prstGeom prst="rect">
          <a:avLst/>
        </a:prstGeom>
        <a:solidFill>
          <a:srgbClr val="000000">
            <a:alpha val="70000"/>
          </a:srgbClr>
        </a:solidFill>
        <a:ln>
          <a:noFill/>
        </a:ln>
        <a:effectLst/>
      </dgm:spPr>
    </dgm:pt>
    <dgm:pt modelId="{99FDF55F-B3E9-423D-AD21-A6446C5D7455}" type="pres">
      <dgm:prSet presAssocID="{14BC708E-A0A1-4102-88E4-E75128B4E51E}" presName="iconRect" presStyleLbl="node1" presStyleIdx="1" presStyleCnt="3" custScaleX="87488" custScaleY="91540"/>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Handshake"/>
        </a:ext>
      </dgm:extLst>
    </dgm:pt>
    <dgm:pt modelId="{E98BD5F1-E6F1-491F-A8EE-6A9AD649521E}" type="pres">
      <dgm:prSet presAssocID="{14BC708E-A0A1-4102-88E4-E75128B4E51E}" presName="spaceRect" presStyleCnt="0"/>
      <dgm:spPr/>
    </dgm:pt>
    <dgm:pt modelId="{80F6AD63-74FB-40E4-9D40-4178AFD87F60}" type="pres">
      <dgm:prSet presAssocID="{14BC708E-A0A1-4102-88E4-E75128B4E51E}" presName="parTx" presStyleLbl="revTx" presStyleIdx="1" presStyleCnt="3">
        <dgm:presLayoutVars>
          <dgm:chMax val="0"/>
          <dgm:chPref val="0"/>
        </dgm:presLayoutVars>
      </dgm:prSet>
      <dgm:spPr/>
      <dgm:t>
        <a:bodyPr/>
        <a:lstStyle/>
        <a:p>
          <a:endParaRPr lang="en-US"/>
        </a:p>
      </dgm:t>
    </dgm:pt>
    <dgm:pt modelId="{1375F890-B8F8-4966-ABCD-B672FD4512B7}" type="pres">
      <dgm:prSet presAssocID="{7519C821-85FB-4CA3-BEB5-E4BFBC529B83}" presName="sibTrans" presStyleCnt="0"/>
      <dgm:spPr/>
    </dgm:pt>
    <dgm:pt modelId="{9887B295-B446-4B8E-AEA4-76754DE9DD89}" type="pres">
      <dgm:prSet presAssocID="{C6D21269-399B-4BA2-8621-C7B9DA1E1B8F}" presName="compNode" presStyleCnt="0"/>
      <dgm:spPr/>
    </dgm:pt>
    <dgm:pt modelId="{436A8B1C-2D30-44BB-9150-7099503C8960}" type="pres">
      <dgm:prSet presAssocID="{C6D21269-399B-4BA2-8621-C7B9DA1E1B8F}" presName="bgRect" presStyleLbl="bgShp" presStyleIdx="2" presStyleCnt="3" custLinFactNeighborX="34856" custLinFactNeighborY="-2068"/>
      <dgm:spPr>
        <a:xfrm>
          <a:off x="0" y="3519456"/>
          <a:ext cx="5607050" cy="1407541"/>
        </a:xfrm>
        <a:prstGeom prst="rect">
          <a:avLst/>
        </a:prstGeom>
        <a:solidFill>
          <a:srgbClr val="000000">
            <a:alpha val="70000"/>
          </a:srgbClr>
        </a:solidFill>
        <a:ln>
          <a:noFill/>
        </a:ln>
        <a:effectLst/>
      </dgm:spPr>
    </dgm:pt>
    <dgm:pt modelId="{1A8B8B62-3037-4506-89D7-28710774070B}" type="pres">
      <dgm:prSet presAssocID="{C6D21269-399B-4BA2-8621-C7B9DA1E1B8F}" presName="iconRect" presStyleLbl="node1" presStyleIdx="2" presStyleCnt="3" custScaleX="89079" custScaleY="99282"/>
      <dgm:spPr>
        <a:blipFill rotWithShape="1">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a:blipFill>
        <a:ln>
          <a:noFill/>
        </a:ln>
      </dgm:spPr>
      <dgm:t>
        <a:bodyPr/>
        <a:lstStyle/>
        <a:p>
          <a:endParaRPr lang="en-US"/>
        </a:p>
      </dgm:t>
      <dgm:extLst>
        <a:ext uri="{E40237B7-FDA0-4F09-8148-C483321AD2D9}">
          <dgm14:cNvPr xmlns:dgm14="http://schemas.microsoft.com/office/drawing/2010/diagram" id="0" name="" descr="Close"/>
        </a:ext>
      </dgm:extLst>
    </dgm:pt>
    <dgm:pt modelId="{2FFC6342-A780-4396-8FAC-8E7FAE77A6E2}" type="pres">
      <dgm:prSet presAssocID="{C6D21269-399B-4BA2-8621-C7B9DA1E1B8F}" presName="spaceRect" presStyleCnt="0"/>
      <dgm:spPr/>
    </dgm:pt>
    <dgm:pt modelId="{D5847293-6F0A-4807-B203-585610F4F535}" type="pres">
      <dgm:prSet presAssocID="{C6D21269-399B-4BA2-8621-C7B9DA1E1B8F}" presName="parTx" presStyleLbl="revTx" presStyleIdx="2" presStyleCnt="3">
        <dgm:presLayoutVars>
          <dgm:chMax val="0"/>
          <dgm:chPref val="0"/>
        </dgm:presLayoutVars>
      </dgm:prSet>
      <dgm:spPr/>
      <dgm:t>
        <a:bodyPr/>
        <a:lstStyle/>
        <a:p>
          <a:endParaRPr lang="en-US"/>
        </a:p>
      </dgm:t>
    </dgm:pt>
  </dgm:ptLst>
  <dgm:cxnLst>
    <dgm:cxn modelId="{0F0438E4-D0CA-47DC-8484-BFD8CF753812}" type="presOf" srcId="{C6D21269-399B-4BA2-8621-C7B9DA1E1B8F}" destId="{D5847293-6F0A-4807-B203-585610F4F535}" srcOrd="0" destOrd="0" presId="urn:microsoft.com/office/officeart/2018/2/layout/IconVerticalSolidList"/>
    <dgm:cxn modelId="{EB9839C5-F324-41C4-8950-5284E09FB71E}" srcId="{E1B432F4-5FDB-4518-9272-2F3934AC6AA2}" destId="{14BC708E-A0A1-4102-88E4-E75128B4E51E}" srcOrd="1" destOrd="0" parTransId="{CF221EFF-354A-47A9-A498-1F0BBF01ECB8}" sibTransId="{7519C821-85FB-4CA3-BEB5-E4BFBC529B83}"/>
    <dgm:cxn modelId="{E4AD895B-72A4-4A6B-A7F4-C77A53EC51BC}" srcId="{E1B432F4-5FDB-4518-9272-2F3934AC6AA2}" destId="{C6D21269-399B-4BA2-8621-C7B9DA1E1B8F}" srcOrd="2" destOrd="0" parTransId="{AA3929B3-1058-4240-AD5D-9518D4976567}" sibTransId="{C79B0F2C-DDB4-44EB-89F7-717146B88B10}"/>
    <dgm:cxn modelId="{282E4C31-D2E4-4F2E-B7E4-7F072B61355B}" type="presOf" srcId="{E1B432F4-5FDB-4518-9272-2F3934AC6AA2}" destId="{D40A0249-41A7-44A6-A657-361E8C18FD42}" srcOrd="0" destOrd="0" presId="urn:microsoft.com/office/officeart/2018/2/layout/IconVerticalSolidList"/>
    <dgm:cxn modelId="{944ABB28-0B7D-40F0-8726-3385D62BD567}" type="presOf" srcId="{B633A646-2062-4841-AF18-847B074C6716}" destId="{C95AF6F0-F4DA-48FE-85EB-61ADFB42AA13}" srcOrd="0" destOrd="0" presId="urn:microsoft.com/office/officeart/2018/2/layout/IconVerticalSolidList"/>
    <dgm:cxn modelId="{56ADA02B-9055-4F39-B74D-2D556F11DDB6}" srcId="{E1B432F4-5FDB-4518-9272-2F3934AC6AA2}" destId="{B633A646-2062-4841-AF18-847B074C6716}" srcOrd="0" destOrd="0" parTransId="{DB4A5689-BD48-4D3D-8017-D1E3C49B0DDB}" sibTransId="{1397C75F-5FD8-4120-9A24-A246D042942B}"/>
    <dgm:cxn modelId="{4A4BD2E1-F579-4CB0-A349-6E4A603D3C1F}" type="presOf" srcId="{14BC708E-A0A1-4102-88E4-E75128B4E51E}" destId="{80F6AD63-74FB-40E4-9D40-4178AFD87F60}" srcOrd="0" destOrd="0" presId="urn:microsoft.com/office/officeart/2018/2/layout/IconVerticalSolidList"/>
    <dgm:cxn modelId="{07CEADA1-F123-4E4C-9E9E-EDC53C6A9D42}" type="presParOf" srcId="{D40A0249-41A7-44A6-A657-361E8C18FD42}" destId="{7D1F47A2-8F6C-4C7F-B3B3-2100C986DE32}" srcOrd="0" destOrd="0" presId="urn:microsoft.com/office/officeart/2018/2/layout/IconVerticalSolidList"/>
    <dgm:cxn modelId="{F2FB5DCA-E48C-4F18-9E21-40A8BA4E97C5}" type="presParOf" srcId="{7D1F47A2-8F6C-4C7F-B3B3-2100C986DE32}" destId="{EC4D957C-BFAC-446D-9573-48333BEC34E6}" srcOrd="0" destOrd="0" presId="urn:microsoft.com/office/officeart/2018/2/layout/IconVerticalSolidList"/>
    <dgm:cxn modelId="{A830D3AF-7E56-4163-A545-B5B0E5253A32}" type="presParOf" srcId="{7D1F47A2-8F6C-4C7F-B3B3-2100C986DE32}" destId="{BE6B2CCF-B717-4C6F-9115-44EF0ECE6018}" srcOrd="1" destOrd="0" presId="urn:microsoft.com/office/officeart/2018/2/layout/IconVerticalSolidList"/>
    <dgm:cxn modelId="{C133A968-EF32-4D7B-99AB-467DBC63AA65}" type="presParOf" srcId="{7D1F47A2-8F6C-4C7F-B3B3-2100C986DE32}" destId="{95420642-092B-41B9-94FA-E0EC36F9AF7E}" srcOrd="2" destOrd="0" presId="urn:microsoft.com/office/officeart/2018/2/layout/IconVerticalSolidList"/>
    <dgm:cxn modelId="{D41F3259-A36F-405E-9981-26F5153F9ECE}" type="presParOf" srcId="{7D1F47A2-8F6C-4C7F-B3B3-2100C986DE32}" destId="{C95AF6F0-F4DA-48FE-85EB-61ADFB42AA13}" srcOrd="3" destOrd="0" presId="urn:microsoft.com/office/officeart/2018/2/layout/IconVerticalSolidList"/>
    <dgm:cxn modelId="{23EAD705-80C2-4A13-8B46-0FDB076A4FC2}" type="presParOf" srcId="{D40A0249-41A7-44A6-A657-361E8C18FD42}" destId="{51DD96AA-8DD7-4B07-A561-5C9B41ACFA3C}" srcOrd="1" destOrd="0" presId="urn:microsoft.com/office/officeart/2018/2/layout/IconVerticalSolidList"/>
    <dgm:cxn modelId="{37270FB1-E3CB-4E7A-934D-8AD3CE1A6A9C}" type="presParOf" srcId="{D40A0249-41A7-44A6-A657-361E8C18FD42}" destId="{38E06421-A6BB-4D10-8565-2812C2C5C6B3}" srcOrd="2" destOrd="0" presId="urn:microsoft.com/office/officeart/2018/2/layout/IconVerticalSolidList"/>
    <dgm:cxn modelId="{A2720370-712D-409A-A691-A76A6B58E669}" type="presParOf" srcId="{38E06421-A6BB-4D10-8565-2812C2C5C6B3}" destId="{79919C57-A32A-40F6-B106-B4E0CE644E4C}" srcOrd="0" destOrd="0" presId="urn:microsoft.com/office/officeart/2018/2/layout/IconVerticalSolidList"/>
    <dgm:cxn modelId="{7F0D094D-67F9-4096-8C3F-6FB86443B146}" type="presParOf" srcId="{38E06421-A6BB-4D10-8565-2812C2C5C6B3}" destId="{99FDF55F-B3E9-423D-AD21-A6446C5D7455}" srcOrd="1" destOrd="0" presId="urn:microsoft.com/office/officeart/2018/2/layout/IconVerticalSolidList"/>
    <dgm:cxn modelId="{A46EF107-6809-4A78-A437-DA4FD0910124}" type="presParOf" srcId="{38E06421-A6BB-4D10-8565-2812C2C5C6B3}" destId="{E98BD5F1-E6F1-491F-A8EE-6A9AD649521E}" srcOrd="2" destOrd="0" presId="urn:microsoft.com/office/officeart/2018/2/layout/IconVerticalSolidList"/>
    <dgm:cxn modelId="{A2F04EF7-8EDA-4B91-A3BA-95A8C47F2083}" type="presParOf" srcId="{38E06421-A6BB-4D10-8565-2812C2C5C6B3}" destId="{80F6AD63-74FB-40E4-9D40-4178AFD87F60}" srcOrd="3" destOrd="0" presId="urn:microsoft.com/office/officeart/2018/2/layout/IconVerticalSolidList"/>
    <dgm:cxn modelId="{600447EF-7DA9-4818-8D45-C741C5E6B34A}" type="presParOf" srcId="{D40A0249-41A7-44A6-A657-361E8C18FD42}" destId="{1375F890-B8F8-4966-ABCD-B672FD4512B7}" srcOrd="3" destOrd="0" presId="urn:microsoft.com/office/officeart/2018/2/layout/IconVerticalSolidList"/>
    <dgm:cxn modelId="{678E6197-2DF8-487D-80B8-DC5109CCDD3F}" type="presParOf" srcId="{D40A0249-41A7-44A6-A657-361E8C18FD42}" destId="{9887B295-B446-4B8E-AEA4-76754DE9DD89}" srcOrd="4" destOrd="0" presId="urn:microsoft.com/office/officeart/2018/2/layout/IconVerticalSolidList"/>
    <dgm:cxn modelId="{27C0A3EB-AFC3-4068-98D6-97C2AE9FB8D1}" type="presParOf" srcId="{9887B295-B446-4B8E-AEA4-76754DE9DD89}" destId="{436A8B1C-2D30-44BB-9150-7099503C8960}" srcOrd="0" destOrd="0" presId="urn:microsoft.com/office/officeart/2018/2/layout/IconVerticalSolidList"/>
    <dgm:cxn modelId="{3914B107-20DC-4ED8-B86C-19F61BC45DBB}" type="presParOf" srcId="{9887B295-B446-4B8E-AEA4-76754DE9DD89}" destId="{1A8B8B62-3037-4506-89D7-28710774070B}" srcOrd="1" destOrd="0" presId="urn:microsoft.com/office/officeart/2018/2/layout/IconVerticalSolidList"/>
    <dgm:cxn modelId="{8C250632-60D4-4813-9B7E-F468D972396C}" type="presParOf" srcId="{9887B295-B446-4B8E-AEA4-76754DE9DD89}" destId="{2FFC6342-A780-4396-8FAC-8E7FAE77A6E2}" srcOrd="2" destOrd="0" presId="urn:microsoft.com/office/officeart/2018/2/layout/IconVerticalSolidList"/>
    <dgm:cxn modelId="{84E4FB42-7EF6-4E5B-9E43-2F003B8E5D13}" type="presParOf" srcId="{9887B295-B446-4B8E-AEA4-76754DE9DD89}" destId="{D5847293-6F0A-4807-B203-585610F4F53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4D957C-BFAC-446D-9573-48333BEC34E6}">
      <dsp:nvSpPr>
        <dsp:cNvPr id="0" name=""/>
        <dsp:cNvSpPr/>
      </dsp:nvSpPr>
      <dsp:spPr>
        <a:xfrm>
          <a:off x="0" y="246331"/>
          <a:ext cx="8915400" cy="1458470"/>
        </a:xfrm>
        <a:prstGeom prst="rect">
          <a:avLst/>
        </a:prstGeom>
        <a:solidFill>
          <a:schemeClr val="tx1">
            <a:alpha val="70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E6B2CCF-B717-4C6F-9115-44EF0ECE6018}">
      <dsp:nvSpPr>
        <dsp:cNvPr id="0" name=""/>
        <dsp:cNvSpPr/>
      </dsp:nvSpPr>
      <dsp:spPr>
        <a:xfrm>
          <a:off x="534863" y="463682"/>
          <a:ext cx="614806" cy="532352"/>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 xmlns:asvg="http://schemas.microsoft.com/office/drawing/2016/SVG/main" r:embed="rId2"/>
              </a:ext>
            </a:extLst>
          </a:blip>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95AF6F0-F4DA-48FE-85EB-61ADFB42AA13}">
      <dsp:nvSpPr>
        <dsp:cNvPr id="0" name=""/>
        <dsp:cNvSpPr/>
      </dsp:nvSpPr>
      <dsp:spPr>
        <a:xfrm>
          <a:off x="1684533" y="623"/>
          <a:ext cx="7230866" cy="1458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355" tIns="154355" rIns="154355" bIns="154355" numCol="1" spcCol="1270" anchor="ctr" anchorCtr="0">
          <a:noAutofit/>
        </a:bodyPr>
        <a:lstStyle/>
        <a:p>
          <a:pPr lvl="0" algn="l" defTabSz="800100">
            <a:lnSpc>
              <a:spcPct val="100000"/>
            </a:lnSpc>
            <a:spcBef>
              <a:spcPct val="0"/>
            </a:spcBef>
            <a:spcAft>
              <a:spcPct val="35000"/>
            </a:spcAft>
          </a:pPr>
          <a:r>
            <a:rPr lang="en-US" sz="1800" kern="1200" dirty="0">
              <a:solidFill>
                <a:schemeClr val="bg1"/>
              </a:solidFill>
            </a:rPr>
            <a:t>Insurance is referred to as a means of protection from financial loss and it aids during a potential financial risk.</a:t>
          </a:r>
          <a:endParaRPr lang="en-US" sz="1800" kern="1200" noProof="0" dirty="0">
            <a:solidFill>
              <a:schemeClr val="bg1"/>
            </a:solidFill>
            <a:effectLst>
              <a:glow rad="152400">
                <a:schemeClr val="bg1">
                  <a:alpha val="19000"/>
                </a:schemeClr>
              </a:glow>
            </a:effectLst>
          </a:endParaRPr>
        </a:p>
      </dsp:txBody>
      <dsp:txXfrm>
        <a:off x="1684533" y="623"/>
        <a:ext cx="7230866" cy="1458470"/>
      </dsp:txXfrm>
    </dsp:sp>
    <dsp:sp modelId="{79919C57-A32A-40F6-B106-B4E0CE644E4C}">
      <dsp:nvSpPr>
        <dsp:cNvPr id="0" name=""/>
        <dsp:cNvSpPr/>
      </dsp:nvSpPr>
      <dsp:spPr>
        <a:xfrm>
          <a:off x="0" y="1823711"/>
          <a:ext cx="8915400" cy="1458470"/>
        </a:xfrm>
        <a:prstGeom prst="rect">
          <a:avLst/>
        </a:prstGeom>
        <a:solidFill>
          <a:srgbClr val="000000">
            <a:alpha val="70000"/>
          </a:srgbClr>
        </a:solidFill>
        <a:ln>
          <a:noFill/>
        </a:ln>
        <a:effectLst/>
      </dsp:spPr>
      <dsp:style>
        <a:lnRef idx="0">
          <a:scrgbClr r="0" g="0" b="0"/>
        </a:lnRef>
        <a:fillRef idx="1">
          <a:scrgbClr r="0" g="0" b="0"/>
        </a:fillRef>
        <a:effectRef idx="2">
          <a:scrgbClr r="0" g="0" b="0"/>
        </a:effectRef>
        <a:fontRef idx="minor"/>
      </dsp:style>
    </dsp:sp>
    <dsp:sp modelId="{99FDF55F-B3E9-423D-AD21-A6446C5D7455}">
      <dsp:nvSpPr>
        <dsp:cNvPr id="0" name=""/>
        <dsp:cNvSpPr/>
      </dsp:nvSpPr>
      <dsp:spPr>
        <a:xfrm>
          <a:off x="491370" y="2185798"/>
          <a:ext cx="701792" cy="734296"/>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0F6AD63-74FB-40E4-9D40-4178AFD87F60}">
      <dsp:nvSpPr>
        <dsp:cNvPr id="0" name=""/>
        <dsp:cNvSpPr/>
      </dsp:nvSpPr>
      <dsp:spPr>
        <a:xfrm>
          <a:off x="1684533" y="1823711"/>
          <a:ext cx="7230866" cy="1458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355" tIns="154355" rIns="154355" bIns="154355" numCol="1" spcCol="1270" anchor="ctr" anchorCtr="0">
          <a:noAutofit/>
        </a:bodyPr>
        <a:lstStyle/>
        <a:p>
          <a:pPr lvl="0" algn="l" defTabSz="1066800">
            <a:lnSpc>
              <a:spcPct val="100000"/>
            </a:lnSpc>
            <a:spcBef>
              <a:spcPct val="0"/>
            </a:spcBef>
            <a:spcAft>
              <a:spcPct val="35000"/>
            </a:spcAft>
          </a:pPr>
          <a:r>
            <a:rPr lang="en-US" sz="2400" kern="1200" dirty="0">
              <a:solidFill>
                <a:schemeClr val="bg1"/>
              </a:solidFill>
            </a:rPr>
            <a:t>Efficiencies in insurance claim severity analysis helps keep rates lower for consumers and provide targeted assistance to sever them better.</a:t>
          </a:r>
          <a:r>
            <a:rPr lang="en-US" sz="2400" b="0" kern="1200" noProof="0" dirty="0">
              <a:solidFill>
                <a:schemeClr val="bg1"/>
              </a:solidFill>
              <a:effectLst>
                <a:glow rad="152400">
                  <a:schemeClr val="bg1">
                    <a:alpha val="19000"/>
                  </a:schemeClr>
                </a:glow>
              </a:effectLst>
            </a:rPr>
            <a:t> </a:t>
          </a:r>
        </a:p>
      </dsp:txBody>
      <dsp:txXfrm>
        <a:off x="1684533" y="1823711"/>
        <a:ext cx="7230866" cy="1458470"/>
      </dsp:txXfrm>
    </dsp:sp>
    <dsp:sp modelId="{436A8B1C-2D30-44BB-9150-7099503C8960}">
      <dsp:nvSpPr>
        <dsp:cNvPr id="0" name=""/>
        <dsp:cNvSpPr/>
      </dsp:nvSpPr>
      <dsp:spPr>
        <a:xfrm>
          <a:off x="0" y="3616638"/>
          <a:ext cx="8915400" cy="1458470"/>
        </a:xfrm>
        <a:prstGeom prst="rect">
          <a:avLst/>
        </a:prstGeom>
        <a:solidFill>
          <a:srgbClr val="000000">
            <a:alpha val="70000"/>
          </a:srgbClr>
        </a:solidFill>
        <a:ln>
          <a:noFill/>
        </a:ln>
        <a:effectLst/>
      </dsp:spPr>
      <dsp:style>
        <a:lnRef idx="0">
          <a:scrgbClr r="0" g="0" b="0"/>
        </a:lnRef>
        <a:fillRef idx="1">
          <a:scrgbClr r="0" g="0" b="0"/>
        </a:fillRef>
        <a:effectRef idx="2">
          <a:scrgbClr r="0" g="0" b="0"/>
        </a:effectRef>
        <a:fontRef idx="minor"/>
      </dsp:style>
    </dsp:sp>
    <dsp:sp modelId="{1A8B8B62-3037-4506-89D7-28710774070B}">
      <dsp:nvSpPr>
        <dsp:cNvPr id="0" name=""/>
        <dsp:cNvSpPr/>
      </dsp:nvSpPr>
      <dsp:spPr>
        <a:xfrm>
          <a:off x="484989" y="3977835"/>
          <a:ext cx="714555" cy="796399"/>
        </a:xfrm>
        <a:prstGeom prst="rect">
          <a:avLst/>
        </a:prstGeom>
        <a:blipFill rotWithShape="1">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5847293-6F0A-4807-B203-585610F4F535}">
      <dsp:nvSpPr>
        <dsp:cNvPr id="0" name=""/>
        <dsp:cNvSpPr/>
      </dsp:nvSpPr>
      <dsp:spPr>
        <a:xfrm>
          <a:off x="1684533" y="3646800"/>
          <a:ext cx="7230866" cy="1458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355" tIns="154355" rIns="154355" bIns="154355" numCol="1" spcCol="1270" anchor="ctr" anchorCtr="0">
          <a:noAutofit/>
        </a:bodyPr>
        <a:lstStyle/>
        <a:p>
          <a:pPr lvl="0" algn="l" defTabSz="1066800">
            <a:lnSpc>
              <a:spcPct val="100000"/>
            </a:lnSpc>
            <a:spcBef>
              <a:spcPct val="0"/>
            </a:spcBef>
            <a:spcAft>
              <a:spcPct val="35000"/>
            </a:spcAft>
          </a:pPr>
          <a:r>
            <a:rPr lang="en-US" sz="2400" kern="1200" dirty="0">
              <a:solidFill>
                <a:schemeClr val="bg1"/>
              </a:solidFill>
            </a:rPr>
            <a:t>Through our project, we seek to predict the repair cost or loss of an insurance claim computationally using regression based learning methods.</a:t>
          </a:r>
          <a:endParaRPr lang="en-US" sz="2400" kern="1200" noProof="0" dirty="0">
            <a:solidFill>
              <a:schemeClr val="bg1"/>
            </a:solidFill>
            <a:effectLst>
              <a:glow rad="152400">
                <a:schemeClr val="bg1">
                  <a:alpha val="19000"/>
                </a:schemeClr>
              </a:glow>
            </a:effectLst>
          </a:endParaRPr>
        </a:p>
      </dsp:txBody>
      <dsp:txXfrm>
        <a:off x="1684533" y="3646800"/>
        <a:ext cx="7230866" cy="145847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F1A78C1-54E3-4BAD-93FC-704A986739FB}" type="datetimeFigureOut">
              <a:rPr lang="en-IN" smtClean="0"/>
              <a:t>09-01-2026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04D9D99-4AA9-4B30-B88C-6288BCD8A37F}"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001F5F"/>
                </a:solidFill>
                <a:latin typeface="Cambria" panose="02040503050406030204"/>
                <a:cs typeface="Cambria" panose="02040503050406030204"/>
              </a:defRPr>
            </a:lvl1pPr>
          </a:lstStyle>
          <a:p>
            <a:pPr marL="12700">
              <a:lnSpc>
                <a:spcPct val="100000"/>
              </a:lnSpc>
              <a:spcBef>
                <a:spcPts val="20"/>
              </a:spcBef>
            </a:pPr>
            <a:r>
              <a:rPr spc="-155" dirty="0"/>
              <a:t>©</a:t>
            </a:r>
            <a:r>
              <a:rPr spc="140" dirty="0"/>
              <a:t> </a:t>
            </a:r>
            <a:r>
              <a:rPr spc="105" dirty="0"/>
              <a:t>BVRIT</a:t>
            </a:r>
            <a:r>
              <a:rPr spc="135" dirty="0"/>
              <a:t> </a:t>
            </a:r>
            <a:r>
              <a:rPr spc="85" dirty="0"/>
              <a:t>CSE(AI&amp;ML)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p:txBody>
          <a:bodyPr lIns="0" tIns="0" rIns="0" bIns="0"/>
          <a:lstStyle>
            <a:lvl1pPr>
              <a:defRPr sz="1400" b="1" i="0">
                <a:solidFill>
                  <a:schemeClr val="bg1"/>
                </a:solidFill>
                <a:latin typeface="Trebuchet MS" panose="020B0603020202020204"/>
                <a:cs typeface="Trebuchet MS" panose="020B0603020202020204"/>
              </a:defRPr>
            </a:lvl1pPr>
          </a:lstStyle>
          <a:p>
            <a:pPr marL="38100">
              <a:lnSpc>
                <a:spcPct val="100000"/>
              </a:lnSpc>
              <a:spcBef>
                <a:spcPts val="20"/>
              </a:spcBef>
            </a:pPr>
            <a:fld id="{81D60167-4931-47E6-BA6A-407CBD079E47}" type="slidenum">
              <a:rPr spc="-225" dirty="0"/>
              <a:t>‹#›</a:t>
            </a:fld>
            <a:endParaRPr spc="-2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u="heavy">
                <a:solidFill>
                  <a:schemeClr val="tx1"/>
                </a:solidFill>
                <a:latin typeface="Cambria" panose="02040503050406030204"/>
                <a:cs typeface="Cambria" panose="02040503050406030204"/>
              </a:defRPr>
            </a:lvl1pPr>
          </a:lstStyle>
          <a:p>
            <a:endParaRPr/>
          </a:p>
        </p:txBody>
      </p:sp>
      <p:sp>
        <p:nvSpPr>
          <p:cNvPr id="3" name="Holder 3"/>
          <p:cNvSpPr>
            <a:spLocks noGrp="1"/>
          </p:cNvSpPr>
          <p:nvPr>
            <p:ph type="body" idx="1"/>
          </p:nvPr>
        </p:nvSpPr>
        <p:spPr/>
        <p:txBody>
          <a:bodyPr lIns="0" tIns="0" rIns="0" bIns="0"/>
          <a:lstStyle>
            <a:lvl1pPr>
              <a:defRPr sz="2000" b="1" i="0">
                <a:solidFill>
                  <a:srgbClr val="001F5F"/>
                </a:solidFill>
                <a:latin typeface="Cambria" panose="02040503050406030204"/>
                <a:cs typeface="Cambria" panose="02040503050406030204"/>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001F5F"/>
                </a:solidFill>
                <a:latin typeface="Cambria" panose="02040503050406030204"/>
                <a:cs typeface="Cambria" panose="02040503050406030204"/>
              </a:defRPr>
            </a:lvl1pPr>
          </a:lstStyle>
          <a:p>
            <a:pPr marL="12700">
              <a:lnSpc>
                <a:spcPct val="100000"/>
              </a:lnSpc>
              <a:spcBef>
                <a:spcPts val="20"/>
              </a:spcBef>
            </a:pPr>
            <a:r>
              <a:rPr spc="-155" dirty="0"/>
              <a:t>©</a:t>
            </a:r>
            <a:r>
              <a:rPr spc="140" dirty="0"/>
              <a:t> </a:t>
            </a:r>
            <a:r>
              <a:rPr spc="105" dirty="0"/>
              <a:t>BVRIT</a:t>
            </a:r>
            <a:r>
              <a:rPr spc="135" dirty="0"/>
              <a:t> </a:t>
            </a:r>
            <a:r>
              <a:rPr spc="85" dirty="0"/>
              <a:t>CSE(AI&amp;ML)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p:txBody>
          <a:bodyPr lIns="0" tIns="0" rIns="0" bIns="0"/>
          <a:lstStyle>
            <a:lvl1pPr>
              <a:defRPr sz="1400" b="1" i="0">
                <a:solidFill>
                  <a:schemeClr val="bg1"/>
                </a:solidFill>
                <a:latin typeface="Trebuchet MS" panose="020B0603020202020204"/>
                <a:cs typeface="Trebuchet MS" panose="020B0603020202020204"/>
              </a:defRPr>
            </a:lvl1pPr>
          </a:lstStyle>
          <a:p>
            <a:pPr marL="38100">
              <a:lnSpc>
                <a:spcPct val="100000"/>
              </a:lnSpc>
              <a:spcBef>
                <a:spcPts val="20"/>
              </a:spcBef>
            </a:pPr>
            <a:fld id="{81D60167-4931-47E6-BA6A-407CBD079E47}" type="slidenum">
              <a:rPr spc="-225" dirty="0"/>
              <a:t>‹#›</a:t>
            </a:fld>
            <a:endParaRPr spc="-2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u="heavy">
                <a:solidFill>
                  <a:schemeClr val="tx1"/>
                </a:solidFill>
                <a:latin typeface="Cambria" panose="02040503050406030204"/>
                <a:cs typeface="Cambria" panose="020405030504060302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1" i="0">
                <a:solidFill>
                  <a:srgbClr val="001F5F"/>
                </a:solidFill>
                <a:latin typeface="Cambria" panose="02040503050406030204"/>
                <a:cs typeface="Cambria" panose="02040503050406030204"/>
              </a:defRPr>
            </a:lvl1pPr>
          </a:lstStyle>
          <a:p>
            <a:pPr marL="12700">
              <a:lnSpc>
                <a:spcPct val="100000"/>
              </a:lnSpc>
              <a:spcBef>
                <a:spcPts val="20"/>
              </a:spcBef>
            </a:pPr>
            <a:r>
              <a:rPr spc="-155" dirty="0"/>
              <a:t>©</a:t>
            </a:r>
            <a:r>
              <a:rPr spc="140" dirty="0"/>
              <a:t> </a:t>
            </a:r>
            <a:r>
              <a:rPr spc="105" dirty="0"/>
              <a:t>BVRIT</a:t>
            </a:r>
            <a:r>
              <a:rPr spc="135" dirty="0"/>
              <a:t> </a:t>
            </a:r>
            <a:r>
              <a:rPr spc="85" dirty="0"/>
              <a:t>CSE(AI&amp;ML)</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7" name="Holder 7"/>
          <p:cNvSpPr>
            <a:spLocks noGrp="1"/>
          </p:cNvSpPr>
          <p:nvPr>
            <p:ph type="sldNum" sz="quarter" idx="7"/>
          </p:nvPr>
        </p:nvSpPr>
        <p:spPr/>
        <p:txBody>
          <a:bodyPr lIns="0" tIns="0" rIns="0" bIns="0"/>
          <a:lstStyle>
            <a:lvl1pPr>
              <a:defRPr sz="1400" b="1" i="0">
                <a:solidFill>
                  <a:schemeClr val="bg1"/>
                </a:solidFill>
                <a:latin typeface="Trebuchet MS" panose="020B0603020202020204"/>
                <a:cs typeface="Trebuchet MS" panose="020B0603020202020204"/>
              </a:defRPr>
            </a:lvl1pPr>
          </a:lstStyle>
          <a:p>
            <a:pPr marL="38100">
              <a:lnSpc>
                <a:spcPct val="100000"/>
              </a:lnSpc>
              <a:spcBef>
                <a:spcPts val="20"/>
              </a:spcBef>
            </a:pPr>
            <a:fld id="{81D60167-4931-47E6-BA6A-407CBD079E47}" type="slidenum">
              <a:rPr spc="-225" dirty="0"/>
              <a:t>‹#›</a:t>
            </a:fld>
            <a:endParaRPr spc="-2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1401043" y="6230111"/>
            <a:ext cx="457200" cy="457200"/>
          </a:xfrm>
          <a:prstGeom prst="rect">
            <a:avLst/>
          </a:prstGeom>
        </p:spPr>
      </p:pic>
      <p:sp>
        <p:nvSpPr>
          <p:cNvPr id="17" name="bg object 17"/>
          <p:cNvSpPr/>
          <p:nvPr/>
        </p:nvSpPr>
        <p:spPr>
          <a:xfrm>
            <a:off x="11431523" y="6259067"/>
            <a:ext cx="398145" cy="399415"/>
          </a:xfrm>
          <a:custGeom>
            <a:avLst/>
            <a:gdLst/>
            <a:ahLst/>
            <a:cxnLst/>
            <a:rect l="l" t="t" r="r" b="b"/>
            <a:pathLst>
              <a:path w="398145" h="399415">
                <a:moveTo>
                  <a:pt x="0" y="199643"/>
                </a:moveTo>
                <a:lnTo>
                  <a:pt x="5251" y="153867"/>
                </a:lnTo>
                <a:lnTo>
                  <a:pt x="20211" y="111845"/>
                </a:lnTo>
                <a:lnTo>
                  <a:pt x="43687" y="74776"/>
                </a:lnTo>
                <a:lnTo>
                  <a:pt x="74484" y="43859"/>
                </a:lnTo>
                <a:lnTo>
                  <a:pt x="111411" y="20291"/>
                </a:lnTo>
                <a:lnTo>
                  <a:pt x="153275" y="5272"/>
                </a:lnTo>
                <a:lnTo>
                  <a:pt x="198881" y="0"/>
                </a:lnTo>
                <a:lnTo>
                  <a:pt x="244488" y="5272"/>
                </a:lnTo>
                <a:lnTo>
                  <a:pt x="286352" y="20291"/>
                </a:lnTo>
                <a:lnTo>
                  <a:pt x="323279" y="43859"/>
                </a:lnTo>
                <a:lnTo>
                  <a:pt x="354076" y="74776"/>
                </a:lnTo>
                <a:lnTo>
                  <a:pt x="377552" y="111845"/>
                </a:lnTo>
                <a:lnTo>
                  <a:pt x="392512" y="153867"/>
                </a:lnTo>
                <a:lnTo>
                  <a:pt x="397764" y="199643"/>
                </a:lnTo>
                <a:lnTo>
                  <a:pt x="392512" y="245420"/>
                </a:lnTo>
                <a:lnTo>
                  <a:pt x="377552" y="287442"/>
                </a:lnTo>
                <a:lnTo>
                  <a:pt x="354076" y="324511"/>
                </a:lnTo>
                <a:lnTo>
                  <a:pt x="323279" y="355428"/>
                </a:lnTo>
                <a:lnTo>
                  <a:pt x="286352" y="378996"/>
                </a:lnTo>
                <a:lnTo>
                  <a:pt x="244488" y="394015"/>
                </a:lnTo>
                <a:lnTo>
                  <a:pt x="198881" y="399287"/>
                </a:lnTo>
                <a:lnTo>
                  <a:pt x="153275" y="394015"/>
                </a:lnTo>
                <a:lnTo>
                  <a:pt x="111411" y="378996"/>
                </a:lnTo>
                <a:lnTo>
                  <a:pt x="74484" y="355428"/>
                </a:lnTo>
                <a:lnTo>
                  <a:pt x="43687" y="324511"/>
                </a:lnTo>
                <a:lnTo>
                  <a:pt x="20211" y="287442"/>
                </a:lnTo>
                <a:lnTo>
                  <a:pt x="5251" y="245420"/>
                </a:lnTo>
                <a:lnTo>
                  <a:pt x="0" y="199643"/>
                </a:lnTo>
                <a:close/>
              </a:path>
            </a:pathLst>
          </a:custGeom>
          <a:ln w="12700">
            <a:solidFill>
              <a:srgbClr val="FFFFFF"/>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200" b="1" i="0" u="heavy">
                <a:solidFill>
                  <a:schemeClr val="tx1"/>
                </a:solidFill>
                <a:latin typeface="Cambria" panose="02040503050406030204"/>
                <a:cs typeface="Cambria" panose="02040503050406030204"/>
              </a:defRPr>
            </a:lvl1pPr>
          </a:lstStyle>
          <a:p>
            <a:endParaRPr/>
          </a:p>
        </p:txBody>
      </p:sp>
      <p:sp>
        <p:nvSpPr>
          <p:cNvPr id="3" name="Holder 3"/>
          <p:cNvSpPr>
            <a:spLocks noGrp="1"/>
          </p:cNvSpPr>
          <p:nvPr>
            <p:ph type="ftr" sz="quarter" idx="5"/>
          </p:nvPr>
        </p:nvSpPr>
        <p:spPr/>
        <p:txBody>
          <a:bodyPr lIns="0" tIns="0" rIns="0" bIns="0"/>
          <a:lstStyle>
            <a:lvl1pPr>
              <a:defRPr sz="1400" b="1" i="0">
                <a:solidFill>
                  <a:srgbClr val="001F5F"/>
                </a:solidFill>
                <a:latin typeface="Cambria" panose="02040503050406030204"/>
                <a:cs typeface="Cambria" panose="02040503050406030204"/>
              </a:defRPr>
            </a:lvl1pPr>
          </a:lstStyle>
          <a:p>
            <a:pPr marL="12700">
              <a:lnSpc>
                <a:spcPct val="100000"/>
              </a:lnSpc>
              <a:spcBef>
                <a:spcPts val="20"/>
              </a:spcBef>
            </a:pPr>
            <a:r>
              <a:rPr spc="-155" dirty="0"/>
              <a:t>©</a:t>
            </a:r>
            <a:r>
              <a:rPr spc="140" dirty="0"/>
              <a:t> </a:t>
            </a:r>
            <a:r>
              <a:rPr spc="105" dirty="0"/>
              <a:t>BVRIT</a:t>
            </a:r>
            <a:r>
              <a:rPr spc="135" dirty="0"/>
              <a:t> </a:t>
            </a:r>
            <a:r>
              <a:rPr spc="85" dirty="0"/>
              <a:t>CSE(AI&amp;ML)</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5" name="Holder 5"/>
          <p:cNvSpPr>
            <a:spLocks noGrp="1"/>
          </p:cNvSpPr>
          <p:nvPr>
            <p:ph type="sldNum" sz="quarter" idx="7"/>
          </p:nvPr>
        </p:nvSpPr>
        <p:spPr/>
        <p:txBody>
          <a:bodyPr lIns="0" tIns="0" rIns="0" bIns="0"/>
          <a:lstStyle>
            <a:lvl1pPr>
              <a:defRPr sz="1400" b="1" i="0">
                <a:solidFill>
                  <a:schemeClr val="bg1"/>
                </a:solidFill>
                <a:latin typeface="Trebuchet MS" panose="020B0603020202020204"/>
                <a:cs typeface="Trebuchet MS" panose="020B0603020202020204"/>
              </a:defRPr>
            </a:lvl1pPr>
          </a:lstStyle>
          <a:p>
            <a:pPr marL="38100">
              <a:lnSpc>
                <a:spcPct val="100000"/>
              </a:lnSpc>
              <a:spcBef>
                <a:spcPts val="20"/>
              </a:spcBef>
            </a:pPr>
            <a:fld id="{81D60167-4931-47E6-BA6A-407CBD079E47}" type="slidenum">
              <a:rPr spc="-225" dirty="0"/>
              <a:t>‹#›</a:t>
            </a:fld>
            <a:endParaRPr spc="-2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0">
                <a:solidFill>
                  <a:srgbClr val="001F5F"/>
                </a:solidFill>
                <a:latin typeface="Cambria" panose="02040503050406030204"/>
                <a:cs typeface="Cambria" panose="02040503050406030204"/>
              </a:defRPr>
            </a:lvl1pPr>
          </a:lstStyle>
          <a:p>
            <a:pPr marL="12700">
              <a:lnSpc>
                <a:spcPct val="100000"/>
              </a:lnSpc>
              <a:spcBef>
                <a:spcPts val="20"/>
              </a:spcBef>
            </a:pPr>
            <a:r>
              <a:rPr spc="-155" dirty="0"/>
              <a:t>©</a:t>
            </a:r>
            <a:r>
              <a:rPr spc="140" dirty="0"/>
              <a:t> </a:t>
            </a:r>
            <a:r>
              <a:rPr spc="105" dirty="0"/>
              <a:t>BVRIT</a:t>
            </a:r>
            <a:r>
              <a:rPr spc="135" dirty="0"/>
              <a:t> </a:t>
            </a:r>
            <a:r>
              <a:rPr spc="85" dirty="0"/>
              <a:t>CSE(AI&amp;ML)</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4" name="Holder 4"/>
          <p:cNvSpPr>
            <a:spLocks noGrp="1"/>
          </p:cNvSpPr>
          <p:nvPr>
            <p:ph type="sldNum" sz="quarter" idx="7"/>
          </p:nvPr>
        </p:nvSpPr>
        <p:spPr/>
        <p:txBody>
          <a:bodyPr lIns="0" tIns="0" rIns="0" bIns="0"/>
          <a:lstStyle>
            <a:lvl1pPr>
              <a:defRPr sz="1400" b="1" i="0">
                <a:solidFill>
                  <a:schemeClr val="bg1"/>
                </a:solidFill>
                <a:latin typeface="Trebuchet MS" panose="020B0603020202020204"/>
                <a:cs typeface="Trebuchet MS" panose="020B0603020202020204"/>
              </a:defRPr>
            </a:lvl1pPr>
          </a:lstStyle>
          <a:p>
            <a:pPr marL="38100">
              <a:lnSpc>
                <a:spcPct val="100000"/>
              </a:lnSpc>
              <a:spcBef>
                <a:spcPts val="20"/>
              </a:spcBef>
            </a:pPr>
            <a:fld id="{81D60167-4931-47E6-BA6A-407CBD079E47}" type="slidenum">
              <a:rPr spc="-225" dirty="0"/>
              <a:t>‹#›</a:t>
            </a:fld>
            <a:endParaRPr spc="-2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1401043" y="6230111"/>
            <a:ext cx="457200" cy="457200"/>
          </a:xfrm>
          <a:prstGeom prst="rect">
            <a:avLst/>
          </a:prstGeom>
        </p:spPr>
      </p:pic>
      <p:sp>
        <p:nvSpPr>
          <p:cNvPr id="17" name="bg object 17"/>
          <p:cNvSpPr/>
          <p:nvPr/>
        </p:nvSpPr>
        <p:spPr>
          <a:xfrm>
            <a:off x="11431523" y="6259067"/>
            <a:ext cx="398145" cy="399415"/>
          </a:xfrm>
          <a:custGeom>
            <a:avLst/>
            <a:gdLst/>
            <a:ahLst/>
            <a:cxnLst/>
            <a:rect l="l" t="t" r="r" b="b"/>
            <a:pathLst>
              <a:path w="398145" h="399415">
                <a:moveTo>
                  <a:pt x="0" y="199643"/>
                </a:moveTo>
                <a:lnTo>
                  <a:pt x="5251" y="153867"/>
                </a:lnTo>
                <a:lnTo>
                  <a:pt x="20211" y="111845"/>
                </a:lnTo>
                <a:lnTo>
                  <a:pt x="43687" y="74776"/>
                </a:lnTo>
                <a:lnTo>
                  <a:pt x="74484" y="43859"/>
                </a:lnTo>
                <a:lnTo>
                  <a:pt x="111411" y="20291"/>
                </a:lnTo>
                <a:lnTo>
                  <a:pt x="153275" y="5272"/>
                </a:lnTo>
                <a:lnTo>
                  <a:pt x="198881" y="0"/>
                </a:lnTo>
                <a:lnTo>
                  <a:pt x="244488" y="5272"/>
                </a:lnTo>
                <a:lnTo>
                  <a:pt x="286352" y="20291"/>
                </a:lnTo>
                <a:lnTo>
                  <a:pt x="323279" y="43859"/>
                </a:lnTo>
                <a:lnTo>
                  <a:pt x="354076" y="74776"/>
                </a:lnTo>
                <a:lnTo>
                  <a:pt x="377552" y="111845"/>
                </a:lnTo>
                <a:lnTo>
                  <a:pt x="392512" y="153867"/>
                </a:lnTo>
                <a:lnTo>
                  <a:pt x="397764" y="199643"/>
                </a:lnTo>
                <a:lnTo>
                  <a:pt x="392512" y="245420"/>
                </a:lnTo>
                <a:lnTo>
                  <a:pt x="377552" y="287442"/>
                </a:lnTo>
                <a:lnTo>
                  <a:pt x="354076" y="324511"/>
                </a:lnTo>
                <a:lnTo>
                  <a:pt x="323279" y="355428"/>
                </a:lnTo>
                <a:lnTo>
                  <a:pt x="286352" y="378996"/>
                </a:lnTo>
                <a:lnTo>
                  <a:pt x="244488" y="394015"/>
                </a:lnTo>
                <a:lnTo>
                  <a:pt x="198881" y="399287"/>
                </a:lnTo>
                <a:lnTo>
                  <a:pt x="153275" y="394015"/>
                </a:lnTo>
                <a:lnTo>
                  <a:pt x="111411" y="378996"/>
                </a:lnTo>
                <a:lnTo>
                  <a:pt x="74484" y="355428"/>
                </a:lnTo>
                <a:lnTo>
                  <a:pt x="43687" y="324511"/>
                </a:lnTo>
                <a:lnTo>
                  <a:pt x="20211" y="287442"/>
                </a:lnTo>
                <a:lnTo>
                  <a:pt x="5251" y="245420"/>
                </a:lnTo>
                <a:lnTo>
                  <a:pt x="0" y="199643"/>
                </a:lnTo>
                <a:close/>
              </a:path>
            </a:pathLst>
          </a:custGeom>
          <a:ln w="12700">
            <a:solidFill>
              <a:srgbClr val="FFFFFF"/>
            </a:solidFill>
          </a:ln>
        </p:spPr>
        <p:txBody>
          <a:bodyPr wrap="square" lIns="0" tIns="0" rIns="0" bIns="0" rtlCol="0"/>
          <a:lstStyle/>
          <a:p>
            <a:endParaRPr/>
          </a:p>
        </p:txBody>
      </p:sp>
      <p:sp>
        <p:nvSpPr>
          <p:cNvPr id="2" name="Holder 2"/>
          <p:cNvSpPr>
            <a:spLocks noGrp="1"/>
          </p:cNvSpPr>
          <p:nvPr>
            <p:ph type="title"/>
          </p:nvPr>
        </p:nvSpPr>
        <p:spPr>
          <a:xfrm>
            <a:off x="135128" y="287477"/>
            <a:ext cx="4013835" cy="514350"/>
          </a:xfrm>
          <a:prstGeom prst="rect">
            <a:avLst/>
          </a:prstGeom>
        </p:spPr>
        <p:txBody>
          <a:bodyPr wrap="square" lIns="0" tIns="0" rIns="0" bIns="0">
            <a:spAutoFit/>
          </a:bodyPr>
          <a:lstStyle>
            <a:lvl1pPr>
              <a:defRPr sz="3200" b="1" i="0" u="heavy">
                <a:solidFill>
                  <a:schemeClr val="tx1"/>
                </a:solidFill>
                <a:latin typeface="Cambria" panose="02040503050406030204"/>
                <a:cs typeface="Cambria" panose="02040503050406030204"/>
              </a:defRPr>
            </a:lvl1pPr>
          </a:lstStyle>
          <a:p>
            <a:endParaRPr/>
          </a:p>
        </p:txBody>
      </p:sp>
      <p:sp>
        <p:nvSpPr>
          <p:cNvPr id="3" name="Holder 3"/>
          <p:cNvSpPr>
            <a:spLocks noGrp="1"/>
          </p:cNvSpPr>
          <p:nvPr>
            <p:ph type="body" idx="1"/>
          </p:nvPr>
        </p:nvSpPr>
        <p:spPr>
          <a:xfrm>
            <a:off x="1722247" y="1593595"/>
            <a:ext cx="9011285" cy="1589405"/>
          </a:xfrm>
          <a:prstGeom prst="rect">
            <a:avLst/>
          </a:prstGeom>
        </p:spPr>
        <p:txBody>
          <a:bodyPr wrap="square" lIns="0" tIns="0" rIns="0" bIns="0">
            <a:spAutoFit/>
          </a:bodyPr>
          <a:lstStyle>
            <a:lvl1pPr>
              <a:defRPr sz="2000" b="1" i="0">
                <a:solidFill>
                  <a:srgbClr val="001F5F"/>
                </a:solidFill>
                <a:latin typeface="Cambria" panose="02040503050406030204"/>
                <a:cs typeface="Cambria" panose="02040503050406030204"/>
              </a:defRPr>
            </a:lvl1pPr>
          </a:lstStyle>
          <a:p>
            <a:endParaRPr/>
          </a:p>
        </p:txBody>
      </p:sp>
      <p:sp>
        <p:nvSpPr>
          <p:cNvPr id="4" name="Holder 4"/>
          <p:cNvSpPr>
            <a:spLocks noGrp="1"/>
          </p:cNvSpPr>
          <p:nvPr>
            <p:ph type="ftr" sz="quarter" idx="5"/>
          </p:nvPr>
        </p:nvSpPr>
        <p:spPr>
          <a:xfrm>
            <a:off x="5104003" y="6464297"/>
            <a:ext cx="1984375" cy="234950"/>
          </a:xfrm>
          <a:prstGeom prst="rect">
            <a:avLst/>
          </a:prstGeom>
        </p:spPr>
        <p:txBody>
          <a:bodyPr wrap="square" lIns="0" tIns="0" rIns="0" bIns="0">
            <a:spAutoFit/>
          </a:bodyPr>
          <a:lstStyle>
            <a:lvl1pPr>
              <a:defRPr sz="1400" b="1" i="0">
                <a:solidFill>
                  <a:srgbClr val="001F5F"/>
                </a:solidFill>
                <a:latin typeface="Cambria" panose="02040503050406030204"/>
                <a:cs typeface="Cambria" panose="02040503050406030204"/>
              </a:defRPr>
            </a:lvl1pPr>
          </a:lstStyle>
          <a:p>
            <a:pPr marL="12700">
              <a:lnSpc>
                <a:spcPct val="100000"/>
              </a:lnSpc>
              <a:spcBef>
                <a:spcPts val="20"/>
              </a:spcBef>
            </a:pPr>
            <a:r>
              <a:rPr spc="-155" dirty="0"/>
              <a:t>©</a:t>
            </a:r>
            <a:r>
              <a:rPr spc="140" dirty="0"/>
              <a:t> </a:t>
            </a:r>
            <a:r>
              <a:rPr spc="105" dirty="0"/>
              <a:t>BVRIT</a:t>
            </a:r>
            <a:r>
              <a:rPr spc="135" dirty="0"/>
              <a:t> </a:t>
            </a:r>
            <a:r>
              <a:rPr spc="85" dirty="0"/>
              <a:t>CSE(AI&amp;ML)</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a:xfrm>
            <a:off x="11556492" y="6340418"/>
            <a:ext cx="152400" cy="235584"/>
          </a:xfrm>
          <a:prstGeom prst="rect">
            <a:avLst/>
          </a:prstGeom>
        </p:spPr>
        <p:txBody>
          <a:bodyPr wrap="square" lIns="0" tIns="0" rIns="0" bIns="0">
            <a:spAutoFit/>
          </a:bodyPr>
          <a:lstStyle>
            <a:lvl1pPr>
              <a:defRPr sz="1400" b="1" i="0">
                <a:solidFill>
                  <a:schemeClr val="bg1"/>
                </a:solidFill>
                <a:latin typeface="Trebuchet MS" panose="020B0603020202020204"/>
                <a:cs typeface="Trebuchet MS" panose="020B0603020202020204"/>
              </a:defRPr>
            </a:lvl1pPr>
          </a:lstStyle>
          <a:p>
            <a:pPr marL="38100">
              <a:lnSpc>
                <a:spcPct val="100000"/>
              </a:lnSpc>
              <a:spcBef>
                <a:spcPts val="20"/>
              </a:spcBef>
            </a:pPr>
            <a:fld id="{81D60167-4931-47E6-BA6A-407CBD079E47}" type="slidenum">
              <a:rPr spc="-225" dirty="0"/>
              <a:t>‹#›</a:t>
            </a:fld>
            <a:endParaRPr spc="-22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kaggle.com/datasets/thedevastator/insurance-claim-analysis-demographic-and-health/data" TargetMode="Externa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95354" y="7882637"/>
            <a:ext cx="592071" cy="1530637"/>
            <a:chOff x="2202433" y="3817111"/>
            <a:chExt cx="9627235" cy="2841371"/>
          </a:xfrm>
        </p:grpSpPr>
        <p:sp>
          <p:nvSpPr>
            <p:cNvPr id="4" name="object 4"/>
            <p:cNvSpPr/>
            <p:nvPr/>
          </p:nvSpPr>
          <p:spPr>
            <a:xfrm>
              <a:off x="11431523" y="6259067"/>
              <a:ext cx="398145" cy="399415"/>
            </a:xfrm>
            <a:custGeom>
              <a:avLst/>
              <a:gdLst/>
              <a:ahLst/>
              <a:cxnLst/>
              <a:rect l="l" t="t" r="r" b="b"/>
              <a:pathLst>
                <a:path w="398145" h="399415">
                  <a:moveTo>
                    <a:pt x="0" y="199643"/>
                  </a:moveTo>
                  <a:lnTo>
                    <a:pt x="5251" y="153867"/>
                  </a:lnTo>
                  <a:lnTo>
                    <a:pt x="20211" y="111845"/>
                  </a:lnTo>
                  <a:lnTo>
                    <a:pt x="43687" y="74776"/>
                  </a:lnTo>
                  <a:lnTo>
                    <a:pt x="74484" y="43859"/>
                  </a:lnTo>
                  <a:lnTo>
                    <a:pt x="111411" y="20291"/>
                  </a:lnTo>
                  <a:lnTo>
                    <a:pt x="153275" y="5272"/>
                  </a:lnTo>
                  <a:lnTo>
                    <a:pt x="198881" y="0"/>
                  </a:lnTo>
                  <a:lnTo>
                    <a:pt x="244488" y="5272"/>
                  </a:lnTo>
                  <a:lnTo>
                    <a:pt x="286352" y="20291"/>
                  </a:lnTo>
                  <a:lnTo>
                    <a:pt x="323279" y="43859"/>
                  </a:lnTo>
                  <a:lnTo>
                    <a:pt x="354076" y="74776"/>
                  </a:lnTo>
                  <a:lnTo>
                    <a:pt x="377552" y="111845"/>
                  </a:lnTo>
                  <a:lnTo>
                    <a:pt x="392512" y="153867"/>
                  </a:lnTo>
                  <a:lnTo>
                    <a:pt x="397764" y="199643"/>
                  </a:lnTo>
                  <a:lnTo>
                    <a:pt x="392512" y="245420"/>
                  </a:lnTo>
                  <a:lnTo>
                    <a:pt x="377552" y="287442"/>
                  </a:lnTo>
                  <a:lnTo>
                    <a:pt x="354076" y="324511"/>
                  </a:lnTo>
                  <a:lnTo>
                    <a:pt x="323279" y="355428"/>
                  </a:lnTo>
                  <a:lnTo>
                    <a:pt x="286352" y="378996"/>
                  </a:lnTo>
                  <a:lnTo>
                    <a:pt x="244488" y="394015"/>
                  </a:lnTo>
                  <a:lnTo>
                    <a:pt x="198881" y="399287"/>
                  </a:lnTo>
                  <a:lnTo>
                    <a:pt x="153275" y="394015"/>
                  </a:lnTo>
                  <a:lnTo>
                    <a:pt x="111411" y="378996"/>
                  </a:lnTo>
                  <a:lnTo>
                    <a:pt x="74484" y="355428"/>
                  </a:lnTo>
                  <a:lnTo>
                    <a:pt x="43687" y="324511"/>
                  </a:lnTo>
                  <a:lnTo>
                    <a:pt x="20211" y="287442"/>
                  </a:lnTo>
                  <a:lnTo>
                    <a:pt x="5251" y="245420"/>
                  </a:lnTo>
                  <a:lnTo>
                    <a:pt x="0" y="199643"/>
                  </a:lnTo>
                  <a:close/>
                </a:path>
              </a:pathLst>
            </a:custGeom>
            <a:ln w="12700">
              <a:solidFill>
                <a:srgbClr val="FFFFFF"/>
              </a:solidFill>
            </a:ln>
          </p:spPr>
          <p:txBody>
            <a:bodyPr wrap="square" lIns="0" tIns="0" rIns="0" bIns="0" rtlCol="0"/>
            <a:lstStyle/>
            <a:p>
              <a:endParaRPr/>
            </a:p>
          </p:txBody>
        </p:sp>
        <p:pic>
          <p:nvPicPr>
            <p:cNvPr id="6" name="object 6"/>
            <p:cNvPicPr/>
            <p:nvPr/>
          </p:nvPicPr>
          <p:blipFill>
            <a:blip r:embed="rId2" cstate="print"/>
            <a:stretch>
              <a:fillRect/>
            </a:stretch>
          </p:blipFill>
          <p:spPr>
            <a:xfrm>
              <a:off x="2202433" y="3817111"/>
              <a:ext cx="8327136" cy="19812"/>
            </a:xfrm>
            <a:prstGeom prst="rect">
              <a:avLst/>
            </a:prstGeom>
          </p:spPr>
        </p:pic>
      </p:grpSp>
      <p:sp>
        <p:nvSpPr>
          <p:cNvPr id="10" name="object 10"/>
          <p:cNvSpPr txBox="1"/>
          <p:nvPr/>
        </p:nvSpPr>
        <p:spPr>
          <a:xfrm>
            <a:off x="11581892" y="6329883"/>
            <a:ext cx="101600" cy="239395"/>
          </a:xfrm>
          <a:prstGeom prst="rect">
            <a:avLst/>
          </a:prstGeom>
        </p:spPr>
        <p:txBody>
          <a:bodyPr vert="horz" wrap="square" lIns="0" tIns="12700" rIns="0" bIns="0" rtlCol="0">
            <a:spAutoFit/>
          </a:bodyPr>
          <a:lstStyle/>
          <a:p>
            <a:pPr marL="12700">
              <a:lnSpc>
                <a:spcPct val="100000"/>
              </a:lnSpc>
              <a:spcBef>
                <a:spcPts val="100"/>
              </a:spcBef>
            </a:pPr>
            <a:r>
              <a:rPr sz="1400" b="1" spc="-225" dirty="0">
                <a:solidFill>
                  <a:srgbClr val="FFFFFF"/>
                </a:solidFill>
                <a:latin typeface="Trebuchet MS" panose="020B0603020202020204"/>
                <a:cs typeface="Trebuchet MS" panose="020B0603020202020204"/>
              </a:rPr>
              <a:t>1</a:t>
            </a:r>
            <a:endParaRPr sz="1400">
              <a:latin typeface="Trebuchet MS" panose="020B0603020202020204"/>
              <a:cs typeface="Trebuchet MS" panose="020B0603020202020204"/>
            </a:endParaRPr>
          </a:p>
        </p:txBody>
      </p:sp>
      <p:sp>
        <p:nvSpPr>
          <p:cNvPr id="11" name="object 11"/>
          <p:cNvSpPr txBox="1"/>
          <p:nvPr/>
        </p:nvSpPr>
        <p:spPr>
          <a:xfrm>
            <a:off x="6673468" y="4767348"/>
            <a:ext cx="4420108" cy="1243930"/>
          </a:xfrm>
          <a:prstGeom prst="rect">
            <a:avLst/>
          </a:prstGeom>
        </p:spPr>
        <p:txBody>
          <a:bodyPr vert="horz" wrap="square" lIns="0" tIns="12700" rIns="0" bIns="0" rtlCol="0">
            <a:spAutoFit/>
          </a:bodyPr>
          <a:lstStyle/>
          <a:p>
            <a:pPr marL="12700">
              <a:lnSpc>
                <a:spcPct val="100000"/>
              </a:lnSpc>
              <a:spcBef>
                <a:spcPts val="100"/>
              </a:spcBef>
            </a:pPr>
            <a:r>
              <a:rPr sz="2000" spc="130" dirty="0">
                <a:latin typeface="Bookman Old Style" panose="02050604050505020204" pitchFamily="18" charset="0"/>
                <a:cs typeface="Cambria" panose="02040503050406030204"/>
              </a:rPr>
              <a:t>By:</a:t>
            </a:r>
            <a:endParaRPr sz="2000" dirty="0">
              <a:latin typeface="Bookman Old Style" panose="02050604050505020204" pitchFamily="18" charset="0"/>
              <a:cs typeface="Cambria" panose="02040503050406030204"/>
            </a:endParaRPr>
          </a:p>
          <a:p>
            <a:r>
              <a:rPr lang="en-US" sz="2000" dirty="0" err="1">
                <a:latin typeface="Bookman Old Style" panose="02050604050505020204" pitchFamily="18" charset="0"/>
              </a:rPr>
              <a:t>A.Mahesh</a:t>
            </a:r>
            <a:r>
              <a:rPr lang="en-US" sz="2000" dirty="0">
                <a:latin typeface="Bookman Old Style" panose="02050604050505020204" pitchFamily="18" charset="0"/>
              </a:rPr>
              <a:t> </a:t>
            </a:r>
            <a:r>
              <a:rPr lang="en-US" sz="2000" dirty="0" smtClean="0">
                <a:latin typeface="Bookman Old Style" panose="02050604050505020204" pitchFamily="18" charset="0"/>
              </a:rPr>
              <a:t>Kumar</a:t>
            </a:r>
            <a:r>
              <a:rPr lang="en-US" sz="2000" dirty="0">
                <a:latin typeface="Bookman Old Style" panose="02050604050505020204" pitchFamily="18" charset="0"/>
              </a:rPr>
              <a:t> </a:t>
            </a:r>
            <a:r>
              <a:rPr lang="en-US" sz="2000" dirty="0" smtClean="0">
                <a:latin typeface="Bookman Old Style" panose="02050604050505020204" pitchFamily="18" charset="0"/>
              </a:rPr>
              <a:t>   23211A6601</a:t>
            </a:r>
            <a:endParaRPr lang="en-IN" sz="2000" dirty="0">
              <a:latin typeface="Bookman Old Style" panose="02050604050505020204" pitchFamily="18" charset="0"/>
            </a:endParaRPr>
          </a:p>
          <a:p>
            <a:r>
              <a:rPr lang="en-US" sz="2000" dirty="0" err="1" smtClean="0">
                <a:latin typeface="Bookman Old Style" panose="02050604050505020204" pitchFamily="18" charset="0"/>
              </a:rPr>
              <a:t>G.Dileep</a:t>
            </a:r>
            <a:r>
              <a:rPr lang="en-US" sz="2000" dirty="0" smtClean="0">
                <a:latin typeface="Bookman Old Style" panose="02050604050505020204" pitchFamily="18" charset="0"/>
              </a:rPr>
              <a:t> </a:t>
            </a:r>
            <a:r>
              <a:rPr lang="en-US" sz="2000" dirty="0" err="1" smtClean="0">
                <a:latin typeface="Bookman Old Style" panose="02050604050505020204" pitchFamily="18" charset="0"/>
              </a:rPr>
              <a:t>kuma</a:t>
            </a:r>
            <a:r>
              <a:rPr lang="en-US" sz="2000" dirty="0" err="1">
                <a:latin typeface="Bookman Old Style" panose="02050604050505020204" pitchFamily="18" charset="0"/>
              </a:rPr>
              <a:t>r</a:t>
            </a:r>
            <a:r>
              <a:rPr lang="en-US" sz="2000" dirty="0" smtClean="0">
                <a:latin typeface="Bookman Old Style" panose="02050604050505020204" pitchFamily="18" charset="0"/>
              </a:rPr>
              <a:t>      23211A6647</a:t>
            </a:r>
            <a:endParaRPr lang="en-IN" sz="2000" dirty="0">
              <a:latin typeface="Bookman Old Style" panose="02050604050505020204" pitchFamily="18" charset="0"/>
            </a:endParaRPr>
          </a:p>
          <a:p>
            <a:r>
              <a:rPr lang="en-US" sz="2000" dirty="0" smtClean="0">
                <a:latin typeface="Bookman Old Style" panose="02050604050505020204" pitchFamily="18" charset="0"/>
              </a:rPr>
              <a:t>Mohd </a:t>
            </a:r>
            <a:r>
              <a:rPr lang="en-US" sz="2000" dirty="0">
                <a:latin typeface="Bookman Old Style" panose="02050604050505020204" pitchFamily="18" charset="0"/>
              </a:rPr>
              <a:t>Ghouse  </a:t>
            </a:r>
            <a:r>
              <a:rPr lang="en-US" sz="2000" dirty="0" smtClean="0">
                <a:latin typeface="Bookman Old Style" panose="02050604050505020204" pitchFamily="18" charset="0"/>
              </a:rPr>
              <a:t>       24215A6604</a:t>
            </a:r>
            <a:endParaRPr lang="en-IN" sz="2000" dirty="0">
              <a:latin typeface="Bookman Old Style" panose="02050604050505020204" pitchFamily="18" charset="0"/>
            </a:endParaRPr>
          </a:p>
        </p:txBody>
      </p:sp>
      <p:sp>
        <p:nvSpPr>
          <p:cNvPr id="13" name="object 13"/>
          <p:cNvSpPr txBox="1">
            <a:spLocks noGrp="1"/>
          </p:cNvSpPr>
          <p:nvPr>
            <p:ph type="title"/>
          </p:nvPr>
        </p:nvSpPr>
        <p:spPr>
          <a:xfrm>
            <a:off x="2101976" y="1065733"/>
            <a:ext cx="7950200" cy="574675"/>
          </a:xfrm>
          <a:prstGeom prst="rect">
            <a:avLst/>
          </a:prstGeom>
        </p:spPr>
        <p:txBody>
          <a:bodyPr vert="horz" wrap="square" lIns="0" tIns="12700" rIns="0" bIns="0" rtlCol="0">
            <a:spAutoFit/>
          </a:bodyPr>
          <a:lstStyle/>
          <a:p>
            <a:pPr marL="12700">
              <a:lnSpc>
                <a:spcPct val="100000"/>
              </a:lnSpc>
              <a:spcBef>
                <a:spcPts val="100"/>
              </a:spcBef>
            </a:pPr>
            <a:r>
              <a:rPr sz="3600" u="none" dirty="0">
                <a:solidFill>
                  <a:srgbClr val="001F5F"/>
                </a:solidFill>
              </a:rPr>
              <a:t>B</a:t>
            </a:r>
            <a:r>
              <a:rPr sz="3600" u="none" spc="-15" dirty="0">
                <a:solidFill>
                  <a:srgbClr val="001F5F"/>
                </a:solidFill>
              </a:rPr>
              <a:t> </a:t>
            </a:r>
            <a:r>
              <a:rPr sz="3600" u="none" dirty="0">
                <a:solidFill>
                  <a:srgbClr val="001F5F"/>
                </a:solidFill>
              </a:rPr>
              <a:t>V</a:t>
            </a:r>
            <a:r>
              <a:rPr sz="3600" u="none" spc="-10" dirty="0">
                <a:solidFill>
                  <a:srgbClr val="001F5F"/>
                </a:solidFill>
              </a:rPr>
              <a:t> RAJU</a:t>
            </a:r>
            <a:r>
              <a:rPr sz="3600" u="none" spc="-5" dirty="0">
                <a:solidFill>
                  <a:srgbClr val="001F5F"/>
                </a:solidFill>
              </a:rPr>
              <a:t> </a:t>
            </a:r>
            <a:r>
              <a:rPr sz="3600" u="none" spc="-10" dirty="0">
                <a:solidFill>
                  <a:srgbClr val="001F5F"/>
                </a:solidFill>
              </a:rPr>
              <a:t>INSTITUTE </a:t>
            </a:r>
            <a:r>
              <a:rPr sz="3600" u="none" spc="-5" dirty="0">
                <a:solidFill>
                  <a:srgbClr val="001F5F"/>
                </a:solidFill>
              </a:rPr>
              <a:t>OF</a:t>
            </a:r>
            <a:r>
              <a:rPr sz="3600" u="none" spc="-25" dirty="0">
                <a:solidFill>
                  <a:srgbClr val="001F5F"/>
                </a:solidFill>
              </a:rPr>
              <a:t> TECHNOLOGY</a:t>
            </a:r>
            <a:endParaRPr sz="3600" dirty="0"/>
          </a:p>
        </p:txBody>
      </p:sp>
      <p:sp>
        <p:nvSpPr>
          <p:cNvPr id="14" name="object 14"/>
          <p:cNvSpPr txBox="1">
            <a:spLocks noGrp="1"/>
          </p:cNvSpPr>
          <p:nvPr>
            <p:ph type="body" idx="1"/>
          </p:nvPr>
        </p:nvSpPr>
        <p:spPr>
          <a:xfrm>
            <a:off x="1722247" y="1593595"/>
            <a:ext cx="9011285" cy="1607491"/>
          </a:xfrm>
          <a:prstGeom prst="rect">
            <a:avLst/>
          </a:prstGeom>
        </p:spPr>
        <p:txBody>
          <a:bodyPr vert="horz" wrap="square" lIns="0" tIns="47625" rIns="0" bIns="0" rtlCol="0">
            <a:spAutoFit/>
          </a:bodyPr>
          <a:lstStyle/>
          <a:p>
            <a:pPr marL="2235200" marR="2530475" indent="1003935">
              <a:lnSpc>
                <a:spcPts val="2160"/>
              </a:lnSpc>
              <a:spcBef>
                <a:spcPts val="375"/>
              </a:spcBef>
            </a:pPr>
            <a:r>
              <a:rPr spc="-5" dirty="0"/>
              <a:t>(UGC </a:t>
            </a:r>
            <a:r>
              <a:rPr spc="-10" dirty="0"/>
              <a:t>Autonomous) </a:t>
            </a:r>
            <a:r>
              <a:rPr spc="-5" dirty="0"/>
              <a:t> </a:t>
            </a:r>
            <a:r>
              <a:rPr spc="-20" dirty="0"/>
              <a:t>Vishnupur,</a:t>
            </a:r>
            <a:r>
              <a:rPr spc="-50" dirty="0"/>
              <a:t> </a:t>
            </a:r>
            <a:r>
              <a:rPr spc="-25" dirty="0"/>
              <a:t>Narsapur,</a:t>
            </a:r>
            <a:r>
              <a:rPr spc="-10" dirty="0"/>
              <a:t> </a:t>
            </a:r>
            <a:r>
              <a:rPr spc="-5" dirty="0"/>
              <a:t>Medak</a:t>
            </a:r>
            <a:r>
              <a:rPr spc="-20" dirty="0"/>
              <a:t> </a:t>
            </a:r>
            <a:r>
              <a:rPr dirty="0"/>
              <a:t>District</a:t>
            </a:r>
          </a:p>
          <a:p>
            <a:pPr marL="2239010" marR="5080" indent="-2226945">
              <a:lnSpc>
                <a:spcPct val="100000"/>
              </a:lnSpc>
              <a:spcBef>
                <a:spcPts val="1960"/>
              </a:spcBef>
            </a:pPr>
            <a:r>
              <a:rPr sz="2400" spc="-5" dirty="0">
                <a:solidFill>
                  <a:srgbClr val="C55A11"/>
                </a:solidFill>
              </a:rPr>
              <a:t>Department of CSE(Artificial Intelligence and Machine Learning) </a:t>
            </a:r>
            <a:r>
              <a:rPr sz="2400" spc="-515" dirty="0">
                <a:solidFill>
                  <a:srgbClr val="C55A11"/>
                </a:solidFill>
              </a:rPr>
              <a:t> </a:t>
            </a:r>
            <a:r>
              <a:rPr sz="2400" spc="-5" dirty="0" smtClean="0">
                <a:solidFill>
                  <a:srgbClr val="C55A11"/>
                </a:solidFill>
              </a:rPr>
              <a:t>M</a:t>
            </a:r>
            <a:r>
              <a:rPr lang="en-IN" sz="2400" spc="-5" dirty="0" err="1" smtClean="0">
                <a:solidFill>
                  <a:srgbClr val="C55A11"/>
                </a:solidFill>
              </a:rPr>
              <a:t>inor</a:t>
            </a:r>
            <a:r>
              <a:rPr sz="2400" spc="-20" dirty="0" smtClean="0">
                <a:solidFill>
                  <a:srgbClr val="C55A11"/>
                </a:solidFill>
              </a:rPr>
              <a:t> </a:t>
            </a:r>
            <a:r>
              <a:rPr sz="2400" spc="-10" dirty="0">
                <a:solidFill>
                  <a:srgbClr val="C55A11"/>
                </a:solidFill>
              </a:rPr>
              <a:t>Project</a:t>
            </a:r>
            <a:r>
              <a:rPr sz="2400" spc="5" dirty="0">
                <a:solidFill>
                  <a:srgbClr val="C55A11"/>
                </a:solidFill>
              </a:rPr>
              <a:t> </a:t>
            </a:r>
            <a:r>
              <a:rPr sz="2400" dirty="0">
                <a:solidFill>
                  <a:srgbClr val="C55A11"/>
                </a:solidFill>
              </a:rPr>
              <a:t>–</a:t>
            </a:r>
            <a:r>
              <a:rPr sz="2400" spc="-5" dirty="0">
                <a:solidFill>
                  <a:srgbClr val="C55A11"/>
                </a:solidFill>
              </a:rPr>
              <a:t> </a:t>
            </a:r>
            <a:r>
              <a:rPr sz="2400" spc="-15" dirty="0">
                <a:solidFill>
                  <a:srgbClr val="C55A11"/>
                </a:solidFill>
              </a:rPr>
              <a:t>Abstract</a:t>
            </a:r>
            <a:r>
              <a:rPr sz="2400" spc="-10" dirty="0">
                <a:solidFill>
                  <a:srgbClr val="C55A11"/>
                </a:solidFill>
              </a:rPr>
              <a:t> </a:t>
            </a:r>
            <a:r>
              <a:rPr sz="2400" spc="-20" dirty="0">
                <a:solidFill>
                  <a:srgbClr val="C55A11"/>
                </a:solidFill>
              </a:rPr>
              <a:t>Review</a:t>
            </a:r>
            <a:endParaRPr sz="2400" dirty="0"/>
          </a:p>
        </p:txBody>
      </p:sp>
      <p:pic>
        <p:nvPicPr>
          <p:cNvPr id="15" name="object 15"/>
          <p:cNvPicPr/>
          <p:nvPr/>
        </p:nvPicPr>
        <p:blipFill>
          <a:blip r:embed="rId3" cstate="print"/>
          <a:stretch>
            <a:fillRect/>
          </a:stretch>
        </p:blipFill>
        <p:spPr>
          <a:xfrm>
            <a:off x="5347715" y="0"/>
            <a:ext cx="1188719" cy="1078991"/>
          </a:xfrm>
          <a:prstGeom prst="rect">
            <a:avLst/>
          </a:prstGeom>
        </p:spPr>
      </p:pic>
      <p:sp>
        <p:nvSpPr>
          <p:cNvPr id="16" name="TextBox 15"/>
          <p:cNvSpPr txBox="1"/>
          <p:nvPr/>
        </p:nvSpPr>
        <p:spPr>
          <a:xfrm>
            <a:off x="1085976" y="3458900"/>
            <a:ext cx="9982200" cy="707886"/>
          </a:xfrm>
          <a:prstGeom prst="rect">
            <a:avLst/>
          </a:prstGeom>
          <a:noFill/>
        </p:spPr>
        <p:txBody>
          <a:bodyPr wrap="square" rtlCol="0">
            <a:spAutoFit/>
          </a:bodyPr>
          <a:lstStyle/>
          <a:p>
            <a:pPr algn="ctr"/>
            <a:r>
              <a:rPr lang="en-US" sz="4000" b="1" dirty="0">
                <a:latin typeface="Bookman Old Style" panose="02050604050505020204" pitchFamily="18" charset="0"/>
              </a:rPr>
              <a:t>Insurance Claim Analysis Dashboard</a:t>
            </a:r>
            <a:endParaRPr lang="en-IN" sz="4000" b="1" dirty="0">
              <a:latin typeface="Bookman Old Style" panose="02050604050505020204" pitchFamily="18" charset="0"/>
            </a:endParaRPr>
          </a:p>
        </p:txBody>
      </p:sp>
      <p:sp>
        <p:nvSpPr>
          <p:cNvPr id="17"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9062" y="801075"/>
            <a:ext cx="3679164" cy="5910592"/>
          </a:xfrm>
          <a:prstGeom prst="rect">
            <a:avLst/>
          </a:prstGeom>
        </p:spPr>
        <p:txBody>
          <a:bodyPr vert="horz" wrap="square" lIns="0" tIns="138430" rIns="0" bIns="0" rtlCol="0">
            <a:spAutoFit/>
          </a:bodyPr>
          <a:lstStyle/>
          <a:p>
            <a:pPr marL="195580" indent="-182880" algn="just">
              <a:lnSpc>
                <a:spcPct val="150000"/>
              </a:lnSpc>
              <a:spcBef>
                <a:spcPts val="985"/>
              </a:spcBef>
              <a:buClr>
                <a:srgbClr val="9E3611"/>
              </a:buClr>
              <a:buSzPct val="83000"/>
              <a:buFont typeface="Wingdings" panose="05000000000000000000"/>
              <a:buChar char=""/>
              <a:tabLst>
                <a:tab pos="195580" algn="l"/>
              </a:tabLst>
            </a:pPr>
            <a:r>
              <a:rPr sz="2000" spc="95" dirty="0" smtClean="0">
                <a:latin typeface="Bookman Old Style" panose="02050604050505020204" pitchFamily="18" charset="0"/>
                <a:cs typeface="Cambria" panose="02040503050406030204"/>
              </a:rPr>
              <a:t>Introduction</a:t>
            </a:r>
            <a:r>
              <a:rPr sz="2000" spc="160" dirty="0" smtClean="0">
                <a:latin typeface="Bookman Old Style" panose="02050604050505020204" pitchFamily="18" charset="0"/>
                <a:cs typeface="Cambria" panose="02040503050406030204"/>
              </a:rPr>
              <a:t> </a:t>
            </a:r>
            <a:r>
              <a:rPr sz="2000" spc="60" dirty="0">
                <a:latin typeface="Bookman Old Style" panose="02050604050505020204" pitchFamily="18" charset="0"/>
                <a:cs typeface="Cambria" panose="02040503050406030204"/>
              </a:rPr>
              <a:t>to</a:t>
            </a:r>
            <a:r>
              <a:rPr sz="2000" spc="175" dirty="0">
                <a:latin typeface="Bookman Old Style" panose="02050604050505020204" pitchFamily="18" charset="0"/>
                <a:cs typeface="Cambria" panose="02040503050406030204"/>
              </a:rPr>
              <a:t> </a:t>
            </a:r>
            <a:r>
              <a:rPr lang="en-US" sz="2000" spc="80" dirty="0">
                <a:latin typeface="Bookman Old Style" panose="02050604050505020204" pitchFamily="18" charset="0"/>
                <a:cs typeface="Cambria" panose="02040503050406030204"/>
              </a:rPr>
              <a:t>T</a:t>
            </a:r>
            <a:r>
              <a:rPr sz="2000" spc="80" dirty="0" smtClean="0">
                <a:latin typeface="Bookman Old Style" panose="02050604050505020204" pitchFamily="18" charset="0"/>
                <a:cs typeface="Cambria" panose="02040503050406030204"/>
              </a:rPr>
              <a:t>opic</a:t>
            </a:r>
            <a:endParaRPr lang="en-GB" sz="2000" spc="80" dirty="0">
              <a:latin typeface="Bookman Old Style" panose="02050604050505020204" pitchFamily="18" charset="0"/>
              <a:cs typeface="Cambria" panose="02040503050406030204"/>
            </a:endParaRPr>
          </a:p>
          <a:p>
            <a:pPr marL="195580" indent="-182880" algn="just">
              <a:lnSpc>
                <a:spcPct val="150000"/>
              </a:lnSpc>
              <a:spcBef>
                <a:spcPts val="985"/>
              </a:spcBef>
              <a:buClr>
                <a:srgbClr val="9E3611"/>
              </a:buClr>
              <a:buSzPct val="83000"/>
              <a:buFont typeface="Wingdings" panose="05000000000000000000"/>
              <a:buChar char=""/>
              <a:tabLst>
                <a:tab pos="195580" algn="l"/>
              </a:tabLst>
            </a:pPr>
            <a:r>
              <a:rPr lang="en-GB" sz="2000" spc="80" dirty="0" smtClean="0">
                <a:latin typeface="Bookman Old Style" panose="02050604050505020204" pitchFamily="18" charset="0"/>
                <a:cs typeface="Cambria" panose="02040503050406030204"/>
              </a:rPr>
              <a:t>Abstract</a:t>
            </a:r>
            <a:endParaRPr sz="2000" dirty="0">
              <a:latin typeface="Bookman Old Style" panose="02050604050505020204" pitchFamily="18" charset="0"/>
              <a:cs typeface="Cambria" panose="02040503050406030204"/>
            </a:endParaRPr>
          </a:p>
          <a:p>
            <a:pPr marL="195580" indent="-182880" algn="just">
              <a:lnSpc>
                <a:spcPct val="150000"/>
              </a:lnSpc>
              <a:spcBef>
                <a:spcPts val="985"/>
              </a:spcBef>
              <a:buClr>
                <a:srgbClr val="9E3611"/>
              </a:buClr>
              <a:buSzPct val="83000"/>
              <a:buFont typeface="Wingdings" panose="05000000000000000000"/>
              <a:buChar char=""/>
              <a:tabLst>
                <a:tab pos="195580" algn="l"/>
              </a:tabLst>
            </a:pPr>
            <a:r>
              <a:rPr sz="2000" spc="95" dirty="0">
                <a:latin typeface="Bookman Old Style" panose="02050604050505020204" pitchFamily="18" charset="0"/>
                <a:cs typeface="Cambria" panose="02040503050406030204"/>
              </a:rPr>
              <a:t>Introduction</a:t>
            </a:r>
            <a:r>
              <a:rPr sz="2000" spc="155" dirty="0">
                <a:latin typeface="Bookman Old Style" panose="02050604050505020204" pitchFamily="18" charset="0"/>
                <a:cs typeface="Cambria" panose="02040503050406030204"/>
              </a:rPr>
              <a:t> </a:t>
            </a:r>
            <a:r>
              <a:rPr sz="2000" spc="60" dirty="0">
                <a:latin typeface="Bookman Old Style" panose="02050604050505020204" pitchFamily="18" charset="0"/>
                <a:cs typeface="Cambria" panose="02040503050406030204"/>
              </a:rPr>
              <a:t>to</a:t>
            </a:r>
            <a:r>
              <a:rPr sz="2000" spc="170" dirty="0">
                <a:latin typeface="Bookman Old Style" panose="02050604050505020204" pitchFamily="18" charset="0"/>
                <a:cs typeface="Cambria" panose="02040503050406030204"/>
              </a:rPr>
              <a:t> </a:t>
            </a:r>
            <a:r>
              <a:rPr sz="2000" spc="145" dirty="0" smtClean="0">
                <a:latin typeface="Bookman Old Style" panose="02050604050505020204" pitchFamily="18" charset="0"/>
                <a:cs typeface="Cambria" panose="02040503050406030204"/>
              </a:rPr>
              <a:t>Domain</a:t>
            </a:r>
            <a:endParaRPr lang="en-GB" sz="2000" spc="145" dirty="0" smtClean="0">
              <a:latin typeface="Bookman Old Style" panose="02050604050505020204" pitchFamily="18" charset="0"/>
              <a:cs typeface="Cambria" panose="02040503050406030204"/>
            </a:endParaRPr>
          </a:p>
          <a:p>
            <a:pPr marL="195580" indent="-182880" algn="just">
              <a:lnSpc>
                <a:spcPct val="150000"/>
              </a:lnSpc>
              <a:spcBef>
                <a:spcPts val="985"/>
              </a:spcBef>
              <a:buClr>
                <a:srgbClr val="9E3611"/>
              </a:buClr>
              <a:buSzPct val="83000"/>
              <a:buFont typeface="Wingdings" panose="05000000000000000000"/>
              <a:buChar char=""/>
              <a:tabLst>
                <a:tab pos="195580" algn="l"/>
              </a:tabLst>
            </a:pPr>
            <a:r>
              <a:rPr lang="en-GB" sz="2000" spc="145" dirty="0" smtClean="0">
                <a:latin typeface="Bookman Old Style" panose="02050604050505020204" pitchFamily="18" charset="0"/>
                <a:cs typeface="Cambria" panose="02040503050406030204"/>
              </a:rPr>
              <a:t>Problem Statement</a:t>
            </a:r>
          </a:p>
          <a:p>
            <a:pPr marL="195580" indent="-182880" algn="just">
              <a:lnSpc>
                <a:spcPct val="150000"/>
              </a:lnSpc>
              <a:spcBef>
                <a:spcPts val="985"/>
              </a:spcBef>
              <a:buClr>
                <a:srgbClr val="9E3611"/>
              </a:buClr>
              <a:buSzPct val="83000"/>
              <a:buFont typeface="Wingdings" panose="05000000000000000000"/>
              <a:buChar char=""/>
              <a:tabLst>
                <a:tab pos="195580" algn="l"/>
              </a:tabLst>
            </a:pPr>
            <a:r>
              <a:rPr lang="en-IN" sz="2000" spc="85" dirty="0" smtClean="0">
                <a:latin typeface="Bookman Old Style" panose="02050604050505020204" pitchFamily="18" charset="0"/>
                <a:cs typeface="Cambria" panose="02040503050406030204"/>
              </a:rPr>
              <a:t>Motivation</a:t>
            </a:r>
            <a:endParaRPr sz="2000" dirty="0">
              <a:latin typeface="Bookman Old Style" panose="02050604050505020204" pitchFamily="18" charset="0"/>
              <a:cs typeface="Cambria" panose="02040503050406030204"/>
            </a:endParaRPr>
          </a:p>
          <a:p>
            <a:pPr marL="195580" indent="-182880" algn="just">
              <a:lnSpc>
                <a:spcPct val="150000"/>
              </a:lnSpc>
              <a:spcBef>
                <a:spcPts val="980"/>
              </a:spcBef>
              <a:buClr>
                <a:srgbClr val="9E3611"/>
              </a:buClr>
              <a:buSzPct val="83000"/>
              <a:buFont typeface="Wingdings" panose="05000000000000000000"/>
              <a:buChar char=""/>
              <a:tabLst>
                <a:tab pos="195580" algn="l"/>
              </a:tabLst>
            </a:pPr>
            <a:r>
              <a:rPr sz="2000" spc="135" dirty="0">
                <a:latin typeface="Bookman Old Style" panose="02050604050505020204" pitchFamily="18" charset="0"/>
                <a:cs typeface="Cambria" panose="02040503050406030204"/>
              </a:rPr>
              <a:t>Datasets</a:t>
            </a:r>
            <a:endParaRPr sz="2000" dirty="0">
              <a:latin typeface="Bookman Old Style" panose="02050604050505020204" pitchFamily="18" charset="0"/>
              <a:cs typeface="Cambria" panose="02040503050406030204"/>
            </a:endParaRPr>
          </a:p>
          <a:p>
            <a:pPr marL="195580" indent="-182880" algn="just">
              <a:lnSpc>
                <a:spcPct val="150000"/>
              </a:lnSpc>
              <a:spcBef>
                <a:spcPts val="990"/>
              </a:spcBef>
              <a:buClr>
                <a:srgbClr val="9E3611"/>
              </a:buClr>
              <a:buSzPct val="83000"/>
              <a:buFont typeface="Wingdings" panose="05000000000000000000"/>
              <a:buChar char=""/>
              <a:tabLst>
                <a:tab pos="195580" algn="l"/>
              </a:tabLst>
            </a:pPr>
            <a:r>
              <a:rPr sz="2000" spc="90" dirty="0">
                <a:latin typeface="Bookman Old Style" panose="02050604050505020204" pitchFamily="18" charset="0"/>
                <a:cs typeface="Cambria" panose="02040503050406030204"/>
              </a:rPr>
              <a:t>Literature</a:t>
            </a:r>
            <a:r>
              <a:rPr sz="2000" spc="130" dirty="0">
                <a:latin typeface="Bookman Old Style" panose="02050604050505020204" pitchFamily="18" charset="0"/>
                <a:cs typeface="Cambria" panose="02040503050406030204"/>
              </a:rPr>
              <a:t> </a:t>
            </a:r>
            <a:r>
              <a:rPr sz="2000" spc="60" dirty="0">
                <a:latin typeface="Bookman Old Style" panose="02050604050505020204" pitchFamily="18" charset="0"/>
                <a:cs typeface="Cambria" panose="02040503050406030204"/>
              </a:rPr>
              <a:t>Review</a:t>
            </a:r>
            <a:endParaRPr lang="en-IN" sz="2000" spc="60" dirty="0">
              <a:latin typeface="Bookman Old Style" panose="02050604050505020204" pitchFamily="18" charset="0"/>
              <a:cs typeface="Cambria" panose="02040503050406030204"/>
            </a:endParaRPr>
          </a:p>
          <a:p>
            <a:pPr marL="195580" indent="-182880" algn="just">
              <a:lnSpc>
                <a:spcPct val="150000"/>
              </a:lnSpc>
              <a:spcBef>
                <a:spcPts val="985"/>
              </a:spcBef>
              <a:buClr>
                <a:srgbClr val="9E3611"/>
              </a:buClr>
              <a:buSzPct val="83000"/>
              <a:buFont typeface="Wingdings" panose="05000000000000000000"/>
              <a:buChar char=""/>
              <a:tabLst>
                <a:tab pos="195580" algn="l"/>
              </a:tabLst>
            </a:pPr>
            <a:r>
              <a:rPr sz="2000" spc="90" dirty="0" smtClean="0">
                <a:latin typeface="Bookman Old Style" panose="02050604050505020204" pitchFamily="18" charset="0"/>
                <a:cs typeface="Cambria" panose="02040503050406030204"/>
              </a:rPr>
              <a:t>Methodology</a:t>
            </a:r>
            <a:endParaRPr lang="en-GB" sz="2000" spc="90" dirty="0" smtClean="0">
              <a:latin typeface="Bookman Old Style" panose="02050604050505020204" pitchFamily="18" charset="0"/>
              <a:cs typeface="Cambria" panose="02040503050406030204"/>
            </a:endParaRPr>
          </a:p>
          <a:p>
            <a:pPr marL="195580" indent="-182880" algn="just">
              <a:lnSpc>
                <a:spcPct val="150000"/>
              </a:lnSpc>
              <a:spcBef>
                <a:spcPts val="985"/>
              </a:spcBef>
              <a:buClr>
                <a:srgbClr val="9E3611"/>
              </a:buClr>
              <a:buSzPct val="83000"/>
              <a:buFont typeface="Wingdings" panose="05000000000000000000"/>
              <a:buChar char=""/>
              <a:tabLst>
                <a:tab pos="195580" algn="l"/>
              </a:tabLst>
            </a:pPr>
            <a:r>
              <a:rPr lang="en-IN" sz="2000" dirty="0">
                <a:latin typeface="Bookman Old Style" panose="02050604050505020204" pitchFamily="18" charset="0"/>
                <a:cs typeface="Cambria" panose="02040503050406030204"/>
              </a:rPr>
              <a:t>Architecture </a:t>
            </a:r>
            <a:endParaRPr sz="2000" dirty="0">
              <a:latin typeface="Bookman Old Style" panose="02050604050505020204" pitchFamily="18" charset="0"/>
              <a:cs typeface="Cambria" panose="02040503050406030204"/>
            </a:endParaRPr>
          </a:p>
          <a:p>
            <a:pPr marL="12700" algn="just">
              <a:lnSpc>
                <a:spcPct val="150000"/>
              </a:lnSpc>
              <a:spcBef>
                <a:spcPts val="980"/>
              </a:spcBef>
              <a:buClr>
                <a:srgbClr val="9E3611"/>
              </a:buClr>
              <a:buSzPct val="83000"/>
              <a:tabLst>
                <a:tab pos="195580" algn="l"/>
              </a:tabLst>
            </a:pPr>
            <a:endParaRPr sz="2000" dirty="0">
              <a:latin typeface="Bookman Old Style" panose="02050604050505020204" pitchFamily="18" charset="0"/>
              <a:cs typeface="Cambria" panose="02040503050406030204"/>
            </a:endParaRPr>
          </a:p>
        </p:txBody>
      </p:sp>
      <p:sp>
        <p:nvSpPr>
          <p:cNvPr id="4" name="object 4"/>
          <p:cNvSpPr txBox="1">
            <a:spLocks noGrp="1"/>
          </p:cNvSpPr>
          <p:nvPr>
            <p:ph type="title"/>
          </p:nvPr>
        </p:nvSpPr>
        <p:spPr>
          <a:xfrm>
            <a:off x="1143000" y="238453"/>
            <a:ext cx="2213103" cy="505908"/>
          </a:xfrm>
          <a:prstGeom prst="rect">
            <a:avLst/>
          </a:prstGeom>
        </p:spPr>
        <p:txBody>
          <a:bodyPr vert="horz" wrap="square" lIns="0" tIns="13335" rIns="0" bIns="0" rtlCol="0">
            <a:spAutoFit/>
          </a:bodyPr>
          <a:lstStyle/>
          <a:p>
            <a:pPr marL="12700">
              <a:lnSpc>
                <a:spcPct val="100000"/>
              </a:lnSpc>
              <a:spcBef>
                <a:spcPts val="105"/>
              </a:spcBef>
            </a:pPr>
            <a:r>
              <a:rPr lang="en-IN" u="none" spc="-5" dirty="0">
                <a:latin typeface="Bookman Old Style" panose="02050604050505020204" pitchFamily="18" charset="0"/>
              </a:rPr>
              <a:t>OUTLINE</a:t>
            </a:r>
            <a:endParaRPr u="none" spc="-5" dirty="0">
              <a:latin typeface="Bookman Old Style" panose="02050604050505020204" pitchFamily="18" charset="0"/>
            </a:endParaRPr>
          </a:p>
        </p:txBody>
      </p:sp>
      <p:grpSp>
        <p:nvGrpSpPr>
          <p:cNvPr id="5" name="object 5"/>
          <p:cNvGrpSpPr/>
          <p:nvPr/>
        </p:nvGrpSpPr>
        <p:grpSpPr>
          <a:xfrm>
            <a:off x="89915" y="198526"/>
            <a:ext cx="11862182" cy="5937860"/>
            <a:chOff x="89915" y="198526"/>
            <a:chExt cx="11862182" cy="5937860"/>
          </a:xfrm>
        </p:grpSpPr>
        <p:pic>
          <p:nvPicPr>
            <p:cNvPr id="6" name="object 6"/>
            <p:cNvPicPr/>
            <p:nvPr/>
          </p:nvPicPr>
          <p:blipFill>
            <a:blip r:embed="rId2" cstate="print"/>
            <a:stretch>
              <a:fillRect/>
            </a:stretch>
          </p:blipFill>
          <p:spPr>
            <a:xfrm>
              <a:off x="368067" y="198526"/>
              <a:ext cx="716267" cy="536448"/>
            </a:xfrm>
            <a:prstGeom prst="rect">
              <a:avLst/>
            </a:prstGeom>
          </p:spPr>
        </p:pic>
        <p:sp>
          <p:nvSpPr>
            <p:cNvPr id="7" name="object 7"/>
            <p:cNvSpPr/>
            <p:nvPr/>
          </p:nvSpPr>
          <p:spPr>
            <a:xfrm>
              <a:off x="89915" y="861059"/>
              <a:ext cx="4519295" cy="0"/>
            </a:xfrm>
            <a:custGeom>
              <a:avLst/>
              <a:gdLst/>
              <a:ahLst/>
              <a:cxnLst/>
              <a:rect l="l" t="t" r="r" b="b"/>
              <a:pathLst>
                <a:path w="4519295">
                  <a:moveTo>
                    <a:pt x="0" y="0"/>
                  </a:moveTo>
                  <a:lnTo>
                    <a:pt x="4518787" y="0"/>
                  </a:lnTo>
                </a:path>
              </a:pathLst>
            </a:custGeom>
            <a:ln w="57150">
              <a:solidFill>
                <a:srgbClr val="001F5F"/>
              </a:solidFill>
            </a:ln>
          </p:spPr>
          <p:txBody>
            <a:bodyPr wrap="square" lIns="0" tIns="0" rIns="0" bIns="0" rtlCol="0"/>
            <a:lstStyle/>
            <a:p>
              <a:endParaRPr/>
            </a:p>
          </p:txBody>
        </p:sp>
        <p:sp>
          <p:nvSpPr>
            <p:cNvPr id="8" name="object 8"/>
            <p:cNvSpPr/>
            <p:nvPr/>
          </p:nvSpPr>
          <p:spPr>
            <a:xfrm>
              <a:off x="7727442" y="6136386"/>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225" dirty="0"/>
              <a:t>2</a:t>
            </a:fld>
            <a:endParaRPr spc="-225" dirty="0"/>
          </a:p>
        </p:txBody>
      </p:sp>
      <p:sp>
        <p:nvSpPr>
          <p:cNvPr id="10" name="object 10"/>
          <p:cNvSpPr txBox="1"/>
          <p:nvPr/>
        </p:nvSpPr>
        <p:spPr>
          <a:xfrm>
            <a:off x="5150865" y="6377429"/>
            <a:ext cx="1984375" cy="234950"/>
          </a:xfrm>
          <a:prstGeom prst="rect">
            <a:avLst/>
          </a:prstGeom>
        </p:spPr>
        <p:txBody>
          <a:bodyPr vert="horz" wrap="square" lIns="0" tIns="2540" rIns="0" bIns="0" rtlCol="0">
            <a:spAutoFit/>
          </a:bodyPr>
          <a:lstStyle/>
          <a:p>
            <a:pPr marL="12700">
              <a:lnSpc>
                <a:spcPct val="100000"/>
              </a:lnSpc>
              <a:spcBef>
                <a:spcPts val="20"/>
              </a:spcBef>
            </a:pPr>
            <a:r>
              <a:rPr sz="1400" b="1" spc="-155" dirty="0">
                <a:solidFill>
                  <a:srgbClr val="001F5F"/>
                </a:solidFill>
                <a:latin typeface="Cambria" panose="02040503050406030204"/>
                <a:cs typeface="Cambria" panose="02040503050406030204"/>
              </a:rPr>
              <a:t>©</a:t>
            </a:r>
            <a:r>
              <a:rPr sz="1400" b="1" spc="140" dirty="0">
                <a:solidFill>
                  <a:srgbClr val="001F5F"/>
                </a:solidFill>
                <a:latin typeface="Cambria" panose="02040503050406030204"/>
                <a:cs typeface="Cambria" panose="02040503050406030204"/>
              </a:rPr>
              <a:t> </a:t>
            </a:r>
            <a:r>
              <a:rPr sz="1400" b="1" spc="105" dirty="0">
                <a:solidFill>
                  <a:srgbClr val="001F5F"/>
                </a:solidFill>
                <a:latin typeface="Cambria" panose="02040503050406030204"/>
                <a:cs typeface="Cambria" panose="02040503050406030204"/>
              </a:rPr>
              <a:t>BVRIT</a:t>
            </a:r>
            <a:r>
              <a:rPr sz="1400" b="1" spc="135" dirty="0">
                <a:solidFill>
                  <a:srgbClr val="001F5F"/>
                </a:solidFill>
                <a:latin typeface="Cambria" panose="02040503050406030204"/>
                <a:cs typeface="Cambria" panose="02040503050406030204"/>
              </a:rPr>
              <a:t> </a:t>
            </a:r>
            <a:r>
              <a:rPr sz="1400" b="1" spc="85" dirty="0">
                <a:solidFill>
                  <a:srgbClr val="001F5F"/>
                </a:solidFill>
                <a:latin typeface="Cambria" panose="02040503050406030204"/>
                <a:cs typeface="Cambria" panose="02040503050406030204"/>
              </a:rPr>
              <a:t>CSE(AI&amp;ML)</a:t>
            </a:r>
            <a:endParaRPr sz="1400">
              <a:latin typeface="Cambria" panose="02040503050406030204"/>
              <a:cs typeface="Cambria" panose="02040503050406030204"/>
            </a:endParaRPr>
          </a:p>
        </p:txBody>
      </p:sp>
      <p:sp>
        <p:nvSpPr>
          <p:cNvPr id="11" name="Rectangle 10"/>
          <p:cNvSpPr/>
          <p:nvPr/>
        </p:nvSpPr>
        <p:spPr>
          <a:xfrm>
            <a:off x="5217532" y="861059"/>
            <a:ext cx="5457281" cy="4093428"/>
          </a:xfrm>
          <a:prstGeom prst="rect">
            <a:avLst/>
          </a:prstGeom>
        </p:spPr>
        <p:txBody>
          <a:bodyPr wrap="square">
            <a:spAutoFit/>
          </a:bodyPr>
          <a:lstStyle/>
          <a:p>
            <a:pPr marL="195580" indent="-182880" algn="just">
              <a:lnSpc>
                <a:spcPct val="150000"/>
              </a:lnSpc>
              <a:spcBef>
                <a:spcPts val="980"/>
              </a:spcBef>
              <a:buClr>
                <a:srgbClr val="9E3611"/>
              </a:buClr>
              <a:buSzPct val="83000"/>
              <a:buFont typeface="Wingdings" panose="05000000000000000000"/>
              <a:buChar char=""/>
              <a:tabLst>
                <a:tab pos="195580" algn="l"/>
              </a:tabLst>
            </a:pPr>
            <a:r>
              <a:rPr lang="en-IN" sz="2000" dirty="0">
                <a:latin typeface="Bookman Old Style" panose="02050604050505020204" pitchFamily="18" charset="0"/>
                <a:cs typeface="Cambria" panose="02040503050406030204"/>
              </a:rPr>
              <a:t>Implementation </a:t>
            </a:r>
            <a:r>
              <a:rPr lang="en-IN" sz="2000" dirty="0" smtClean="0">
                <a:latin typeface="Bookman Old Style" panose="02050604050505020204" pitchFamily="18" charset="0"/>
                <a:cs typeface="Cambria" panose="02040503050406030204"/>
              </a:rPr>
              <a:t>Details</a:t>
            </a:r>
            <a:endParaRPr lang="en-IN" sz="2000" spc="95" dirty="0" smtClean="0">
              <a:latin typeface="Bookman Old Style" panose="02050604050505020204" pitchFamily="18" charset="0"/>
              <a:cs typeface="Cambria" panose="02040503050406030204"/>
            </a:endParaRPr>
          </a:p>
          <a:p>
            <a:pPr marL="195580" indent="-182880" algn="just">
              <a:lnSpc>
                <a:spcPct val="150000"/>
              </a:lnSpc>
              <a:spcBef>
                <a:spcPts val="980"/>
              </a:spcBef>
              <a:buClr>
                <a:srgbClr val="9E3611"/>
              </a:buClr>
              <a:buSzPct val="83000"/>
              <a:buFont typeface="Wingdings" panose="05000000000000000000"/>
              <a:buChar char=""/>
              <a:tabLst>
                <a:tab pos="195580" algn="l"/>
              </a:tabLst>
            </a:pPr>
            <a:r>
              <a:rPr lang="en-IN" sz="2000" spc="95" dirty="0" smtClean="0">
                <a:latin typeface="Bookman Old Style" panose="02050604050505020204" pitchFamily="18" charset="0"/>
                <a:cs typeface="Cambria" panose="02040503050406030204"/>
              </a:rPr>
              <a:t>Results </a:t>
            </a:r>
            <a:r>
              <a:rPr lang="en-IN" sz="2000" spc="95" dirty="0">
                <a:latin typeface="Bookman Old Style" panose="02050604050505020204" pitchFamily="18" charset="0"/>
                <a:cs typeface="Cambria" panose="02040503050406030204"/>
              </a:rPr>
              <a:t>and </a:t>
            </a:r>
            <a:r>
              <a:rPr lang="en-IN" sz="2000" spc="95" dirty="0" smtClean="0">
                <a:latin typeface="Bookman Old Style" panose="02050604050505020204" pitchFamily="18" charset="0"/>
                <a:cs typeface="Cambria" panose="02040503050406030204"/>
              </a:rPr>
              <a:t>Discussion</a:t>
            </a:r>
            <a:endParaRPr lang="en-IN" sz="2000" spc="95" dirty="0">
              <a:latin typeface="Bookman Old Style" panose="02050604050505020204" pitchFamily="18" charset="0"/>
              <a:cs typeface="Cambria" panose="02040503050406030204"/>
            </a:endParaRPr>
          </a:p>
          <a:p>
            <a:pPr marL="195580" indent="-182880" algn="just">
              <a:lnSpc>
                <a:spcPct val="150000"/>
              </a:lnSpc>
              <a:spcBef>
                <a:spcPts val="980"/>
              </a:spcBef>
              <a:buClr>
                <a:srgbClr val="9E3611"/>
              </a:buClr>
              <a:buSzPct val="83000"/>
              <a:buFont typeface="Wingdings" panose="05000000000000000000"/>
              <a:buChar char=""/>
              <a:tabLst>
                <a:tab pos="195580" algn="l"/>
              </a:tabLst>
            </a:pPr>
            <a:r>
              <a:rPr lang="en-IN" sz="2000" spc="95" dirty="0" smtClean="0">
                <a:latin typeface="Bookman Old Style" panose="02050604050505020204" pitchFamily="18" charset="0"/>
                <a:cs typeface="Cambria" panose="02040503050406030204"/>
              </a:rPr>
              <a:t>Applications</a:t>
            </a:r>
          </a:p>
          <a:p>
            <a:pPr marL="195580" indent="-182880" algn="just">
              <a:lnSpc>
                <a:spcPct val="150000"/>
              </a:lnSpc>
              <a:spcBef>
                <a:spcPts val="980"/>
              </a:spcBef>
              <a:buClr>
                <a:srgbClr val="9E3611"/>
              </a:buClr>
              <a:buSzPct val="83000"/>
              <a:buFont typeface="Wingdings" panose="05000000000000000000"/>
              <a:buChar char=""/>
              <a:tabLst>
                <a:tab pos="195580" algn="l"/>
              </a:tabLst>
            </a:pPr>
            <a:r>
              <a:rPr lang="en-IN" sz="2000" spc="95" dirty="0">
                <a:latin typeface="Bookman Old Style" panose="02050604050505020204" pitchFamily="18" charset="0"/>
                <a:cs typeface="Cambria" panose="02040503050406030204"/>
              </a:rPr>
              <a:t>Conclusion</a:t>
            </a:r>
            <a:endParaRPr lang="en-IN" sz="2000" spc="95" dirty="0" smtClean="0">
              <a:latin typeface="Bookman Old Style" panose="02050604050505020204" pitchFamily="18" charset="0"/>
              <a:cs typeface="Cambria" panose="02040503050406030204"/>
            </a:endParaRPr>
          </a:p>
          <a:p>
            <a:pPr marL="195580" indent="-182880" algn="just">
              <a:lnSpc>
                <a:spcPct val="150000"/>
              </a:lnSpc>
              <a:spcBef>
                <a:spcPts val="980"/>
              </a:spcBef>
              <a:buClr>
                <a:srgbClr val="9E3611"/>
              </a:buClr>
              <a:buSzPct val="83000"/>
              <a:buFont typeface="Wingdings" panose="05000000000000000000"/>
              <a:buChar char=""/>
              <a:tabLst>
                <a:tab pos="195580" algn="l"/>
              </a:tabLst>
            </a:pPr>
            <a:r>
              <a:rPr lang="en-IN" sz="2000" spc="95" dirty="0" smtClean="0">
                <a:latin typeface="Bookman Old Style" panose="02050604050505020204" pitchFamily="18" charset="0"/>
                <a:cs typeface="Cambria" panose="02040503050406030204"/>
              </a:rPr>
              <a:t>References</a:t>
            </a:r>
          </a:p>
          <a:p>
            <a:pPr marL="195580" indent="-182880" algn="just">
              <a:lnSpc>
                <a:spcPct val="150000"/>
              </a:lnSpc>
              <a:spcBef>
                <a:spcPts val="980"/>
              </a:spcBef>
              <a:buClr>
                <a:srgbClr val="9E3611"/>
              </a:buClr>
              <a:buSzPct val="83000"/>
              <a:buFont typeface="Wingdings" panose="05000000000000000000"/>
              <a:buChar char=""/>
              <a:tabLst>
                <a:tab pos="195580" algn="l"/>
              </a:tabLst>
            </a:pPr>
            <a:endParaRPr lang="en-IN" sz="2000" dirty="0">
              <a:latin typeface="Bookman Old Style" panose="02050604050505020204" pitchFamily="18" charset="0"/>
              <a:cs typeface="Cambria" panose="02040503050406030204"/>
            </a:endParaRPr>
          </a:p>
          <a:p>
            <a:pPr marL="195580" indent="-182880" algn="just">
              <a:lnSpc>
                <a:spcPct val="150000"/>
              </a:lnSpc>
              <a:spcBef>
                <a:spcPts val="980"/>
              </a:spcBef>
              <a:buClr>
                <a:srgbClr val="9E3611"/>
              </a:buClr>
              <a:buSzPct val="83000"/>
              <a:buFont typeface="Wingdings" panose="05000000000000000000"/>
              <a:buChar char=""/>
              <a:tabLst>
                <a:tab pos="195580" algn="l"/>
              </a:tabLst>
            </a:pPr>
            <a:endParaRPr lang="en-IN" sz="2000" spc="95" dirty="0">
              <a:latin typeface="Bookman Old Style" panose="02050604050505020204" pitchFamily="18" charset="0"/>
              <a:cs typeface="Cambria" panose="02040503050406030204"/>
            </a:endParaRP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57451" y="2920907"/>
            <a:ext cx="3220046" cy="3113464"/>
          </a:xfrm>
          <a:prstGeom prst="rect">
            <a:avLst/>
          </a:prstGeom>
        </p:spPr>
      </p:pic>
      <p:sp>
        <p:nvSpPr>
          <p:cNvPr id="13"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6583" y="278271"/>
            <a:ext cx="5941314" cy="505267"/>
          </a:xfrm>
          <a:prstGeom prst="rect">
            <a:avLst/>
          </a:prstGeom>
        </p:spPr>
        <p:txBody>
          <a:bodyPr vert="horz" wrap="square" lIns="0" tIns="12700" rIns="0" bIns="0" rtlCol="0">
            <a:spAutoFit/>
          </a:bodyPr>
          <a:lstStyle/>
          <a:p>
            <a:pPr marL="12700">
              <a:lnSpc>
                <a:spcPct val="100000"/>
              </a:lnSpc>
              <a:spcBef>
                <a:spcPts val="100"/>
              </a:spcBef>
            </a:pPr>
            <a:r>
              <a:rPr u="none" spc="-10" dirty="0">
                <a:latin typeface="Bookman Old Style" panose="02050604050505020204" pitchFamily="18" charset="0"/>
              </a:rPr>
              <a:t>INTRODUCTION</a:t>
            </a:r>
            <a:r>
              <a:rPr u="none" spc="-40" dirty="0">
                <a:latin typeface="Bookman Old Style" panose="02050604050505020204" pitchFamily="18" charset="0"/>
              </a:rPr>
              <a:t> </a:t>
            </a:r>
            <a:r>
              <a:rPr u="none" spc="-45" dirty="0">
                <a:latin typeface="Bookman Old Style" panose="02050604050505020204" pitchFamily="18" charset="0"/>
              </a:rPr>
              <a:t>TO</a:t>
            </a:r>
            <a:r>
              <a:rPr u="none" spc="-15" dirty="0">
                <a:latin typeface="Bookman Old Style" panose="02050604050505020204" pitchFamily="18" charset="0"/>
              </a:rPr>
              <a:t> </a:t>
            </a:r>
            <a:r>
              <a:rPr u="none" spc="-25" dirty="0">
                <a:latin typeface="Bookman Old Style" panose="02050604050505020204" pitchFamily="18" charset="0"/>
              </a:rPr>
              <a:t>TOPIC</a:t>
            </a:r>
          </a:p>
        </p:txBody>
      </p:sp>
      <p:sp>
        <p:nvSpPr>
          <p:cNvPr id="3" name="object 3"/>
          <p:cNvSpPr txBox="1"/>
          <p:nvPr/>
        </p:nvSpPr>
        <p:spPr>
          <a:xfrm>
            <a:off x="368067" y="1237953"/>
            <a:ext cx="11342497" cy="4629472"/>
          </a:xfrm>
          <a:prstGeom prst="rect">
            <a:avLst/>
          </a:prstGeom>
        </p:spPr>
        <p:txBody>
          <a:bodyPr vert="horz" wrap="square" lIns="0" tIns="12700" rIns="0" bIns="0" rtlCol="0">
            <a:spAutoFit/>
          </a:bodyPr>
          <a:lstStyle/>
          <a:p>
            <a:pPr marL="342900" indent="-342900" algn="just">
              <a:lnSpc>
                <a:spcPct val="150000"/>
              </a:lnSpc>
              <a:buFont typeface="Arial" panose="020B0604020202020204" pitchFamily="34" charset="0"/>
              <a:buChar char="•"/>
            </a:pPr>
            <a:r>
              <a:rPr lang="en-GB" sz="2000" dirty="0">
                <a:latin typeface="Bookman Old Style" panose="02050604050505020204" pitchFamily="18" charset="0"/>
              </a:rPr>
              <a:t>Insurance plays a critical role in safeguarding individuals and businesses from financial uncertainties, particularly in health-related scenarios. However, the dynamics of insurance claims are often influenced by a wide range of factors, including demographic characteristics, health indicators, and lifestyle choices</a:t>
            </a:r>
            <a:r>
              <a:rPr lang="en-GB" sz="2000" dirty="0" smtClean="0">
                <a:latin typeface="Bookman Old Style" panose="02050604050505020204" pitchFamily="18" charset="0"/>
              </a:rPr>
              <a:t>.</a:t>
            </a:r>
          </a:p>
          <a:p>
            <a:pPr algn="just">
              <a:lnSpc>
                <a:spcPct val="150000"/>
              </a:lnSpc>
            </a:pPr>
            <a:endParaRPr lang="en-GB" sz="2000" dirty="0" smtClean="0">
              <a:latin typeface="Bookman Old Style" panose="02050604050505020204" pitchFamily="18" charset="0"/>
            </a:endParaRPr>
          </a:p>
          <a:p>
            <a:pPr marL="342900" indent="-342900" algn="just">
              <a:lnSpc>
                <a:spcPct val="150000"/>
              </a:lnSpc>
              <a:buFont typeface="Arial" panose="020B0604020202020204" pitchFamily="34" charset="0"/>
              <a:buChar char="•"/>
            </a:pPr>
            <a:r>
              <a:rPr lang="en-GB" sz="2000" dirty="0">
                <a:latin typeface="Bookman Old Style" panose="02050604050505020204" pitchFamily="18" charset="0"/>
              </a:rPr>
              <a:t>Analyzing insurance claims data is a complex process that requires uncovering patterns and trends across diverse variables. For instance, factors like age, gender, Body Mass Index (BMI), smoking habits, and family size can significantly affect claim amounts. Similarly, regional differences and health conditions such as blood pressure levels may reveal valuable insights about </a:t>
            </a:r>
            <a:r>
              <a:rPr lang="en-GB" sz="2000" dirty="0" smtClean="0">
                <a:latin typeface="Bookman Old Style" panose="02050604050505020204" pitchFamily="18" charset="0"/>
              </a:rPr>
              <a:t>claim.</a:t>
            </a:r>
            <a:endParaRPr lang="en-US" sz="2000" dirty="0">
              <a:solidFill>
                <a:srgbClr val="000000"/>
              </a:solidFill>
              <a:latin typeface="Bookman Old Style" panose="02050604050505020204" pitchFamily="18" charset="0"/>
            </a:endParaRPr>
          </a:p>
        </p:txBody>
      </p:sp>
      <p:grpSp>
        <p:nvGrpSpPr>
          <p:cNvPr id="4" name="object 4"/>
          <p:cNvGrpSpPr/>
          <p:nvPr/>
        </p:nvGrpSpPr>
        <p:grpSpPr>
          <a:xfrm>
            <a:off x="-24638" y="0"/>
            <a:ext cx="12242800" cy="6908800"/>
            <a:chOff x="-24638" y="0"/>
            <a:chExt cx="12242800" cy="6908800"/>
          </a:xfrm>
        </p:grpSpPr>
        <p:sp>
          <p:nvSpPr>
            <p:cNvPr id="5"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pic>
          <p:nvPicPr>
            <p:cNvPr id="6" name="object 6"/>
            <p:cNvPicPr/>
            <p:nvPr/>
          </p:nvPicPr>
          <p:blipFill>
            <a:blip r:embed="rId2" cstate="print"/>
            <a:stretch>
              <a:fillRect/>
            </a:stretch>
          </p:blipFill>
          <p:spPr>
            <a:xfrm>
              <a:off x="368067" y="198526"/>
              <a:ext cx="716267" cy="536448"/>
            </a:xfrm>
            <a:prstGeom prst="rect">
              <a:avLst/>
            </a:prstGeom>
          </p:spPr>
        </p:pic>
        <p:sp>
          <p:nvSpPr>
            <p:cNvPr id="7" name="object 7"/>
            <p:cNvSpPr/>
            <p:nvPr/>
          </p:nvSpPr>
          <p:spPr>
            <a:xfrm>
              <a:off x="109727" y="832103"/>
              <a:ext cx="6496050" cy="0"/>
            </a:xfrm>
            <a:custGeom>
              <a:avLst/>
              <a:gdLst/>
              <a:ahLst/>
              <a:cxnLst/>
              <a:rect l="l" t="t" r="r" b="b"/>
              <a:pathLst>
                <a:path w="6496050">
                  <a:moveTo>
                    <a:pt x="0" y="0"/>
                  </a:moveTo>
                  <a:lnTo>
                    <a:pt x="6495796" y="0"/>
                  </a:lnTo>
                </a:path>
              </a:pathLst>
            </a:custGeom>
            <a:ln w="57150">
              <a:solidFill>
                <a:srgbClr val="001F5F"/>
              </a:solidFill>
            </a:ln>
          </p:spPr>
          <p:txBody>
            <a:bodyPr wrap="square" lIns="0" tIns="0" rIns="0" bIns="0" rtlCol="0"/>
            <a:lstStyle/>
            <a:p>
              <a:endParaRPr/>
            </a:p>
          </p:txBody>
        </p:sp>
        <p:sp>
          <p:nvSpPr>
            <p:cNvPr id="8" name="object 8"/>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225" dirty="0"/>
              <a:t>3</a:t>
            </a:fld>
            <a:endParaRPr spc="-225" dirty="0"/>
          </a:p>
        </p:txBody>
      </p:sp>
      <p:sp>
        <p:nvSpPr>
          <p:cNvPr id="10" name="object 10"/>
          <p:cNvSpPr txBox="1"/>
          <p:nvPr/>
        </p:nvSpPr>
        <p:spPr>
          <a:xfrm>
            <a:off x="5150865" y="6377429"/>
            <a:ext cx="1984375" cy="234950"/>
          </a:xfrm>
          <a:prstGeom prst="rect">
            <a:avLst/>
          </a:prstGeom>
        </p:spPr>
        <p:txBody>
          <a:bodyPr vert="horz" wrap="square" lIns="0" tIns="2540" rIns="0" bIns="0" rtlCol="0">
            <a:spAutoFit/>
          </a:bodyPr>
          <a:lstStyle/>
          <a:p>
            <a:pPr marL="12700">
              <a:lnSpc>
                <a:spcPct val="100000"/>
              </a:lnSpc>
              <a:spcBef>
                <a:spcPts val="20"/>
              </a:spcBef>
            </a:pPr>
            <a:r>
              <a:rPr sz="1400" b="1" spc="-155" dirty="0">
                <a:solidFill>
                  <a:srgbClr val="001F5F"/>
                </a:solidFill>
                <a:latin typeface="Cambria" panose="02040503050406030204"/>
                <a:cs typeface="Cambria" panose="02040503050406030204"/>
              </a:rPr>
              <a:t>©</a:t>
            </a:r>
            <a:r>
              <a:rPr sz="1400" b="1" spc="140" dirty="0">
                <a:solidFill>
                  <a:srgbClr val="001F5F"/>
                </a:solidFill>
                <a:latin typeface="Cambria" panose="02040503050406030204"/>
                <a:cs typeface="Cambria" panose="02040503050406030204"/>
              </a:rPr>
              <a:t> </a:t>
            </a:r>
            <a:r>
              <a:rPr sz="1400" b="1" spc="105" dirty="0">
                <a:solidFill>
                  <a:srgbClr val="001F5F"/>
                </a:solidFill>
                <a:latin typeface="Cambria" panose="02040503050406030204"/>
                <a:cs typeface="Cambria" panose="02040503050406030204"/>
              </a:rPr>
              <a:t>BVRIT</a:t>
            </a:r>
            <a:r>
              <a:rPr sz="1400" b="1" spc="135" dirty="0">
                <a:solidFill>
                  <a:srgbClr val="001F5F"/>
                </a:solidFill>
                <a:latin typeface="Cambria" panose="02040503050406030204"/>
                <a:cs typeface="Cambria" panose="02040503050406030204"/>
              </a:rPr>
              <a:t> </a:t>
            </a:r>
            <a:r>
              <a:rPr sz="1400" b="1" spc="85" dirty="0">
                <a:solidFill>
                  <a:srgbClr val="001F5F"/>
                </a:solidFill>
                <a:latin typeface="Cambria" panose="02040503050406030204"/>
                <a:cs typeface="Cambria" panose="02040503050406030204"/>
              </a:rPr>
              <a:t>CSE(AI&amp;ML)</a:t>
            </a:r>
            <a:endParaRPr sz="1400">
              <a:latin typeface="Cambria" panose="02040503050406030204"/>
              <a:cs typeface="Cambria" panose="02040503050406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7338" y="270459"/>
            <a:ext cx="2883662" cy="505908"/>
          </a:xfrm>
          <a:prstGeom prst="rect">
            <a:avLst/>
          </a:prstGeom>
        </p:spPr>
        <p:txBody>
          <a:bodyPr vert="horz" wrap="square" lIns="0" tIns="13335" rIns="0" bIns="0" rtlCol="0">
            <a:spAutoFit/>
          </a:bodyPr>
          <a:lstStyle/>
          <a:p>
            <a:pPr marL="12700">
              <a:lnSpc>
                <a:spcPct val="100000"/>
              </a:lnSpc>
              <a:spcBef>
                <a:spcPts val="105"/>
              </a:spcBef>
            </a:pPr>
            <a:r>
              <a:rPr lang="en-US" u="none" spc="-65" dirty="0" smtClean="0">
                <a:latin typeface="Bookman Old Style" panose="02050604050505020204" pitchFamily="18" charset="0"/>
              </a:rPr>
              <a:t>ABSTRACT</a:t>
            </a:r>
            <a:endParaRPr u="none" spc="-65" dirty="0">
              <a:latin typeface="Bookman Old Style" panose="02050604050505020204" pitchFamily="18" charset="0"/>
            </a:endParaRPr>
          </a:p>
        </p:txBody>
      </p:sp>
      <p:sp>
        <p:nvSpPr>
          <p:cNvPr id="3" name="object 3"/>
          <p:cNvSpPr txBox="1"/>
          <p:nvPr/>
        </p:nvSpPr>
        <p:spPr>
          <a:xfrm>
            <a:off x="605918" y="15875"/>
            <a:ext cx="10709910" cy="3551613"/>
          </a:xfrm>
          <a:prstGeom prst="rect">
            <a:avLst/>
          </a:prstGeom>
        </p:spPr>
        <p:txBody>
          <a:bodyPr vert="horz" wrap="square" lIns="0" tIns="12065" rIns="0" bIns="0" rtlCol="0">
            <a:spAutoFit/>
          </a:bodyPr>
          <a:lstStyle/>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355600" marR="5080" indent="-342900" algn="just">
              <a:lnSpc>
                <a:spcPct val="150000"/>
              </a:lnSpc>
              <a:spcBef>
                <a:spcPts val="1200"/>
              </a:spcBef>
              <a:buClr>
                <a:srgbClr val="9E3611"/>
              </a:buClr>
              <a:buSzPct val="83000"/>
              <a:buFont typeface="Arial" panose="020B0604020202020204" pitchFamily="34" charset="0"/>
              <a:buChar char="•"/>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p:txBody>
      </p:sp>
      <p:grpSp>
        <p:nvGrpSpPr>
          <p:cNvPr id="4" name="object 4"/>
          <p:cNvGrpSpPr/>
          <p:nvPr/>
        </p:nvGrpSpPr>
        <p:grpSpPr>
          <a:xfrm>
            <a:off x="-24638" y="0"/>
            <a:ext cx="12242800" cy="6908800"/>
            <a:chOff x="-24638" y="0"/>
            <a:chExt cx="12242800" cy="6908800"/>
          </a:xfrm>
        </p:grpSpPr>
        <p:sp>
          <p:nvSpPr>
            <p:cNvPr id="5"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sp>
          <p:nvSpPr>
            <p:cNvPr id="6" name="object 6"/>
            <p:cNvSpPr/>
            <p:nvPr/>
          </p:nvSpPr>
          <p:spPr>
            <a:xfrm>
              <a:off x="109727" y="819911"/>
              <a:ext cx="4579620" cy="12065"/>
            </a:xfrm>
            <a:custGeom>
              <a:avLst/>
              <a:gdLst/>
              <a:ahLst/>
              <a:cxnLst/>
              <a:rect l="l" t="t" r="r" b="b"/>
              <a:pathLst>
                <a:path w="4579620" h="12065">
                  <a:moveTo>
                    <a:pt x="0" y="11557"/>
                  </a:moveTo>
                  <a:lnTo>
                    <a:pt x="4579493" y="0"/>
                  </a:lnTo>
                </a:path>
              </a:pathLst>
            </a:custGeom>
            <a:ln w="57150">
              <a:solidFill>
                <a:srgbClr val="001F5F"/>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86511" y="149351"/>
              <a:ext cx="890016" cy="670560"/>
            </a:xfrm>
            <a:prstGeom prst="rect">
              <a:avLst/>
            </a:prstGeom>
          </p:spPr>
        </p:pic>
        <p:sp>
          <p:nvSpPr>
            <p:cNvPr id="8" name="object 8"/>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225" dirty="0"/>
              <a:t>4</a:t>
            </a:fld>
            <a:endParaRPr spc="-225" dirty="0"/>
          </a:p>
        </p:txBody>
      </p:sp>
      <p:sp>
        <p:nvSpPr>
          <p:cNvPr id="10" name="object 10"/>
          <p:cNvSpPr txBox="1"/>
          <p:nvPr/>
        </p:nvSpPr>
        <p:spPr>
          <a:xfrm>
            <a:off x="5150865" y="6377429"/>
            <a:ext cx="1984375" cy="234950"/>
          </a:xfrm>
          <a:prstGeom prst="rect">
            <a:avLst/>
          </a:prstGeom>
        </p:spPr>
        <p:txBody>
          <a:bodyPr vert="horz" wrap="square" lIns="0" tIns="2540" rIns="0" bIns="0" rtlCol="0">
            <a:spAutoFit/>
          </a:bodyPr>
          <a:lstStyle/>
          <a:p>
            <a:pPr marL="12700">
              <a:lnSpc>
                <a:spcPct val="100000"/>
              </a:lnSpc>
              <a:spcBef>
                <a:spcPts val="20"/>
              </a:spcBef>
            </a:pPr>
            <a:r>
              <a:rPr sz="1400" b="1" spc="-155" dirty="0">
                <a:solidFill>
                  <a:srgbClr val="001F5F"/>
                </a:solidFill>
                <a:latin typeface="Cambria" panose="02040503050406030204"/>
                <a:cs typeface="Cambria" panose="02040503050406030204"/>
              </a:rPr>
              <a:t>©</a:t>
            </a:r>
            <a:r>
              <a:rPr sz="1400" b="1" spc="140" dirty="0">
                <a:solidFill>
                  <a:srgbClr val="001F5F"/>
                </a:solidFill>
                <a:latin typeface="Cambria" panose="02040503050406030204"/>
                <a:cs typeface="Cambria" panose="02040503050406030204"/>
              </a:rPr>
              <a:t> </a:t>
            </a:r>
            <a:r>
              <a:rPr sz="1400" b="1" spc="105" dirty="0">
                <a:solidFill>
                  <a:srgbClr val="001F5F"/>
                </a:solidFill>
                <a:latin typeface="Cambria" panose="02040503050406030204"/>
                <a:cs typeface="Cambria" panose="02040503050406030204"/>
              </a:rPr>
              <a:t>BVRIT</a:t>
            </a:r>
            <a:r>
              <a:rPr sz="1400" b="1" spc="135" dirty="0">
                <a:solidFill>
                  <a:srgbClr val="001F5F"/>
                </a:solidFill>
                <a:latin typeface="Cambria" panose="02040503050406030204"/>
                <a:cs typeface="Cambria" panose="02040503050406030204"/>
              </a:rPr>
              <a:t> </a:t>
            </a:r>
            <a:r>
              <a:rPr sz="1400" b="1" spc="85" dirty="0">
                <a:solidFill>
                  <a:srgbClr val="001F5F"/>
                </a:solidFill>
                <a:latin typeface="Cambria" panose="02040503050406030204"/>
                <a:cs typeface="Cambria" panose="02040503050406030204"/>
              </a:rPr>
              <a:t>CSE(AI&amp;ML)</a:t>
            </a:r>
            <a:endParaRPr sz="1400">
              <a:latin typeface="Cambria" panose="02040503050406030204"/>
              <a:cs typeface="Cambria" panose="02040503050406030204"/>
            </a:endParaRPr>
          </a:p>
        </p:txBody>
      </p:sp>
      <p:sp>
        <p:nvSpPr>
          <p:cNvPr id="12" name="Rectangle 2"/>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13" name="Rectangle 3"/>
          <p:cNvSpPr>
            <a:spLocks noChangeArrowheads="1"/>
          </p:cNvSpPr>
          <p:nvPr/>
        </p:nvSpPr>
        <p:spPr bwMode="auto">
          <a:xfrm>
            <a:off x="-761" y="37477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p:cNvSpPr txBox="1"/>
          <p:nvPr/>
        </p:nvSpPr>
        <p:spPr>
          <a:xfrm>
            <a:off x="731519" y="1458073"/>
            <a:ext cx="10797264" cy="3816429"/>
          </a:xfrm>
          <a:prstGeom prst="rect">
            <a:avLst/>
          </a:prstGeom>
          <a:noFill/>
        </p:spPr>
        <p:txBody>
          <a:bodyPr wrap="square" rtlCol="0">
            <a:spAutoFit/>
          </a:bodyPr>
          <a:lstStyle/>
          <a:p>
            <a:pPr algn="just"/>
            <a:r>
              <a:rPr lang="en-US" sz="2200" dirty="0">
                <a:latin typeface="Bookman Old Style" panose="02050604050505020204" pitchFamily="18" charset="0"/>
              </a:rPr>
              <a:t>The Insurance Claim Analysis Dashboard project aims to uncover valuable insights from health insurance claim data using data analytics and visualization tools. By analyzing demographic attributes (age, gender, region) and health indicators (BMI, blood pressure, smoking status), the project identifies patterns influencing claim amounts. Leveraging a dataset sourced from </a:t>
            </a:r>
            <a:r>
              <a:rPr lang="en-US" sz="2200" dirty="0" err="1">
                <a:latin typeface="Bookman Old Style" panose="02050604050505020204" pitchFamily="18" charset="0"/>
              </a:rPr>
              <a:t>Kaggle</a:t>
            </a:r>
            <a:r>
              <a:rPr lang="en-US" sz="2200" dirty="0">
                <a:latin typeface="Bookman Old Style" panose="02050604050505020204" pitchFamily="18" charset="0"/>
              </a:rPr>
              <a:t>, the team employed Python (Pandas, </a:t>
            </a:r>
            <a:r>
              <a:rPr lang="en-US" sz="2200" dirty="0" err="1">
                <a:latin typeface="Bookman Old Style" panose="02050604050505020204" pitchFamily="18" charset="0"/>
              </a:rPr>
              <a:t>Matplotlib</a:t>
            </a:r>
            <a:r>
              <a:rPr lang="en-US" sz="2200" dirty="0">
                <a:latin typeface="Bookman Old Style" panose="02050604050505020204" pitchFamily="18" charset="0"/>
              </a:rPr>
              <a:t>, </a:t>
            </a:r>
            <a:r>
              <a:rPr lang="en-US" sz="2200" dirty="0" err="1">
                <a:latin typeface="Bookman Old Style" panose="02050604050505020204" pitchFamily="18" charset="0"/>
              </a:rPr>
              <a:t>Seaborn</a:t>
            </a:r>
            <a:r>
              <a:rPr lang="en-US" sz="2200" dirty="0">
                <a:latin typeface="Bookman Old Style" panose="02050604050505020204" pitchFamily="18" charset="0"/>
              </a:rPr>
              <a:t>) and Power BI to design an interactive, user-friendly dashboard. The system enables stakeholders to explore trends, detect anomalies, and support strategic decisions in policy planning </a:t>
            </a:r>
            <a:r>
              <a:rPr lang="en-US" sz="2200" dirty="0" smtClean="0">
                <a:latin typeface="Bookman Old Style" panose="02050604050505020204" pitchFamily="18" charset="0"/>
              </a:rPr>
              <a:t>. </a:t>
            </a:r>
            <a:r>
              <a:rPr lang="en-US" sz="2200" dirty="0">
                <a:latin typeface="Bookman Old Style" panose="02050604050505020204" pitchFamily="18" charset="0"/>
              </a:rPr>
              <a:t>Ultimately, this dashboard empowers insurance companies to enhance customer retention, refine health plans, and optimize risk assessment using data-driven insights.</a:t>
            </a:r>
          </a:p>
        </p:txBody>
      </p:sp>
    </p:spTree>
    <p:extLst>
      <p:ext uri="{BB962C8B-B14F-4D97-AF65-F5344CB8AC3E}">
        <p14:creationId xmlns:p14="http://schemas.microsoft.com/office/powerpoint/2010/main" val="1847864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9838" y="1011159"/>
            <a:ext cx="10861985" cy="1259319"/>
          </a:xfrm>
          <a:prstGeom prst="rect">
            <a:avLst/>
          </a:prstGeom>
        </p:spPr>
        <p:txBody>
          <a:bodyPr vert="horz" wrap="square" lIns="0" tIns="12700" rIns="0" bIns="0" rtlCol="0">
            <a:spAutoFit/>
          </a:bodyPr>
          <a:lstStyle/>
          <a:p>
            <a:pPr algn="just" fontAlgn="base">
              <a:lnSpc>
                <a:spcPct val="150000"/>
              </a:lnSpc>
            </a:pPr>
            <a:r>
              <a:rPr lang="en-GB" b="1" u="sng" dirty="0">
                <a:latin typeface="Bookman Old Style" panose="02050604050505020204" pitchFamily="18" charset="0"/>
              </a:rPr>
              <a:t>Data analytics </a:t>
            </a:r>
            <a:r>
              <a:rPr lang="en-US" sz="1600" b="1" dirty="0" smtClean="0">
                <a:solidFill>
                  <a:srgbClr val="000000"/>
                </a:solidFill>
                <a:latin typeface="Bookman Old Style" panose="02050604050505020204" pitchFamily="18" charset="0"/>
              </a:rPr>
              <a:t>: </a:t>
            </a:r>
            <a:r>
              <a:rPr lang="en-GB" dirty="0">
                <a:latin typeface="Bookman Old Style" panose="02050604050505020204" pitchFamily="18" charset="0"/>
              </a:rPr>
              <a:t>Data analytics is the science of analyzing raw data to draw meaningful conclusions and insights. It involves techniques like data cleaning, transformation, and visualization to make complex data understandable and actionable.</a:t>
            </a:r>
            <a:endParaRPr lang="en-US" sz="1600" b="0" i="0" dirty="0">
              <a:solidFill>
                <a:srgbClr val="000000"/>
              </a:solidFill>
              <a:effectLst/>
              <a:latin typeface="Bookman Old Style" panose="02050604050505020204" pitchFamily="18" charset="0"/>
            </a:endParaRPr>
          </a:p>
        </p:txBody>
      </p:sp>
      <p:grpSp>
        <p:nvGrpSpPr>
          <p:cNvPr id="3" name="object 3"/>
          <p:cNvGrpSpPr/>
          <p:nvPr/>
        </p:nvGrpSpPr>
        <p:grpSpPr>
          <a:xfrm>
            <a:off x="761" y="761"/>
            <a:ext cx="12192000" cy="6858000"/>
            <a:chOff x="761" y="761"/>
            <a:chExt cx="12192000" cy="6858000"/>
          </a:xfrm>
        </p:grpSpPr>
        <p:sp>
          <p:nvSpPr>
            <p:cNvPr id="4" name="object 4"/>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pic>
          <p:nvPicPr>
            <p:cNvPr id="5" name="object 5"/>
            <p:cNvPicPr/>
            <p:nvPr/>
          </p:nvPicPr>
          <p:blipFill>
            <a:blip r:embed="rId2" cstate="print"/>
            <a:stretch>
              <a:fillRect/>
            </a:stretch>
          </p:blipFill>
          <p:spPr>
            <a:xfrm>
              <a:off x="368067" y="198526"/>
              <a:ext cx="716267" cy="536448"/>
            </a:xfrm>
            <a:prstGeom prst="rect">
              <a:avLst/>
            </a:prstGeom>
          </p:spPr>
        </p:pic>
        <p:sp>
          <p:nvSpPr>
            <p:cNvPr id="6" name="object 6"/>
            <p:cNvSpPr/>
            <p:nvPr/>
          </p:nvSpPr>
          <p:spPr>
            <a:xfrm flipV="1">
              <a:off x="152400" y="783300"/>
              <a:ext cx="6705600" cy="54899"/>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dirty="0"/>
            </a:p>
          </p:txBody>
        </p:sp>
      </p:grpSp>
      <p:sp>
        <p:nvSpPr>
          <p:cNvPr id="7" name="object 7"/>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225" dirty="0"/>
              <a:t>5</a:t>
            </a:fld>
            <a:endParaRPr spc="-225" dirty="0"/>
          </a:p>
        </p:txBody>
      </p:sp>
      <p:sp>
        <p:nvSpPr>
          <p:cNvPr id="8" name="object 8"/>
          <p:cNvSpPr txBox="1"/>
          <p:nvPr/>
        </p:nvSpPr>
        <p:spPr>
          <a:xfrm>
            <a:off x="5150865" y="6377429"/>
            <a:ext cx="1984375" cy="234950"/>
          </a:xfrm>
          <a:prstGeom prst="rect">
            <a:avLst/>
          </a:prstGeom>
        </p:spPr>
        <p:txBody>
          <a:bodyPr vert="horz" wrap="square" lIns="0" tIns="2540" rIns="0" bIns="0" rtlCol="0">
            <a:spAutoFit/>
          </a:bodyPr>
          <a:lstStyle/>
          <a:p>
            <a:pPr marL="12700">
              <a:lnSpc>
                <a:spcPct val="100000"/>
              </a:lnSpc>
              <a:spcBef>
                <a:spcPts val="20"/>
              </a:spcBef>
            </a:pPr>
            <a:r>
              <a:rPr sz="1400" b="1" spc="-155" dirty="0">
                <a:solidFill>
                  <a:srgbClr val="001F5F"/>
                </a:solidFill>
                <a:latin typeface="Cambria" panose="02040503050406030204"/>
                <a:cs typeface="Cambria" panose="02040503050406030204"/>
              </a:rPr>
              <a:t>©</a:t>
            </a:r>
            <a:r>
              <a:rPr sz="1400" b="1" spc="140" dirty="0">
                <a:solidFill>
                  <a:srgbClr val="001F5F"/>
                </a:solidFill>
                <a:latin typeface="Cambria" panose="02040503050406030204"/>
                <a:cs typeface="Cambria" panose="02040503050406030204"/>
              </a:rPr>
              <a:t> </a:t>
            </a:r>
            <a:r>
              <a:rPr sz="1400" b="1" spc="105" dirty="0">
                <a:solidFill>
                  <a:srgbClr val="001F5F"/>
                </a:solidFill>
                <a:latin typeface="Cambria" panose="02040503050406030204"/>
                <a:cs typeface="Cambria" panose="02040503050406030204"/>
              </a:rPr>
              <a:t>BVRIT</a:t>
            </a:r>
            <a:r>
              <a:rPr sz="1400" b="1" spc="135" dirty="0">
                <a:solidFill>
                  <a:srgbClr val="001F5F"/>
                </a:solidFill>
                <a:latin typeface="Cambria" panose="02040503050406030204"/>
                <a:cs typeface="Cambria" panose="02040503050406030204"/>
              </a:rPr>
              <a:t> </a:t>
            </a:r>
            <a:r>
              <a:rPr sz="1400" b="1" spc="85" dirty="0">
                <a:solidFill>
                  <a:srgbClr val="001F5F"/>
                </a:solidFill>
                <a:latin typeface="Cambria" panose="02040503050406030204"/>
                <a:cs typeface="Cambria" panose="02040503050406030204"/>
              </a:rPr>
              <a:t>CSE(AI&amp;ML)</a:t>
            </a:r>
            <a:endParaRPr sz="1400">
              <a:latin typeface="Cambria" panose="02040503050406030204"/>
              <a:cs typeface="Cambria" panose="02040503050406030204"/>
            </a:endParaRPr>
          </a:p>
        </p:txBody>
      </p:sp>
      <p:sp>
        <p:nvSpPr>
          <p:cNvPr id="9" name="object 6"/>
          <p:cNvSpPr/>
          <p:nvPr/>
        </p:nvSpPr>
        <p:spPr>
          <a:xfrm>
            <a:off x="7696200" y="6252970"/>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dirty="0"/>
          </a:p>
        </p:txBody>
      </p:sp>
      <p:sp>
        <p:nvSpPr>
          <p:cNvPr id="11" name="TextBox 10"/>
          <p:cNvSpPr txBox="1"/>
          <p:nvPr/>
        </p:nvSpPr>
        <p:spPr>
          <a:xfrm>
            <a:off x="1007567" y="245621"/>
            <a:ext cx="6705600" cy="584775"/>
          </a:xfrm>
          <a:prstGeom prst="rect">
            <a:avLst/>
          </a:prstGeom>
          <a:noFill/>
        </p:spPr>
        <p:txBody>
          <a:bodyPr wrap="square">
            <a:spAutoFit/>
          </a:bodyPr>
          <a:lstStyle/>
          <a:p>
            <a:r>
              <a:rPr lang="en-IN" sz="3200" b="1" u="none" spc="-10" dirty="0">
                <a:latin typeface="Bookman Old Style" panose="02050604050505020204" pitchFamily="18" charset="0"/>
              </a:rPr>
              <a:t> INTRODUCTION</a:t>
            </a:r>
            <a:r>
              <a:rPr lang="en-IN" sz="3200" b="1" u="none" spc="-40" dirty="0">
                <a:latin typeface="Bookman Old Style" panose="02050604050505020204" pitchFamily="18" charset="0"/>
              </a:rPr>
              <a:t> </a:t>
            </a:r>
            <a:r>
              <a:rPr lang="en-IN" sz="3200" b="1" u="none" spc="-45" dirty="0">
                <a:latin typeface="Bookman Old Style" panose="02050604050505020204" pitchFamily="18" charset="0"/>
              </a:rPr>
              <a:t>TO</a:t>
            </a:r>
            <a:r>
              <a:rPr lang="en-IN" sz="3200" b="1" u="none" spc="-15" dirty="0">
                <a:latin typeface="Bookman Old Style" panose="02050604050505020204" pitchFamily="18" charset="0"/>
              </a:rPr>
              <a:t> </a:t>
            </a:r>
            <a:r>
              <a:rPr lang="en-IN" sz="3200" b="1" u="none" spc="-25" dirty="0">
                <a:latin typeface="Bookman Old Style" panose="02050604050505020204" pitchFamily="18" charset="0"/>
              </a:rPr>
              <a:t>DOMAIN</a:t>
            </a:r>
            <a:endParaRPr lang="en-IN" sz="3200" b="1" dirty="0">
              <a:latin typeface="Bookman Old Style" panose="02050604050505020204" pitchFamily="18" charset="0"/>
            </a:endParaRPr>
          </a:p>
        </p:txBody>
      </p:sp>
      <p:sp>
        <p:nvSpPr>
          <p:cNvPr id="10" name="TextBox 9"/>
          <p:cNvSpPr txBox="1"/>
          <p:nvPr/>
        </p:nvSpPr>
        <p:spPr>
          <a:xfrm>
            <a:off x="389838" y="2652274"/>
            <a:ext cx="11369477" cy="2862322"/>
          </a:xfrm>
          <a:prstGeom prst="rect">
            <a:avLst/>
          </a:prstGeom>
          <a:noFill/>
        </p:spPr>
        <p:txBody>
          <a:bodyPr wrap="square" rtlCol="0">
            <a:spAutoFit/>
          </a:bodyPr>
          <a:lstStyle/>
          <a:p>
            <a:r>
              <a:rPr lang="en-GB" b="1" u="sng" dirty="0">
                <a:latin typeface="Bookman Old Style" panose="02050604050505020204" pitchFamily="18" charset="0"/>
              </a:rPr>
              <a:t>Key Features</a:t>
            </a:r>
            <a:r>
              <a:rPr lang="en-GB" b="1" dirty="0" smtClean="0">
                <a:latin typeface="Bookman Old Style" panose="02050604050505020204" pitchFamily="18" charset="0"/>
              </a:rPr>
              <a:t>:</a:t>
            </a:r>
          </a:p>
          <a:p>
            <a:endParaRPr lang="en-GB" dirty="0">
              <a:latin typeface="Bookman Old Style" panose="02050604050505020204" pitchFamily="18" charset="0"/>
            </a:endParaRPr>
          </a:p>
          <a:p>
            <a:r>
              <a:rPr lang="en-GB" b="1" dirty="0">
                <a:latin typeface="Bookman Old Style" panose="02050604050505020204" pitchFamily="18" charset="0"/>
              </a:rPr>
              <a:t>Demographic Analysis:</a:t>
            </a:r>
            <a:r>
              <a:rPr lang="en-GB" dirty="0">
                <a:latin typeface="Bookman Old Style" panose="02050604050505020204" pitchFamily="18" charset="0"/>
              </a:rPr>
              <a:t/>
            </a:r>
            <a:br>
              <a:rPr lang="en-GB" dirty="0">
                <a:latin typeface="Bookman Old Style" panose="02050604050505020204" pitchFamily="18" charset="0"/>
              </a:rPr>
            </a:br>
            <a:r>
              <a:rPr lang="en-GB" dirty="0">
                <a:latin typeface="Bookman Old Style" panose="02050604050505020204" pitchFamily="18" charset="0"/>
              </a:rPr>
              <a:t>Insights into age, gender, and regional claim trends</a:t>
            </a:r>
            <a:r>
              <a:rPr lang="en-GB" dirty="0" smtClean="0">
                <a:latin typeface="Bookman Old Style" panose="02050604050505020204" pitchFamily="18" charset="0"/>
              </a:rPr>
              <a:t>.</a:t>
            </a:r>
          </a:p>
          <a:p>
            <a:endParaRPr lang="en-GB" dirty="0">
              <a:latin typeface="Bookman Old Style" panose="02050604050505020204" pitchFamily="18" charset="0"/>
            </a:endParaRPr>
          </a:p>
          <a:p>
            <a:r>
              <a:rPr lang="en-GB" b="1" dirty="0">
                <a:latin typeface="Bookman Old Style" panose="02050604050505020204" pitchFamily="18" charset="0"/>
              </a:rPr>
              <a:t>Health Indicators:</a:t>
            </a:r>
            <a:r>
              <a:rPr lang="en-GB" dirty="0">
                <a:latin typeface="Bookman Old Style" panose="02050604050505020204" pitchFamily="18" charset="0"/>
              </a:rPr>
              <a:t/>
            </a:r>
            <a:br>
              <a:rPr lang="en-GB" dirty="0">
                <a:latin typeface="Bookman Old Style" panose="02050604050505020204" pitchFamily="18" charset="0"/>
              </a:rPr>
            </a:br>
            <a:r>
              <a:rPr lang="en-GB" dirty="0">
                <a:latin typeface="Bookman Old Style" panose="02050604050505020204" pitchFamily="18" charset="0"/>
              </a:rPr>
              <a:t>Impact of BMI, blood pressure, smoking, and diabetic status on claims</a:t>
            </a:r>
            <a:r>
              <a:rPr lang="en-GB" dirty="0" smtClean="0">
                <a:latin typeface="Bookman Old Style" panose="02050604050505020204" pitchFamily="18" charset="0"/>
              </a:rPr>
              <a:t>.</a:t>
            </a:r>
          </a:p>
          <a:p>
            <a:endParaRPr lang="en-GB" dirty="0">
              <a:latin typeface="Bookman Old Style" panose="02050604050505020204" pitchFamily="18" charset="0"/>
            </a:endParaRPr>
          </a:p>
          <a:p>
            <a:r>
              <a:rPr lang="en-GB" b="1" dirty="0">
                <a:latin typeface="Bookman Old Style" panose="02050604050505020204" pitchFamily="18" charset="0"/>
              </a:rPr>
              <a:t>Visualizations:</a:t>
            </a:r>
            <a:r>
              <a:rPr lang="en-GB" dirty="0">
                <a:latin typeface="Bookman Old Style" panose="02050604050505020204" pitchFamily="18" charset="0"/>
              </a:rPr>
              <a:t/>
            </a:r>
            <a:br>
              <a:rPr lang="en-GB" dirty="0">
                <a:latin typeface="Bookman Old Style" panose="02050604050505020204" pitchFamily="18" charset="0"/>
              </a:rPr>
            </a:br>
            <a:r>
              <a:rPr lang="en-GB" dirty="0">
                <a:latin typeface="Bookman Old Style" panose="02050604050505020204" pitchFamily="18" charset="0"/>
              </a:rPr>
              <a:t>Line, bar, and pie charts for trend exploration and comparison.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7338" y="270459"/>
            <a:ext cx="5398262" cy="505908"/>
          </a:xfrm>
          <a:prstGeom prst="rect">
            <a:avLst/>
          </a:prstGeom>
        </p:spPr>
        <p:txBody>
          <a:bodyPr vert="horz" wrap="square" lIns="0" tIns="13335" rIns="0" bIns="0" rtlCol="0">
            <a:spAutoFit/>
          </a:bodyPr>
          <a:lstStyle/>
          <a:p>
            <a:pPr marL="12700">
              <a:lnSpc>
                <a:spcPct val="100000"/>
              </a:lnSpc>
              <a:spcBef>
                <a:spcPts val="105"/>
              </a:spcBef>
            </a:pPr>
            <a:r>
              <a:rPr lang="en-US" u="none" spc="-65" dirty="0" smtClean="0">
                <a:latin typeface="Bookman Old Style" panose="02050604050505020204" pitchFamily="18" charset="0"/>
              </a:rPr>
              <a:t>PROBLEM STATEMENT</a:t>
            </a:r>
            <a:endParaRPr u="none" spc="-65" dirty="0">
              <a:latin typeface="Bookman Old Style" panose="02050604050505020204" pitchFamily="18" charset="0"/>
            </a:endParaRPr>
          </a:p>
        </p:txBody>
      </p:sp>
      <p:sp>
        <p:nvSpPr>
          <p:cNvPr id="3" name="object 3"/>
          <p:cNvSpPr txBox="1"/>
          <p:nvPr/>
        </p:nvSpPr>
        <p:spPr>
          <a:xfrm>
            <a:off x="605918" y="15875"/>
            <a:ext cx="10709910" cy="3551613"/>
          </a:xfrm>
          <a:prstGeom prst="rect">
            <a:avLst/>
          </a:prstGeom>
        </p:spPr>
        <p:txBody>
          <a:bodyPr vert="horz" wrap="square" lIns="0" tIns="12065" rIns="0" bIns="0" rtlCol="0">
            <a:spAutoFit/>
          </a:bodyPr>
          <a:lstStyle/>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355600" marR="5080" indent="-342900" algn="just">
              <a:lnSpc>
                <a:spcPct val="150000"/>
              </a:lnSpc>
              <a:spcBef>
                <a:spcPts val="1200"/>
              </a:spcBef>
              <a:buClr>
                <a:srgbClr val="9E3611"/>
              </a:buClr>
              <a:buSzPct val="83000"/>
              <a:buFont typeface="Arial" panose="020B0604020202020204" pitchFamily="34" charset="0"/>
              <a:buChar char="•"/>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p:txBody>
      </p:sp>
      <p:grpSp>
        <p:nvGrpSpPr>
          <p:cNvPr id="4" name="object 4"/>
          <p:cNvGrpSpPr/>
          <p:nvPr/>
        </p:nvGrpSpPr>
        <p:grpSpPr>
          <a:xfrm>
            <a:off x="-762" y="-12390"/>
            <a:ext cx="12192000" cy="6858000"/>
            <a:chOff x="761" y="761"/>
            <a:chExt cx="12192000" cy="6858000"/>
          </a:xfrm>
        </p:grpSpPr>
        <p:sp>
          <p:nvSpPr>
            <p:cNvPr id="5"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sp>
          <p:nvSpPr>
            <p:cNvPr id="6" name="object 6"/>
            <p:cNvSpPr/>
            <p:nvPr/>
          </p:nvSpPr>
          <p:spPr>
            <a:xfrm flipV="1">
              <a:off x="109727" y="871144"/>
              <a:ext cx="6597396" cy="45719"/>
            </a:xfrm>
            <a:custGeom>
              <a:avLst/>
              <a:gdLst/>
              <a:ahLst/>
              <a:cxnLst/>
              <a:rect l="l" t="t" r="r" b="b"/>
              <a:pathLst>
                <a:path w="4579620" h="12065">
                  <a:moveTo>
                    <a:pt x="0" y="11557"/>
                  </a:moveTo>
                  <a:lnTo>
                    <a:pt x="4579493" y="0"/>
                  </a:lnTo>
                </a:path>
              </a:pathLst>
            </a:custGeom>
            <a:ln w="57150">
              <a:solidFill>
                <a:srgbClr val="001F5F"/>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86511" y="149351"/>
              <a:ext cx="890016" cy="670560"/>
            </a:xfrm>
            <a:prstGeom prst="rect">
              <a:avLst/>
            </a:prstGeom>
          </p:spPr>
        </p:pic>
        <p:sp>
          <p:nvSpPr>
            <p:cNvPr id="8" name="object 8"/>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225" dirty="0"/>
              <a:t>6</a:t>
            </a:fld>
            <a:endParaRPr spc="-225" dirty="0"/>
          </a:p>
        </p:txBody>
      </p:sp>
      <p:sp>
        <p:nvSpPr>
          <p:cNvPr id="10" name="object 10"/>
          <p:cNvSpPr txBox="1"/>
          <p:nvPr/>
        </p:nvSpPr>
        <p:spPr>
          <a:xfrm>
            <a:off x="5150865" y="6377429"/>
            <a:ext cx="1984375" cy="234950"/>
          </a:xfrm>
          <a:prstGeom prst="rect">
            <a:avLst/>
          </a:prstGeom>
        </p:spPr>
        <p:txBody>
          <a:bodyPr vert="horz" wrap="square" lIns="0" tIns="2540" rIns="0" bIns="0" rtlCol="0">
            <a:spAutoFit/>
          </a:bodyPr>
          <a:lstStyle/>
          <a:p>
            <a:pPr marL="12700">
              <a:lnSpc>
                <a:spcPct val="100000"/>
              </a:lnSpc>
              <a:spcBef>
                <a:spcPts val="20"/>
              </a:spcBef>
            </a:pPr>
            <a:r>
              <a:rPr sz="1400" b="1" spc="-155" dirty="0">
                <a:solidFill>
                  <a:srgbClr val="001F5F"/>
                </a:solidFill>
                <a:latin typeface="Cambria" panose="02040503050406030204"/>
                <a:cs typeface="Cambria" panose="02040503050406030204"/>
              </a:rPr>
              <a:t>©</a:t>
            </a:r>
            <a:r>
              <a:rPr sz="1400" b="1" spc="140" dirty="0">
                <a:solidFill>
                  <a:srgbClr val="001F5F"/>
                </a:solidFill>
                <a:latin typeface="Cambria" panose="02040503050406030204"/>
                <a:cs typeface="Cambria" panose="02040503050406030204"/>
              </a:rPr>
              <a:t> </a:t>
            </a:r>
            <a:r>
              <a:rPr sz="1400" b="1" spc="105" dirty="0">
                <a:solidFill>
                  <a:srgbClr val="001F5F"/>
                </a:solidFill>
                <a:latin typeface="Cambria" panose="02040503050406030204"/>
                <a:cs typeface="Cambria" panose="02040503050406030204"/>
              </a:rPr>
              <a:t>BVRIT</a:t>
            </a:r>
            <a:r>
              <a:rPr sz="1400" b="1" spc="135" dirty="0">
                <a:solidFill>
                  <a:srgbClr val="001F5F"/>
                </a:solidFill>
                <a:latin typeface="Cambria" panose="02040503050406030204"/>
                <a:cs typeface="Cambria" panose="02040503050406030204"/>
              </a:rPr>
              <a:t> </a:t>
            </a:r>
            <a:r>
              <a:rPr sz="1400" b="1" spc="85" dirty="0">
                <a:solidFill>
                  <a:srgbClr val="001F5F"/>
                </a:solidFill>
                <a:latin typeface="Cambria" panose="02040503050406030204"/>
                <a:cs typeface="Cambria" panose="02040503050406030204"/>
              </a:rPr>
              <a:t>CSE(AI&amp;ML)</a:t>
            </a:r>
            <a:endParaRPr sz="1400">
              <a:latin typeface="Cambria" panose="02040503050406030204"/>
              <a:cs typeface="Cambria" panose="02040503050406030204"/>
            </a:endParaRPr>
          </a:p>
        </p:txBody>
      </p:sp>
      <p:sp>
        <p:nvSpPr>
          <p:cNvPr id="12" name="Rectangle 2"/>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13" name="Rectangle 3"/>
          <p:cNvSpPr>
            <a:spLocks noChangeArrowheads="1"/>
          </p:cNvSpPr>
          <p:nvPr/>
        </p:nvSpPr>
        <p:spPr bwMode="auto">
          <a:xfrm>
            <a:off x="-8451" y="48436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TextBox 14"/>
          <p:cNvSpPr txBox="1"/>
          <p:nvPr/>
        </p:nvSpPr>
        <p:spPr>
          <a:xfrm>
            <a:off x="605918" y="1180389"/>
            <a:ext cx="10709910" cy="4493538"/>
          </a:xfrm>
          <a:prstGeom prst="rect">
            <a:avLst/>
          </a:prstGeom>
          <a:noFill/>
        </p:spPr>
        <p:txBody>
          <a:bodyPr wrap="square" rtlCol="0">
            <a:spAutoFit/>
          </a:bodyPr>
          <a:lstStyle/>
          <a:p>
            <a:r>
              <a:rPr lang="en-US" sz="2200" dirty="0">
                <a:latin typeface="Bookman Old Style" panose="02050604050505020204" pitchFamily="18" charset="0"/>
              </a:rPr>
              <a:t>The insurance sector faces significant challenges in understanding and predicting claim patterns due to the complexity and diversity of influencing factors such as age, BMI, smoking habits, and health conditions. Traditional methods often fail to reveal actionable insights, leading to inefficient policy decisions, increased risk exposure, and missed opportunities for customer retention.</a:t>
            </a:r>
          </a:p>
          <a:p>
            <a:r>
              <a:rPr lang="en-US" sz="2200" b="1" dirty="0">
                <a:latin typeface="Bookman Old Style" panose="02050604050505020204" pitchFamily="18" charset="0"/>
              </a:rPr>
              <a:t>Key Challenges:</a:t>
            </a:r>
            <a:endParaRPr lang="en-US" sz="2200" dirty="0">
              <a:latin typeface="Bookman Old Style" panose="02050604050505020204" pitchFamily="18" charset="0"/>
            </a:endParaRPr>
          </a:p>
          <a:p>
            <a:pPr marL="285750" indent="-285750">
              <a:buFont typeface="Wingdings" panose="05000000000000000000" pitchFamily="2" charset="2"/>
              <a:buChar char="Ø"/>
            </a:pPr>
            <a:r>
              <a:rPr lang="en-US" sz="2200" dirty="0">
                <a:latin typeface="Bookman Old Style" panose="02050604050505020204" pitchFamily="18" charset="0"/>
              </a:rPr>
              <a:t>Difficulty in identifying the key variables impacting claim amounts.</a:t>
            </a:r>
          </a:p>
          <a:p>
            <a:pPr marL="285750" indent="-285750">
              <a:buFont typeface="Wingdings" panose="05000000000000000000" pitchFamily="2" charset="2"/>
              <a:buChar char="Ø"/>
            </a:pPr>
            <a:r>
              <a:rPr lang="en-US" sz="2200" dirty="0">
                <a:latin typeface="Bookman Old Style" panose="02050604050505020204" pitchFamily="18" charset="0"/>
              </a:rPr>
              <a:t>Lack of real-time and interactive tools for visual data exploration.</a:t>
            </a:r>
          </a:p>
          <a:p>
            <a:pPr marL="285750" indent="-285750">
              <a:buFont typeface="Wingdings" panose="05000000000000000000" pitchFamily="2" charset="2"/>
              <a:buChar char="Ø"/>
            </a:pPr>
            <a:r>
              <a:rPr lang="en-US" sz="2200" dirty="0">
                <a:latin typeface="Bookman Old Style" panose="02050604050505020204" pitchFamily="18" charset="0"/>
              </a:rPr>
              <a:t>Inadequate support for data-driven decision-making in risk assessment </a:t>
            </a:r>
            <a:r>
              <a:rPr lang="en-US" sz="2200" dirty="0" smtClean="0">
                <a:latin typeface="Bookman Old Style" panose="02050604050505020204" pitchFamily="18" charset="0"/>
              </a:rPr>
              <a:t>.</a:t>
            </a:r>
            <a:endParaRPr lang="en-US" sz="2200" dirty="0">
              <a:latin typeface="Bookman Old Style" panose="02050604050505020204" pitchFamily="18" charset="0"/>
            </a:endParaRPr>
          </a:p>
          <a:p>
            <a:r>
              <a:rPr lang="en-US" sz="2200" dirty="0">
                <a:latin typeface="Bookman Old Style" panose="02050604050505020204" pitchFamily="18" charset="0"/>
              </a:rPr>
              <a:t>This project addresses the need for a robust, data-driven dashboard that simplifies claim analysis, supports trend discovery, and enables insurers to make more informed and proactive decisions</a:t>
            </a:r>
          </a:p>
        </p:txBody>
      </p:sp>
    </p:spTree>
    <p:extLst>
      <p:ext uri="{BB962C8B-B14F-4D97-AF65-F5344CB8AC3E}">
        <p14:creationId xmlns:p14="http://schemas.microsoft.com/office/powerpoint/2010/main" val="641319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7338" y="270459"/>
            <a:ext cx="2883662" cy="505908"/>
          </a:xfrm>
          <a:prstGeom prst="rect">
            <a:avLst/>
          </a:prstGeom>
        </p:spPr>
        <p:txBody>
          <a:bodyPr vert="horz" wrap="square" lIns="0" tIns="13335" rIns="0" bIns="0" rtlCol="0">
            <a:spAutoFit/>
          </a:bodyPr>
          <a:lstStyle/>
          <a:p>
            <a:pPr marL="12700">
              <a:lnSpc>
                <a:spcPct val="100000"/>
              </a:lnSpc>
              <a:spcBef>
                <a:spcPts val="105"/>
              </a:spcBef>
            </a:pPr>
            <a:r>
              <a:rPr u="none" spc="-65" dirty="0" smtClean="0">
                <a:latin typeface="Bookman Old Style" panose="02050604050505020204" pitchFamily="18" charset="0"/>
              </a:rPr>
              <a:t>MOTIVATION</a:t>
            </a:r>
            <a:endParaRPr u="none" spc="-65" dirty="0">
              <a:latin typeface="Bookman Old Style" panose="02050604050505020204" pitchFamily="18" charset="0"/>
            </a:endParaRPr>
          </a:p>
        </p:txBody>
      </p:sp>
      <p:sp>
        <p:nvSpPr>
          <p:cNvPr id="3" name="object 3"/>
          <p:cNvSpPr txBox="1"/>
          <p:nvPr/>
        </p:nvSpPr>
        <p:spPr>
          <a:xfrm>
            <a:off x="605918" y="15875"/>
            <a:ext cx="10709910" cy="3551613"/>
          </a:xfrm>
          <a:prstGeom prst="rect">
            <a:avLst/>
          </a:prstGeom>
        </p:spPr>
        <p:txBody>
          <a:bodyPr vert="horz" wrap="square" lIns="0" tIns="12065" rIns="0" bIns="0" rtlCol="0">
            <a:spAutoFit/>
          </a:bodyPr>
          <a:lstStyle/>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355600" marR="5080" indent="-342900" algn="just">
              <a:lnSpc>
                <a:spcPct val="150000"/>
              </a:lnSpc>
              <a:spcBef>
                <a:spcPts val="1200"/>
              </a:spcBef>
              <a:buClr>
                <a:srgbClr val="9E3611"/>
              </a:buClr>
              <a:buSzPct val="83000"/>
              <a:buFont typeface="Arial" panose="020B0604020202020204" pitchFamily="34" charset="0"/>
              <a:buChar char="•"/>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p:txBody>
      </p:sp>
      <p:grpSp>
        <p:nvGrpSpPr>
          <p:cNvPr id="4" name="object 4"/>
          <p:cNvGrpSpPr/>
          <p:nvPr/>
        </p:nvGrpSpPr>
        <p:grpSpPr>
          <a:xfrm>
            <a:off x="-24638" y="0"/>
            <a:ext cx="12242800" cy="6908800"/>
            <a:chOff x="-24638" y="0"/>
            <a:chExt cx="12242800" cy="6908800"/>
          </a:xfrm>
        </p:grpSpPr>
        <p:sp>
          <p:nvSpPr>
            <p:cNvPr id="5"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sp>
          <p:nvSpPr>
            <p:cNvPr id="6" name="object 6"/>
            <p:cNvSpPr/>
            <p:nvPr/>
          </p:nvSpPr>
          <p:spPr>
            <a:xfrm>
              <a:off x="109727" y="819911"/>
              <a:ext cx="4579620" cy="12065"/>
            </a:xfrm>
            <a:custGeom>
              <a:avLst/>
              <a:gdLst/>
              <a:ahLst/>
              <a:cxnLst/>
              <a:rect l="l" t="t" r="r" b="b"/>
              <a:pathLst>
                <a:path w="4579620" h="12065">
                  <a:moveTo>
                    <a:pt x="0" y="11557"/>
                  </a:moveTo>
                  <a:lnTo>
                    <a:pt x="4579493" y="0"/>
                  </a:lnTo>
                </a:path>
              </a:pathLst>
            </a:custGeom>
            <a:ln w="57150">
              <a:solidFill>
                <a:srgbClr val="001F5F"/>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86511" y="149351"/>
              <a:ext cx="890016" cy="670560"/>
            </a:xfrm>
            <a:prstGeom prst="rect">
              <a:avLst/>
            </a:prstGeom>
          </p:spPr>
        </p:pic>
        <p:sp>
          <p:nvSpPr>
            <p:cNvPr id="8" name="object 8"/>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225" dirty="0"/>
              <a:t>7</a:t>
            </a:fld>
            <a:endParaRPr spc="-225" dirty="0"/>
          </a:p>
        </p:txBody>
      </p:sp>
      <p:sp>
        <p:nvSpPr>
          <p:cNvPr id="10" name="object 10"/>
          <p:cNvSpPr txBox="1"/>
          <p:nvPr/>
        </p:nvSpPr>
        <p:spPr>
          <a:xfrm>
            <a:off x="5150865" y="6377429"/>
            <a:ext cx="1984375" cy="234950"/>
          </a:xfrm>
          <a:prstGeom prst="rect">
            <a:avLst/>
          </a:prstGeom>
        </p:spPr>
        <p:txBody>
          <a:bodyPr vert="horz" wrap="square" lIns="0" tIns="2540" rIns="0" bIns="0" rtlCol="0">
            <a:spAutoFit/>
          </a:bodyPr>
          <a:lstStyle/>
          <a:p>
            <a:pPr marL="12700">
              <a:lnSpc>
                <a:spcPct val="100000"/>
              </a:lnSpc>
              <a:spcBef>
                <a:spcPts val="20"/>
              </a:spcBef>
            </a:pPr>
            <a:r>
              <a:rPr sz="1400" b="1" spc="-155" dirty="0">
                <a:solidFill>
                  <a:srgbClr val="001F5F"/>
                </a:solidFill>
                <a:latin typeface="Cambria" panose="02040503050406030204"/>
                <a:cs typeface="Cambria" panose="02040503050406030204"/>
              </a:rPr>
              <a:t>©</a:t>
            </a:r>
            <a:r>
              <a:rPr sz="1400" b="1" spc="140" dirty="0">
                <a:solidFill>
                  <a:srgbClr val="001F5F"/>
                </a:solidFill>
                <a:latin typeface="Cambria" panose="02040503050406030204"/>
                <a:cs typeface="Cambria" panose="02040503050406030204"/>
              </a:rPr>
              <a:t> </a:t>
            </a:r>
            <a:r>
              <a:rPr sz="1400" b="1" spc="105" dirty="0">
                <a:solidFill>
                  <a:srgbClr val="001F5F"/>
                </a:solidFill>
                <a:latin typeface="Cambria" panose="02040503050406030204"/>
                <a:cs typeface="Cambria" panose="02040503050406030204"/>
              </a:rPr>
              <a:t>BVRIT</a:t>
            </a:r>
            <a:r>
              <a:rPr sz="1400" b="1" spc="135" dirty="0">
                <a:solidFill>
                  <a:srgbClr val="001F5F"/>
                </a:solidFill>
                <a:latin typeface="Cambria" panose="02040503050406030204"/>
                <a:cs typeface="Cambria" panose="02040503050406030204"/>
              </a:rPr>
              <a:t> </a:t>
            </a:r>
            <a:r>
              <a:rPr sz="1400" b="1" spc="85" dirty="0">
                <a:solidFill>
                  <a:srgbClr val="001F5F"/>
                </a:solidFill>
                <a:latin typeface="Cambria" panose="02040503050406030204"/>
                <a:cs typeface="Cambria" panose="02040503050406030204"/>
              </a:rPr>
              <a:t>CSE(AI&amp;ML)</a:t>
            </a:r>
            <a:endParaRPr sz="1400">
              <a:latin typeface="Cambria" panose="02040503050406030204"/>
              <a:cs typeface="Cambria" panose="02040503050406030204"/>
            </a:endParaRPr>
          </a:p>
        </p:txBody>
      </p:sp>
      <p:sp>
        <p:nvSpPr>
          <p:cNvPr id="12" name="Rectangle 2"/>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13" name="Rectangle 3"/>
          <p:cNvSpPr>
            <a:spLocks noChangeArrowheads="1"/>
          </p:cNvSpPr>
          <p:nvPr/>
        </p:nvSpPr>
        <p:spPr bwMode="auto">
          <a:xfrm>
            <a:off x="-761" y="37477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4" name="Content Placeholder 2" descr="Icon Bullets">
            <a:extLst>
              <a:ext uri="{FF2B5EF4-FFF2-40B4-BE49-F238E27FC236}">
                <a16:creationId xmlns:a16="http://schemas.microsoft.com/office/drawing/2014/main" id="{51938B4F-26EE-4238-880D-3CE26A7E4AED}"/>
              </a:ext>
            </a:extLst>
          </p:cNvPr>
          <p:cNvGraphicFramePr>
            <a:graphicFrameLocks noGrp="1"/>
          </p:cNvGraphicFramePr>
          <p:nvPr>
            <p:extLst>
              <p:ext uri="{D42A27DB-BD31-4B8C-83A1-F6EECF244321}">
                <p14:modId xmlns:p14="http://schemas.microsoft.com/office/powerpoint/2010/main" val="3323049208"/>
              </p:ext>
            </p:extLst>
          </p:nvPr>
        </p:nvGraphicFramePr>
        <p:xfrm>
          <a:off x="1828800" y="974882"/>
          <a:ext cx="8915400" cy="51058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401043" y="6230111"/>
            <a:ext cx="457200" cy="457200"/>
            <a:chOff x="11401043" y="6230111"/>
            <a:chExt cx="457200" cy="457200"/>
          </a:xfrm>
        </p:grpSpPr>
        <p:pic>
          <p:nvPicPr>
            <p:cNvPr id="3" name="object 3"/>
            <p:cNvPicPr/>
            <p:nvPr/>
          </p:nvPicPr>
          <p:blipFill>
            <a:blip r:embed="rId2" cstate="print"/>
            <a:stretch>
              <a:fillRect/>
            </a:stretch>
          </p:blipFill>
          <p:spPr>
            <a:xfrm>
              <a:off x="11401043" y="6230111"/>
              <a:ext cx="457200" cy="457200"/>
            </a:xfrm>
            <a:prstGeom prst="rect">
              <a:avLst/>
            </a:prstGeom>
          </p:spPr>
        </p:pic>
        <p:sp>
          <p:nvSpPr>
            <p:cNvPr id="4" name="object 4"/>
            <p:cNvSpPr/>
            <p:nvPr/>
          </p:nvSpPr>
          <p:spPr>
            <a:xfrm>
              <a:off x="11431523" y="6259067"/>
              <a:ext cx="398145" cy="399415"/>
            </a:xfrm>
            <a:custGeom>
              <a:avLst/>
              <a:gdLst/>
              <a:ahLst/>
              <a:cxnLst/>
              <a:rect l="l" t="t" r="r" b="b"/>
              <a:pathLst>
                <a:path w="398145" h="399415">
                  <a:moveTo>
                    <a:pt x="0" y="199643"/>
                  </a:moveTo>
                  <a:lnTo>
                    <a:pt x="5251" y="153867"/>
                  </a:lnTo>
                  <a:lnTo>
                    <a:pt x="20211" y="111845"/>
                  </a:lnTo>
                  <a:lnTo>
                    <a:pt x="43687" y="74776"/>
                  </a:lnTo>
                  <a:lnTo>
                    <a:pt x="74484" y="43859"/>
                  </a:lnTo>
                  <a:lnTo>
                    <a:pt x="111411" y="20291"/>
                  </a:lnTo>
                  <a:lnTo>
                    <a:pt x="153275" y="5272"/>
                  </a:lnTo>
                  <a:lnTo>
                    <a:pt x="198881" y="0"/>
                  </a:lnTo>
                  <a:lnTo>
                    <a:pt x="244488" y="5272"/>
                  </a:lnTo>
                  <a:lnTo>
                    <a:pt x="286352" y="20291"/>
                  </a:lnTo>
                  <a:lnTo>
                    <a:pt x="323279" y="43859"/>
                  </a:lnTo>
                  <a:lnTo>
                    <a:pt x="354076" y="74776"/>
                  </a:lnTo>
                  <a:lnTo>
                    <a:pt x="377552" y="111845"/>
                  </a:lnTo>
                  <a:lnTo>
                    <a:pt x="392512" y="153867"/>
                  </a:lnTo>
                  <a:lnTo>
                    <a:pt x="397764" y="199643"/>
                  </a:lnTo>
                  <a:lnTo>
                    <a:pt x="392512" y="245420"/>
                  </a:lnTo>
                  <a:lnTo>
                    <a:pt x="377552" y="287442"/>
                  </a:lnTo>
                  <a:lnTo>
                    <a:pt x="354076" y="324511"/>
                  </a:lnTo>
                  <a:lnTo>
                    <a:pt x="323279" y="355428"/>
                  </a:lnTo>
                  <a:lnTo>
                    <a:pt x="286352" y="378996"/>
                  </a:lnTo>
                  <a:lnTo>
                    <a:pt x="244488" y="394015"/>
                  </a:lnTo>
                  <a:lnTo>
                    <a:pt x="198881" y="399287"/>
                  </a:lnTo>
                  <a:lnTo>
                    <a:pt x="153275" y="394015"/>
                  </a:lnTo>
                  <a:lnTo>
                    <a:pt x="111411" y="378996"/>
                  </a:lnTo>
                  <a:lnTo>
                    <a:pt x="74484" y="355428"/>
                  </a:lnTo>
                  <a:lnTo>
                    <a:pt x="43687" y="324511"/>
                  </a:lnTo>
                  <a:lnTo>
                    <a:pt x="20211" y="287442"/>
                  </a:lnTo>
                  <a:lnTo>
                    <a:pt x="5251" y="245420"/>
                  </a:lnTo>
                  <a:lnTo>
                    <a:pt x="0" y="199643"/>
                  </a:lnTo>
                  <a:close/>
                </a:path>
              </a:pathLst>
            </a:custGeom>
            <a:ln w="12700">
              <a:solidFill>
                <a:srgbClr val="FFFFFF"/>
              </a:solidFill>
            </a:ln>
          </p:spPr>
          <p:txBody>
            <a:bodyPr wrap="square" lIns="0" tIns="0" rIns="0" bIns="0" rtlCol="0"/>
            <a:lstStyle/>
            <a:p>
              <a:endParaRPr/>
            </a:p>
          </p:txBody>
        </p:sp>
      </p:grpSp>
      <p:pic>
        <p:nvPicPr>
          <p:cNvPr id="5" name="object 5"/>
          <p:cNvPicPr/>
          <p:nvPr/>
        </p:nvPicPr>
        <p:blipFill>
          <a:blip r:embed="rId3" cstate="print"/>
          <a:stretch>
            <a:fillRect/>
          </a:stretch>
        </p:blipFill>
        <p:spPr>
          <a:xfrm>
            <a:off x="368067" y="198526"/>
            <a:ext cx="716267" cy="536448"/>
          </a:xfrm>
          <a:prstGeom prst="rect">
            <a:avLst/>
          </a:prstGeom>
        </p:spPr>
      </p:pic>
      <p:sp>
        <p:nvSpPr>
          <p:cNvPr id="6" name="object 6"/>
          <p:cNvSpPr/>
          <p:nvPr/>
        </p:nvSpPr>
        <p:spPr>
          <a:xfrm>
            <a:off x="109728" y="832103"/>
            <a:ext cx="3315335" cy="0"/>
          </a:xfrm>
          <a:custGeom>
            <a:avLst/>
            <a:gdLst/>
            <a:ahLst/>
            <a:cxnLst/>
            <a:rect l="l" t="t" r="r" b="b"/>
            <a:pathLst>
              <a:path w="3315335">
                <a:moveTo>
                  <a:pt x="0" y="0"/>
                </a:moveTo>
                <a:lnTo>
                  <a:pt x="3314954" y="0"/>
                </a:lnTo>
              </a:path>
            </a:pathLst>
          </a:custGeom>
          <a:ln w="57150">
            <a:solidFill>
              <a:srgbClr val="001F5F"/>
            </a:solidFill>
          </a:ln>
        </p:spPr>
        <p:txBody>
          <a:bodyPr wrap="square" lIns="0" tIns="0" rIns="0" bIns="0" rtlCol="0"/>
          <a:lstStyle/>
          <a:p>
            <a:endParaRPr/>
          </a:p>
        </p:txBody>
      </p:sp>
      <p:sp>
        <p:nvSpPr>
          <p:cNvPr id="7" name="object 7"/>
          <p:cNvSpPr txBox="1">
            <a:spLocks noGrp="1"/>
          </p:cNvSpPr>
          <p:nvPr>
            <p:ph type="title"/>
          </p:nvPr>
        </p:nvSpPr>
        <p:spPr>
          <a:xfrm>
            <a:off x="1239112" y="273176"/>
            <a:ext cx="2494687" cy="505267"/>
          </a:xfrm>
          <a:prstGeom prst="rect">
            <a:avLst/>
          </a:prstGeom>
        </p:spPr>
        <p:txBody>
          <a:bodyPr vert="horz" wrap="square" lIns="0" tIns="12700" rIns="0" bIns="0" rtlCol="0">
            <a:spAutoFit/>
          </a:bodyPr>
          <a:lstStyle/>
          <a:p>
            <a:pPr marL="12700">
              <a:lnSpc>
                <a:spcPct val="100000"/>
              </a:lnSpc>
              <a:spcBef>
                <a:spcPts val="100"/>
              </a:spcBef>
            </a:pPr>
            <a:r>
              <a:rPr u="none" spc="-95" dirty="0">
                <a:latin typeface="Bookman Old Style" panose="02050604050505020204" pitchFamily="18" charset="0"/>
              </a:rPr>
              <a:t>D</a:t>
            </a:r>
            <a:r>
              <a:rPr u="none" spc="-200" dirty="0">
                <a:latin typeface="Bookman Old Style" panose="02050604050505020204" pitchFamily="18" charset="0"/>
              </a:rPr>
              <a:t>A</a:t>
            </a:r>
            <a:r>
              <a:rPr u="none" spc="-260" dirty="0">
                <a:latin typeface="Bookman Old Style" panose="02050604050505020204" pitchFamily="18" charset="0"/>
              </a:rPr>
              <a:t>T</a:t>
            </a:r>
            <a:r>
              <a:rPr u="none" dirty="0">
                <a:latin typeface="Bookman Old Style" panose="02050604050505020204" pitchFamily="18" charset="0"/>
              </a:rPr>
              <a:t>A</a:t>
            </a:r>
            <a:r>
              <a:rPr u="none" spc="-5" dirty="0">
                <a:latin typeface="Bookman Old Style" panose="02050604050505020204" pitchFamily="18" charset="0"/>
              </a:rPr>
              <a:t>SETS</a:t>
            </a:r>
          </a:p>
        </p:txBody>
      </p:sp>
      <p:sp>
        <p:nvSpPr>
          <p:cNvPr id="17" name="object 17"/>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sp>
        <p:nvSpPr>
          <p:cNvPr id="18" name="object 18"/>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225" dirty="0"/>
              <a:t>8</a:t>
            </a:fld>
            <a:endParaRPr spc="-225" dirty="0"/>
          </a:p>
        </p:txBody>
      </p:sp>
      <p:sp>
        <p:nvSpPr>
          <p:cNvPr id="19" name="object 19"/>
          <p:cNvSpPr txBox="1"/>
          <p:nvPr/>
        </p:nvSpPr>
        <p:spPr>
          <a:xfrm>
            <a:off x="5173217" y="6364018"/>
            <a:ext cx="1984375" cy="234950"/>
          </a:xfrm>
          <a:prstGeom prst="rect">
            <a:avLst/>
          </a:prstGeom>
        </p:spPr>
        <p:txBody>
          <a:bodyPr vert="horz" wrap="square" lIns="0" tIns="2540" rIns="0" bIns="0" rtlCol="0">
            <a:spAutoFit/>
          </a:bodyPr>
          <a:lstStyle/>
          <a:p>
            <a:pPr marL="12700">
              <a:lnSpc>
                <a:spcPct val="100000"/>
              </a:lnSpc>
              <a:spcBef>
                <a:spcPts val="20"/>
              </a:spcBef>
            </a:pPr>
            <a:r>
              <a:rPr sz="1400" b="1" spc="-155" dirty="0">
                <a:solidFill>
                  <a:srgbClr val="001F5F"/>
                </a:solidFill>
                <a:latin typeface="Cambria" panose="02040503050406030204"/>
                <a:cs typeface="Cambria" panose="02040503050406030204"/>
              </a:rPr>
              <a:t>©</a:t>
            </a:r>
            <a:r>
              <a:rPr sz="1400" b="1" spc="140" dirty="0">
                <a:solidFill>
                  <a:srgbClr val="001F5F"/>
                </a:solidFill>
                <a:latin typeface="Cambria" panose="02040503050406030204"/>
                <a:cs typeface="Cambria" panose="02040503050406030204"/>
              </a:rPr>
              <a:t> </a:t>
            </a:r>
            <a:r>
              <a:rPr sz="1400" b="1" spc="105" dirty="0">
                <a:solidFill>
                  <a:srgbClr val="001F5F"/>
                </a:solidFill>
                <a:latin typeface="Cambria" panose="02040503050406030204"/>
                <a:cs typeface="Cambria" panose="02040503050406030204"/>
              </a:rPr>
              <a:t>BVRIT</a:t>
            </a:r>
            <a:r>
              <a:rPr sz="1400" b="1" spc="135" dirty="0">
                <a:solidFill>
                  <a:srgbClr val="001F5F"/>
                </a:solidFill>
                <a:latin typeface="Cambria" panose="02040503050406030204"/>
                <a:cs typeface="Cambria" panose="02040503050406030204"/>
              </a:rPr>
              <a:t> </a:t>
            </a:r>
            <a:r>
              <a:rPr sz="1400" b="1" spc="85" dirty="0">
                <a:solidFill>
                  <a:srgbClr val="001F5F"/>
                </a:solidFill>
                <a:latin typeface="Cambria" panose="02040503050406030204"/>
                <a:cs typeface="Cambria" panose="02040503050406030204"/>
              </a:rPr>
              <a:t>CSE(AI&amp;ML)</a:t>
            </a:r>
            <a:endParaRPr sz="1400">
              <a:latin typeface="Cambria" panose="02040503050406030204"/>
              <a:cs typeface="Cambria" panose="02040503050406030204"/>
            </a:endParaRPr>
          </a:p>
        </p:txBody>
      </p:sp>
      <p:sp>
        <p:nvSpPr>
          <p:cNvPr id="11" name="TextBox 10"/>
          <p:cNvSpPr txBox="1"/>
          <p:nvPr/>
        </p:nvSpPr>
        <p:spPr>
          <a:xfrm>
            <a:off x="533400" y="1219199"/>
            <a:ext cx="3672756" cy="3139321"/>
          </a:xfrm>
          <a:prstGeom prst="rect">
            <a:avLst/>
          </a:prstGeom>
          <a:noFill/>
        </p:spPr>
        <p:txBody>
          <a:bodyPr wrap="square" rtlCol="0">
            <a:spAutoFit/>
          </a:bodyPr>
          <a:lstStyle/>
          <a:p>
            <a:endParaRPr lang="en-IN" dirty="0">
              <a:latin typeface="Bookman Old Style" panose="02050604050505020204" pitchFamily="18" charset="0"/>
            </a:endParaRPr>
          </a:p>
          <a:p>
            <a:pPr marL="285750" indent="-285750">
              <a:buFont typeface="Arial" panose="020B0604020202020204" pitchFamily="34" charset="0"/>
              <a:buChar char="•"/>
            </a:pPr>
            <a:r>
              <a:rPr lang="en-GB" dirty="0">
                <a:latin typeface="Bookman Old Style" panose="02050604050505020204" pitchFamily="18" charset="0"/>
              </a:rPr>
              <a:t>The dataset consists of </a:t>
            </a:r>
            <a:r>
              <a:rPr lang="en-GB" b="1" dirty="0">
                <a:latin typeface="Bookman Old Style" panose="02050604050505020204" pitchFamily="18" charset="0"/>
              </a:rPr>
              <a:t>1,341 instances</a:t>
            </a:r>
            <a:r>
              <a:rPr lang="en-GB" dirty="0">
                <a:latin typeface="Bookman Old Style" panose="02050604050505020204" pitchFamily="18" charset="0"/>
              </a:rPr>
              <a:t>, each containing </a:t>
            </a:r>
            <a:r>
              <a:rPr lang="en-GB" b="1" dirty="0">
                <a:latin typeface="Bookman Old Style" panose="02050604050505020204" pitchFamily="18" charset="0"/>
              </a:rPr>
              <a:t>9 attributes</a:t>
            </a:r>
            <a:r>
              <a:rPr lang="en-GB" dirty="0">
                <a:latin typeface="Bookman Old Style" panose="02050604050505020204" pitchFamily="18" charset="0"/>
              </a:rPr>
              <a:t>. These attributes capture key demographic and health-related factors that influence insurance claims, making it suitable for data analysis</a:t>
            </a:r>
            <a:endParaRPr lang="en-IN" dirty="0">
              <a:latin typeface="Bookman Old Style" panose="02050604050505020204" pitchFamily="18" charset="0"/>
            </a:endParaRPr>
          </a:p>
          <a:p>
            <a:endParaRPr lang="en-IN" dirty="0">
              <a:latin typeface="Bookman Old Style" panose="02050604050505020204" pitchFamily="18" charset="0"/>
            </a:endParaRP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0407" y="1360544"/>
            <a:ext cx="7668695" cy="2362200"/>
          </a:xfrm>
          <a:prstGeom prst="rect">
            <a:avLst/>
          </a:prstGeom>
        </p:spPr>
      </p:pic>
      <p:sp>
        <p:nvSpPr>
          <p:cNvPr id="10" name="Rectangle 9"/>
          <p:cNvSpPr/>
          <p:nvPr/>
        </p:nvSpPr>
        <p:spPr>
          <a:xfrm>
            <a:off x="533400" y="4358520"/>
            <a:ext cx="6096000" cy="1477328"/>
          </a:xfrm>
          <a:prstGeom prst="rect">
            <a:avLst/>
          </a:prstGeom>
        </p:spPr>
        <p:txBody>
          <a:bodyPr>
            <a:spAutoFit/>
          </a:bodyPr>
          <a:lstStyle/>
          <a:p>
            <a:pPr marL="285750" lvl="0" indent="-285750">
              <a:buFont typeface="Arial" panose="020B0604020202020204" pitchFamily="34" charset="0"/>
              <a:buChar char="•"/>
            </a:pPr>
            <a:r>
              <a:rPr lang="en-GB" dirty="0">
                <a:latin typeface="Bookman Old Style" panose="02050604050505020204" pitchFamily="18" charset="0"/>
              </a:rPr>
              <a:t>The data utilized in this Insurance Claim Analysis  was obtained from </a:t>
            </a:r>
            <a:r>
              <a:rPr lang="en-GB" dirty="0" err="1">
                <a:latin typeface="Bookman Old Style" panose="02050604050505020204" pitchFamily="18" charset="0"/>
              </a:rPr>
              <a:t>Kaggle</a:t>
            </a:r>
            <a:r>
              <a:rPr lang="en-GB" dirty="0">
                <a:latin typeface="Bookman Old Style" panose="02050604050505020204" pitchFamily="18" charset="0"/>
              </a:rPr>
              <a:t>, under the dataset titled " (Demographic and Health)". </a:t>
            </a:r>
          </a:p>
          <a:p>
            <a:pPr lvl="0"/>
            <a:r>
              <a:rPr lang="en-GB" dirty="0">
                <a:solidFill>
                  <a:schemeClr val="bg1"/>
                </a:solidFill>
              </a:rPr>
              <a:t> </a:t>
            </a:r>
            <a:r>
              <a:rPr lang="en-GB" dirty="0">
                <a:solidFill>
                  <a:schemeClr val="bg1"/>
                </a:solidFill>
                <a:hlinkClick r:id="rId5"/>
              </a:rPr>
              <a:t>https://www.kaggle.com/datasets/thedevastator/insurance-claim-analysis-demographic-and-health/data</a:t>
            </a:r>
            <a:endParaRPr lang="en-IN" dirty="0">
              <a:solidFill>
                <a:schemeClr val="bg1"/>
              </a:solidFill>
            </a:endParaRPr>
          </a:p>
        </p:txBody>
      </p:sp>
      <p:grpSp>
        <p:nvGrpSpPr>
          <p:cNvPr id="14" name="object 4"/>
          <p:cNvGrpSpPr/>
          <p:nvPr/>
        </p:nvGrpSpPr>
        <p:grpSpPr>
          <a:xfrm>
            <a:off x="-24638" y="0"/>
            <a:ext cx="12242800" cy="6908800"/>
            <a:chOff x="-24638" y="0"/>
            <a:chExt cx="12242800" cy="6908800"/>
          </a:xfrm>
        </p:grpSpPr>
        <p:sp>
          <p:nvSpPr>
            <p:cNvPr id="15"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pic>
          <p:nvPicPr>
            <p:cNvPr id="16" name="object 6"/>
            <p:cNvPicPr/>
            <p:nvPr/>
          </p:nvPicPr>
          <p:blipFill>
            <a:blip r:embed="rId6" cstate="print"/>
            <a:stretch>
              <a:fillRect/>
            </a:stretch>
          </p:blipFill>
          <p:spPr>
            <a:xfrm>
              <a:off x="286511" y="149351"/>
              <a:ext cx="890016" cy="670560"/>
            </a:xfrm>
            <a:prstGeom prst="rect">
              <a:avLst/>
            </a:prstGeom>
          </p:spPr>
        </p:pic>
        <p:sp>
          <p:nvSpPr>
            <p:cNvPr id="20" name="object 7"/>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401043" y="6230111"/>
            <a:ext cx="457200" cy="457200"/>
            <a:chOff x="11401043" y="6230111"/>
            <a:chExt cx="457200" cy="457200"/>
          </a:xfrm>
        </p:grpSpPr>
        <p:pic>
          <p:nvPicPr>
            <p:cNvPr id="3" name="object 3"/>
            <p:cNvPicPr/>
            <p:nvPr/>
          </p:nvPicPr>
          <p:blipFill>
            <a:blip r:embed="rId2" cstate="print"/>
            <a:stretch>
              <a:fillRect/>
            </a:stretch>
          </p:blipFill>
          <p:spPr>
            <a:xfrm>
              <a:off x="11401043" y="6230111"/>
              <a:ext cx="457200" cy="457200"/>
            </a:xfrm>
            <a:prstGeom prst="rect">
              <a:avLst/>
            </a:prstGeom>
          </p:spPr>
        </p:pic>
        <p:sp>
          <p:nvSpPr>
            <p:cNvPr id="4" name="object 4"/>
            <p:cNvSpPr/>
            <p:nvPr/>
          </p:nvSpPr>
          <p:spPr>
            <a:xfrm>
              <a:off x="11431523" y="6259067"/>
              <a:ext cx="398145" cy="399415"/>
            </a:xfrm>
            <a:custGeom>
              <a:avLst/>
              <a:gdLst/>
              <a:ahLst/>
              <a:cxnLst/>
              <a:rect l="l" t="t" r="r" b="b"/>
              <a:pathLst>
                <a:path w="398145" h="399415">
                  <a:moveTo>
                    <a:pt x="0" y="199643"/>
                  </a:moveTo>
                  <a:lnTo>
                    <a:pt x="5251" y="153867"/>
                  </a:lnTo>
                  <a:lnTo>
                    <a:pt x="20211" y="111845"/>
                  </a:lnTo>
                  <a:lnTo>
                    <a:pt x="43687" y="74776"/>
                  </a:lnTo>
                  <a:lnTo>
                    <a:pt x="74484" y="43859"/>
                  </a:lnTo>
                  <a:lnTo>
                    <a:pt x="111411" y="20291"/>
                  </a:lnTo>
                  <a:lnTo>
                    <a:pt x="153275" y="5272"/>
                  </a:lnTo>
                  <a:lnTo>
                    <a:pt x="198881" y="0"/>
                  </a:lnTo>
                  <a:lnTo>
                    <a:pt x="244488" y="5272"/>
                  </a:lnTo>
                  <a:lnTo>
                    <a:pt x="286352" y="20291"/>
                  </a:lnTo>
                  <a:lnTo>
                    <a:pt x="323279" y="43859"/>
                  </a:lnTo>
                  <a:lnTo>
                    <a:pt x="354076" y="74776"/>
                  </a:lnTo>
                  <a:lnTo>
                    <a:pt x="377552" y="111845"/>
                  </a:lnTo>
                  <a:lnTo>
                    <a:pt x="392512" y="153867"/>
                  </a:lnTo>
                  <a:lnTo>
                    <a:pt x="397764" y="199643"/>
                  </a:lnTo>
                  <a:lnTo>
                    <a:pt x="392512" y="245420"/>
                  </a:lnTo>
                  <a:lnTo>
                    <a:pt x="377552" y="287442"/>
                  </a:lnTo>
                  <a:lnTo>
                    <a:pt x="354076" y="324511"/>
                  </a:lnTo>
                  <a:lnTo>
                    <a:pt x="323279" y="355428"/>
                  </a:lnTo>
                  <a:lnTo>
                    <a:pt x="286352" y="378996"/>
                  </a:lnTo>
                  <a:lnTo>
                    <a:pt x="244488" y="394015"/>
                  </a:lnTo>
                  <a:lnTo>
                    <a:pt x="198881" y="399287"/>
                  </a:lnTo>
                  <a:lnTo>
                    <a:pt x="153275" y="394015"/>
                  </a:lnTo>
                  <a:lnTo>
                    <a:pt x="111411" y="378996"/>
                  </a:lnTo>
                  <a:lnTo>
                    <a:pt x="74484" y="355428"/>
                  </a:lnTo>
                  <a:lnTo>
                    <a:pt x="43687" y="324511"/>
                  </a:lnTo>
                  <a:lnTo>
                    <a:pt x="20211" y="287442"/>
                  </a:lnTo>
                  <a:lnTo>
                    <a:pt x="5251" y="245420"/>
                  </a:lnTo>
                  <a:lnTo>
                    <a:pt x="0" y="199643"/>
                  </a:lnTo>
                  <a:close/>
                </a:path>
              </a:pathLst>
            </a:custGeom>
            <a:ln w="12700">
              <a:solidFill>
                <a:srgbClr val="FFFFFF"/>
              </a:solidFill>
            </a:ln>
          </p:spPr>
          <p:txBody>
            <a:bodyPr wrap="square" lIns="0" tIns="0" rIns="0" bIns="0" rtlCol="0"/>
            <a:lstStyle/>
            <a:p>
              <a:endParaRPr/>
            </a:p>
          </p:txBody>
        </p:sp>
      </p:grpSp>
      <p:grpSp>
        <p:nvGrpSpPr>
          <p:cNvPr id="6" name="object 6"/>
          <p:cNvGrpSpPr/>
          <p:nvPr/>
        </p:nvGrpSpPr>
        <p:grpSpPr>
          <a:xfrm>
            <a:off x="-24638" y="0"/>
            <a:ext cx="12242800" cy="6908800"/>
            <a:chOff x="-24638" y="0"/>
            <a:chExt cx="12242800" cy="6908800"/>
          </a:xfrm>
        </p:grpSpPr>
        <p:sp>
          <p:nvSpPr>
            <p:cNvPr id="7" name="object 7"/>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dirty="0"/>
            </a:p>
          </p:txBody>
        </p:sp>
        <p:pic>
          <p:nvPicPr>
            <p:cNvPr id="8" name="object 8"/>
            <p:cNvPicPr/>
            <p:nvPr/>
          </p:nvPicPr>
          <p:blipFill>
            <a:blip r:embed="rId3" cstate="print"/>
            <a:stretch>
              <a:fillRect/>
            </a:stretch>
          </p:blipFill>
          <p:spPr>
            <a:xfrm>
              <a:off x="368067" y="198526"/>
              <a:ext cx="716267" cy="536448"/>
            </a:xfrm>
            <a:prstGeom prst="rect">
              <a:avLst/>
            </a:prstGeom>
          </p:spPr>
        </p:pic>
        <p:sp>
          <p:nvSpPr>
            <p:cNvPr id="9" name="object 9"/>
            <p:cNvSpPr/>
            <p:nvPr/>
          </p:nvSpPr>
          <p:spPr>
            <a:xfrm>
              <a:off x="109727" y="819911"/>
              <a:ext cx="5202555" cy="12065"/>
            </a:xfrm>
            <a:custGeom>
              <a:avLst/>
              <a:gdLst/>
              <a:ahLst/>
              <a:cxnLst/>
              <a:rect l="l" t="t" r="r" b="b"/>
              <a:pathLst>
                <a:path w="5202555" h="12065">
                  <a:moveTo>
                    <a:pt x="0" y="11557"/>
                  </a:moveTo>
                  <a:lnTo>
                    <a:pt x="5202047" y="0"/>
                  </a:lnTo>
                </a:path>
              </a:pathLst>
            </a:custGeom>
            <a:ln w="57149">
              <a:solidFill>
                <a:srgbClr val="001F5F"/>
              </a:solidFill>
            </a:ln>
          </p:spPr>
          <p:txBody>
            <a:bodyPr wrap="square" lIns="0" tIns="0" rIns="0" bIns="0" rtlCol="0"/>
            <a:lstStyle/>
            <a:p>
              <a:endParaRPr/>
            </a:p>
          </p:txBody>
        </p:sp>
      </p:grpSp>
      <p:sp>
        <p:nvSpPr>
          <p:cNvPr id="10" name="object 10"/>
          <p:cNvSpPr txBox="1">
            <a:spLocks noGrp="1"/>
          </p:cNvSpPr>
          <p:nvPr>
            <p:ph type="title"/>
          </p:nvPr>
        </p:nvSpPr>
        <p:spPr>
          <a:xfrm>
            <a:off x="1179982" y="315925"/>
            <a:ext cx="4839818" cy="505908"/>
          </a:xfrm>
          <a:prstGeom prst="rect">
            <a:avLst/>
          </a:prstGeom>
        </p:spPr>
        <p:txBody>
          <a:bodyPr vert="horz" wrap="square" lIns="0" tIns="13335" rIns="0" bIns="0" rtlCol="0">
            <a:spAutoFit/>
          </a:bodyPr>
          <a:lstStyle/>
          <a:p>
            <a:pPr marL="12700">
              <a:lnSpc>
                <a:spcPct val="100000"/>
              </a:lnSpc>
              <a:spcBef>
                <a:spcPts val="105"/>
              </a:spcBef>
            </a:pPr>
            <a:r>
              <a:rPr u="none" spc="-25" dirty="0">
                <a:latin typeface="Bookman Old Style" panose="02050604050505020204" pitchFamily="18" charset="0"/>
              </a:rPr>
              <a:t>LITERATU</a:t>
            </a:r>
            <a:r>
              <a:rPr lang="en-IN" u="none" spc="-25" dirty="0">
                <a:latin typeface="Bookman Old Style" panose="02050604050505020204" pitchFamily="18" charset="0"/>
              </a:rPr>
              <a:t>RE</a:t>
            </a:r>
            <a:r>
              <a:rPr u="none" spc="-95" dirty="0">
                <a:latin typeface="Bookman Old Style" panose="02050604050505020204" pitchFamily="18" charset="0"/>
              </a:rPr>
              <a:t> </a:t>
            </a:r>
            <a:r>
              <a:rPr lang="en-IN" u="none" spc="-25" dirty="0">
                <a:latin typeface="Bookman Old Style" panose="02050604050505020204" pitchFamily="18" charset="0"/>
              </a:rPr>
              <a:t>REVIEW</a:t>
            </a:r>
            <a:endParaRPr u="none" spc="-25" dirty="0">
              <a:latin typeface="Bookman Old Style" panose="02050604050505020204" pitchFamily="18" charset="0"/>
            </a:endParaRPr>
          </a:p>
        </p:txBody>
      </p:sp>
      <p:sp>
        <p:nvSpPr>
          <p:cNvPr id="11" name="object 11"/>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sp>
        <p:nvSpPr>
          <p:cNvPr id="12" name="object 12"/>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225" dirty="0"/>
              <a:t>9</a:t>
            </a:fld>
            <a:endParaRPr spc="-225" dirty="0"/>
          </a:p>
        </p:txBody>
      </p:sp>
      <p:sp>
        <p:nvSpPr>
          <p:cNvPr id="13" name="object 13"/>
          <p:cNvSpPr txBox="1"/>
          <p:nvPr/>
        </p:nvSpPr>
        <p:spPr>
          <a:xfrm>
            <a:off x="5173217" y="6364018"/>
            <a:ext cx="1984375" cy="234950"/>
          </a:xfrm>
          <a:prstGeom prst="rect">
            <a:avLst/>
          </a:prstGeom>
        </p:spPr>
        <p:txBody>
          <a:bodyPr vert="horz" wrap="square" lIns="0" tIns="2540" rIns="0" bIns="0" rtlCol="0">
            <a:spAutoFit/>
          </a:bodyPr>
          <a:lstStyle/>
          <a:p>
            <a:pPr marL="12700">
              <a:lnSpc>
                <a:spcPct val="100000"/>
              </a:lnSpc>
              <a:spcBef>
                <a:spcPts val="20"/>
              </a:spcBef>
            </a:pPr>
            <a:r>
              <a:rPr sz="1400" b="1" spc="-155" dirty="0">
                <a:solidFill>
                  <a:srgbClr val="001F5F"/>
                </a:solidFill>
                <a:latin typeface="Cambria" panose="02040503050406030204"/>
                <a:cs typeface="Cambria" panose="02040503050406030204"/>
              </a:rPr>
              <a:t>©</a:t>
            </a:r>
            <a:r>
              <a:rPr sz="1400" b="1" spc="140" dirty="0">
                <a:solidFill>
                  <a:srgbClr val="001F5F"/>
                </a:solidFill>
                <a:latin typeface="Cambria" panose="02040503050406030204"/>
                <a:cs typeface="Cambria" panose="02040503050406030204"/>
              </a:rPr>
              <a:t> </a:t>
            </a:r>
            <a:r>
              <a:rPr sz="1400" b="1" spc="105" dirty="0">
                <a:solidFill>
                  <a:srgbClr val="001F5F"/>
                </a:solidFill>
                <a:latin typeface="Cambria" panose="02040503050406030204"/>
                <a:cs typeface="Cambria" panose="02040503050406030204"/>
              </a:rPr>
              <a:t>BVRIT</a:t>
            </a:r>
            <a:r>
              <a:rPr sz="1400" b="1" spc="135" dirty="0">
                <a:solidFill>
                  <a:srgbClr val="001F5F"/>
                </a:solidFill>
                <a:latin typeface="Cambria" panose="02040503050406030204"/>
                <a:cs typeface="Cambria" panose="02040503050406030204"/>
              </a:rPr>
              <a:t> </a:t>
            </a:r>
            <a:r>
              <a:rPr sz="1400" b="1" spc="85" dirty="0">
                <a:solidFill>
                  <a:srgbClr val="001F5F"/>
                </a:solidFill>
                <a:latin typeface="Cambria" panose="02040503050406030204"/>
                <a:cs typeface="Cambria" panose="02040503050406030204"/>
              </a:rPr>
              <a:t>CSE(AI&amp;ML)</a:t>
            </a:r>
            <a:endParaRPr sz="1400">
              <a:latin typeface="Cambria" panose="02040503050406030204"/>
              <a:cs typeface="Cambria" panose="02040503050406030204"/>
            </a:endParaRPr>
          </a:p>
        </p:txBody>
      </p:sp>
      <p:sp>
        <p:nvSpPr>
          <p:cNvPr id="14" name="object 6"/>
          <p:cNvSpPr txBox="1"/>
          <p:nvPr/>
        </p:nvSpPr>
        <p:spPr>
          <a:xfrm>
            <a:off x="251545" y="1386249"/>
            <a:ext cx="11589765" cy="4153060"/>
          </a:xfrm>
          <a:prstGeom prst="rect">
            <a:avLst/>
          </a:prstGeom>
        </p:spPr>
        <p:txBody>
          <a:bodyPr vert="horz" wrap="square" lIns="0" tIns="150495" rIns="0" bIns="0" rtlCol="0">
            <a:spAutoFit/>
          </a:bodyPr>
          <a:lstStyle/>
          <a:p>
            <a:r>
              <a:rPr lang="en-GB" sz="2000" b="1" dirty="0">
                <a:latin typeface="Bookman Old Style" panose="02050604050505020204" pitchFamily="18" charset="0"/>
              </a:rPr>
              <a:t>Author(s): </a:t>
            </a:r>
            <a:r>
              <a:rPr lang="en-GB" sz="2000" dirty="0" smtClean="0">
                <a:latin typeface="Bookman Old Style" panose="02050604050505020204" pitchFamily="18" charset="0"/>
              </a:rPr>
              <a:t>Smith </a:t>
            </a:r>
            <a:r>
              <a:rPr lang="en-GB" sz="2000" dirty="0">
                <a:latin typeface="Bookman Old Style" panose="02050604050505020204" pitchFamily="18" charset="0"/>
              </a:rPr>
              <a:t>&amp; </a:t>
            </a:r>
            <a:r>
              <a:rPr lang="en-GB" sz="2000" dirty="0" smtClean="0">
                <a:latin typeface="Bookman Old Style" panose="02050604050505020204" pitchFamily="18" charset="0"/>
              </a:rPr>
              <a:t>Johnson</a:t>
            </a:r>
            <a:r>
              <a:rPr lang="en-GB" sz="2000" dirty="0">
                <a:latin typeface="Bookman Old Style" panose="02050604050505020204" pitchFamily="18" charset="0"/>
              </a:rPr>
              <a:t>.</a:t>
            </a:r>
            <a:br>
              <a:rPr lang="en-GB" sz="2000" dirty="0">
                <a:latin typeface="Bookman Old Style" panose="02050604050505020204" pitchFamily="18" charset="0"/>
              </a:rPr>
            </a:br>
            <a:r>
              <a:rPr lang="en-GB" sz="2000" b="1" dirty="0">
                <a:latin typeface="Bookman Old Style" panose="02050604050505020204" pitchFamily="18" charset="0"/>
              </a:rPr>
              <a:t>Year</a:t>
            </a:r>
            <a:r>
              <a:rPr lang="en-GB" sz="2000" dirty="0">
                <a:latin typeface="Bookman Old Style" panose="02050604050505020204" pitchFamily="18" charset="0"/>
              </a:rPr>
              <a:t>: 2020</a:t>
            </a:r>
            <a:br>
              <a:rPr lang="en-GB" sz="2000" dirty="0">
                <a:latin typeface="Bookman Old Style" panose="02050604050505020204" pitchFamily="18" charset="0"/>
              </a:rPr>
            </a:br>
            <a:r>
              <a:rPr lang="en-GB" sz="2000" b="1" dirty="0">
                <a:latin typeface="Bookman Old Style" panose="02050604050505020204" pitchFamily="18" charset="0"/>
              </a:rPr>
              <a:t>Title: </a:t>
            </a:r>
            <a:r>
              <a:rPr lang="en-GB" sz="2000" b="1" i="1" dirty="0">
                <a:latin typeface="Bookman Old Style" panose="02050604050505020204" pitchFamily="18" charset="0"/>
              </a:rPr>
              <a:t>"Predicting Insurance Claims Using Demographic and Health Data: A Data Visualization </a:t>
            </a:r>
            <a:r>
              <a:rPr lang="en-GB" sz="2000" b="1" i="1" dirty="0" smtClean="0">
                <a:latin typeface="Bookman Old Style" panose="02050604050505020204" pitchFamily="18" charset="0"/>
              </a:rPr>
              <a:t>Approach“</a:t>
            </a:r>
          </a:p>
          <a:p>
            <a:r>
              <a:rPr lang="en-GB" sz="2000" b="1" dirty="0" smtClean="0">
                <a:latin typeface="Bookman Old Style" panose="02050604050505020204" pitchFamily="18" charset="0"/>
              </a:rPr>
              <a:t/>
            </a:r>
            <a:br>
              <a:rPr lang="en-GB" sz="2000" b="1" dirty="0" smtClean="0">
                <a:latin typeface="Bookman Old Style" panose="02050604050505020204" pitchFamily="18" charset="0"/>
              </a:rPr>
            </a:br>
            <a:r>
              <a:rPr lang="en-GB" sz="2000" b="1" dirty="0" smtClean="0">
                <a:latin typeface="Bookman Old Style" panose="02050604050505020204" pitchFamily="18" charset="0"/>
              </a:rPr>
              <a:t>Methodology:</a:t>
            </a:r>
          </a:p>
          <a:p>
            <a:r>
              <a:rPr lang="en-GB" sz="2000" dirty="0" smtClean="0">
                <a:latin typeface="Bookman Old Style" panose="02050604050505020204" pitchFamily="18" charset="0"/>
              </a:rPr>
              <a:t> </a:t>
            </a:r>
            <a:r>
              <a:rPr lang="en-GB" sz="2000" dirty="0">
                <a:latin typeface="Bookman Old Style" panose="02050604050505020204" pitchFamily="18" charset="0"/>
              </a:rPr>
              <a:t>This study utilizes data analysis and visualization techniques to explore the relationship between demographic factors (age, gender) and health indicators (BMI, blood pressure) on insurance claim amounts. The methodology includes data cleaning, exploratory data analysis (EDA), and the creation of visualizations using Python (</a:t>
            </a:r>
            <a:r>
              <a:rPr lang="en-GB" sz="2000" dirty="0" err="1">
                <a:latin typeface="Bookman Old Style" panose="02050604050505020204" pitchFamily="18" charset="0"/>
              </a:rPr>
              <a:t>Matplotlib</a:t>
            </a:r>
            <a:r>
              <a:rPr lang="en-GB" sz="2000" dirty="0">
                <a:latin typeface="Bookman Old Style" panose="02050604050505020204" pitchFamily="18" charset="0"/>
              </a:rPr>
              <a:t>, </a:t>
            </a:r>
            <a:r>
              <a:rPr lang="en-GB" sz="2000" dirty="0" err="1">
                <a:latin typeface="Bookman Old Style" panose="02050604050505020204" pitchFamily="18" charset="0"/>
              </a:rPr>
              <a:t>Seaborn</a:t>
            </a:r>
            <a:r>
              <a:rPr lang="en-GB" sz="2000" dirty="0">
                <a:latin typeface="Bookman Old Style" panose="02050604050505020204" pitchFamily="18" charset="0"/>
              </a:rPr>
              <a:t>) and Power BI for interactive dashboard creation.</a:t>
            </a:r>
          </a:p>
          <a:p>
            <a:pPr marL="12700">
              <a:lnSpc>
                <a:spcPct val="150000"/>
              </a:lnSpc>
              <a:spcBef>
                <a:spcPts val="1185"/>
              </a:spcBef>
              <a:buClr>
                <a:srgbClr val="9E3611"/>
              </a:buClr>
              <a:buSzPct val="83000"/>
              <a:tabLst>
                <a:tab pos="195580" algn="l"/>
              </a:tabLst>
            </a:pPr>
            <a:endParaRPr sz="2000" dirty="0">
              <a:latin typeface="Bookman Old Style" panose="02050604050505020204" pitchFamily="18" charset="0"/>
              <a:cs typeface="Cambria" panose="02040503050406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sp>
        <p:nvSpPr>
          <p:cNvPr id="6" name="object 4"/>
          <p:cNvSpPr txBox="1"/>
          <p:nvPr/>
        </p:nvSpPr>
        <p:spPr>
          <a:xfrm>
            <a:off x="11543792" y="6329883"/>
            <a:ext cx="177800" cy="228268"/>
          </a:xfrm>
          <a:prstGeom prst="rect">
            <a:avLst/>
          </a:prstGeom>
        </p:spPr>
        <p:txBody>
          <a:bodyPr vert="horz" wrap="square" lIns="0" tIns="12700" rIns="0" bIns="0" rtlCol="0">
            <a:spAutoFit/>
          </a:bodyPr>
          <a:lstStyle/>
          <a:p>
            <a:pPr marL="12700">
              <a:lnSpc>
                <a:spcPct val="100000"/>
              </a:lnSpc>
              <a:spcBef>
                <a:spcPts val="100"/>
              </a:spcBef>
            </a:pPr>
            <a:r>
              <a:rPr lang="en-IN" sz="1400" b="1" spc="-225" dirty="0">
                <a:solidFill>
                  <a:srgbClr val="FFFFFF"/>
                </a:solidFill>
                <a:latin typeface="Trebuchet MS" panose="020B0603020202020204"/>
                <a:cs typeface="Trebuchet MS" panose="020B0603020202020204"/>
              </a:rPr>
              <a:t>8</a:t>
            </a:r>
            <a:endParaRPr sz="1400" dirty="0">
              <a:latin typeface="Trebuchet MS" panose="020B0603020202020204"/>
              <a:cs typeface="Trebuchet MS" panose="020B0603020202020204"/>
            </a:endParaRPr>
          </a:p>
        </p:txBody>
      </p:sp>
      <p:pic>
        <p:nvPicPr>
          <p:cNvPr id="7" name="Picture 6"/>
          <p:cNvPicPr>
            <a:picLocks noChangeAspect="1"/>
          </p:cNvPicPr>
          <p:nvPr/>
        </p:nvPicPr>
        <p:blipFill>
          <a:blip r:embed="rId2"/>
          <a:stretch>
            <a:fillRect/>
          </a:stretch>
        </p:blipFill>
        <p:spPr>
          <a:xfrm>
            <a:off x="228600" y="152400"/>
            <a:ext cx="719390" cy="536494"/>
          </a:xfrm>
          <a:prstGeom prst="rect">
            <a:avLst/>
          </a:prstGeom>
        </p:spPr>
      </p:pic>
      <p:sp>
        <p:nvSpPr>
          <p:cNvPr id="8" name="object 10"/>
          <p:cNvSpPr/>
          <p:nvPr/>
        </p:nvSpPr>
        <p:spPr>
          <a:xfrm>
            <a:off x="152400" y="762000"/>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dirty="0"/>
          </a:p>
        </p:txBody>
      </p:sp>
      <p:sp>
        <p:nvSpPr>
          <p:cNvPr id="9" name="TextBox 8"/>
          <p:cNvSpPr txBox="1"/>
          <p:nvPr/>
        </p:nvSpPr>
        <p:spPr>
          <a:xfrm>
            <a:off x="4800600" y="6418989"/>
            <a:ext cx="6119768" cy="369332"/>
          </a:xfrm>
          <a:prstGeom prst="rect">
            <a:avLst/>
          </a:prstGeom>
          <a:noFill/>
        </p:spPr>
        <p:txBody>
          <a:bodyPr wrap="square">
            <a:spAutoFit/>
          </a:bodyPr>
          <a:lstStyle/>
          <a:p>
            <a:pPr marL="12700">
              <a:lnSpc>
                <a:spcPct val="100000"/>
              </a:lnSpc>
              <a:spcBef>
                <a:spcPts val="20"/>
              </a:spcBef>
            </a:pPr>
            <a:r>
              <a:rPr lang="en-IN" spc="-155" dirty="0"/>
              <a:t>©</a:t>
            </a:r>
            <a:r>
              <a:rPr lang="en-IN" spc="140" dirty="0"/>
              <a:t> </a:t>
            </a:r>
            <a:r>
              <a:rPr lang="en-IN" spc="105" dirty="0"/>
              <a:t>BVRIT</a:t>
            </a:r>
            <a:r>
              <a:rPr lang="en-IN" spc="135" dirty="0"/>
              <a:t> </a:t>
            </a:r>
            <a:r>
              <a:rPr lang="en-IN" spc="85" dirty="0"/>
              <a:t>CSE(AI&amp;ML)</a:t>
            </a:r>
          </a:p>
        </p:txBody>
      </p:sp>
      <p:sp>
        <p:nvSpPr>
          <p:cNvPr id="10" name="object 10"/>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dirty="0"/>
          </a:p>
        </p:txBody>
      </p:sp>
      <p:sp>
        <p:nvSpPr>
          <p:cNvPr id="11" name="Rectangle 10"/>
          <p:cNvSpPr/>
          <p:nvPr/>
        </p:nvSpPr>
        <p:spPr>
          <a:xfrm>
            <a:off x="588295" y="906338"/>
            <a:ext cx="3469400" cy="1069849"/>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2400" b="1" dirty="0" smtClean="0">
                <a:solidFill>
                  <a:schemeClr val="tx1"/>
                </a:solidFill>
                <a:latin typeface="Bookman Old Style" panose="02050604050505020204" pitchFamily="18" charset="0"/>
              </a:rPr>
              <a:t>Data Collection and Pre-processing</a:t>
            </a:r>
            <a:endParaRPr lang="en-IN" sz="2400" b="1" dirty="0">
              <a:solidFill>
                <a:schemeClr val="tx1"/>
              </a:solidFill>
              <a:latin typeface="Bookman Old Style" panose="02050604050505020204" pitchFamily="18" charset="0"/>
            </a:endParaRPr>
          </a:p>
        </p:txBody>
      </p:sp>
      <p:sp>
        <p:nvSpPr>
          <p:cNvPr id="12" name="Rectangle 11"/>
          <p:cNvSpPr/>
          <p:nvPr/>
        </p:nvSpPr>
        <p:spPr>
          <a:xfrm>
            <a:off x="1960478" y="2261985"/>
            <a:ext cx="3469400" cy="592839"/>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2800" b="1" dirty="0" smtClean="0">
                <a:solidFill>
                  <a:schemeClr val="tx1"/>
                </a:solidFill>
                <a:latin typeface="Bookman Old Style" panose="02050604050505020204" pitchFamily="18" charset="0"/>
              </a:rPr>
              <a:t>Data </a:t>
            </a:r>
            <a:r>
              <a:rPr lang="en-IN" sz="2800" b="1" dirty="0">
                <a:solidFill>
                  <a:schemeClr val="tx1"/>
                </a:solidFill>
                <a:latin typeface="Bookman Old Style" panose="02050604050505020204" pitchFamily="18" charset="0"/>
              </a:rPr>
              <a:t>Analysis   </a:t>
            </a:r>
          </a:p>
        </p:txBody>
      </p:sp>
      <p:sp>
        <p:nvSpPr>
          <p:cNvPr id="13" name="Rectangle 12"/>
          <p:cNvSpPr/>
          <p:nvPr/>
        </p:nvSpPr>
        <p:spPr>
          <a:xfrm>
            <a:off x="3505200" y="3068712"/>
            <a:ext cx="3469400" cy="592838"/>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2400" b="1" dirty="0" smtClean="0">
                <a:solidFill>
                  <a:schemeClr val="tx1"/>
                </a:solidFill>
                <a:latin typeface="Bookman Old Style" panose="02050604050505020204" pitchFamily="18" charset="0"/>
              </a:rPr>
              <a:t>Visualization Design</a:t>
            </a:r>
            <a:endParaRPr lang="en-IN" sz="2400" dirty="0">
              <a:solidFill>
                <a:schemeClr val="tx1"/>
              </a:solidFill>
              <a:latin typeface="Bookman Old Style" panose="02050604050505020204" pitchFamily="18" charset="0"/>
            </a:endParaRPr>
          </a:p>
        </p:txBody>
      </p:sp>
      <p:sp>
        <p:nvSpPr>
          <p:cNvPr id="14" name="Rectangle 13"/>
          <p:cNvSpPr/>
          <p:nvPr/>
        </p:nvSpPr>
        <p:spPr>
          <a:xfrm>
            <a:off x="5239900" y="3905066"/>
            <a:ext cx="3469400" cy="53058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2800" b="1" dirty="0" smtClean="0">
                <a:solidFill>
                  <a:schemeClr val="tx1"/>
                </a:solidFill>
                <a:latin typeface="Bookman Old Style" panose="02050604050505020204" pitchFamily="18" charset="0"/>
              </a:rPr>
              <a:t>Tool Utilization</a:t>
            </a:r>
            <a:endParaRPr lang="en-IN" sz="2800" dirty="0">
              <a:solidFill>
                <a:schemeClr val="tx1"/>
              </a:solidFill>
              <a:latin typeface="Bookman Old Style" panose="02050604050505020204" pitchFamily="18" charset="0"/>
            </a:endParaRPr>
          </a:p>
        </p:txBody>
      </p:sp>
      <p:sp>
        <p:nvSpPr>
          <p:cNvPr id="15" name="Rectangle 14"/>
          <p:cNvSpPr/>
          <p:nvPr/>
        </p:nvSpPr>
        <p:spPr>
          <a:xfrm>
            <a:off x="7448146" y="4598097"/>
            <a:ext cx="3469400" cy="636924"/>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solidFill>
                  <a:schemeClr val="tx1"/>
                </a:solidFill>
                <a:latin typeface="Bookman Old Style" panose="02050604050505020204" pitchFamily="18" charset="0"/>
              </a:rPr>
              <a:t>Testing </a:t>
            </a:r>
            <a:r>
              <a:rPr lang="en-IN" sz="2000" b="1" dirty="0">
                <a:solidFill>
                  <a:schemeClr val="tx1"/>
                </a:solidFill>
                <a:latin typeface="Bookman Old Style" panose="02050604050505020204" pitchFamily="18" charset="0"/>
              </a:rPr>
              <a:t>and </a:t>
            </a:r>
            <a:r>
              <a:rPr lang="en-IN" sz="2000" b="1" dirty="0" smtClean="0">
                <a:solidFill>
                  <a:schemeClr val="tx1"/>
                </a:solidFill>
                <a:latin typeface="Bookman Old Style" panose="02050604050505020204" pitchFamily="18" charset="0"/>
              </a:rPr>
              <a:t>Refinement</a:t>
            </a:r>
            <a:endParaRPr lang="en-IN" sz="2000" dirty="0">
              <a:solidFill>
                <a:schemeClr val="tx1"/>
              </a:solidFill>
              <a:latin typeface="Bookman Old Style" panose="02050604050505020204" pitchFamily="18" charset="0"/>
            </a:endParaRPr>
          </a:p>
        </p:txBody>
      </p:sp>
      <p:sp>
        <p:nvSpPr>
          <p:cNvPr id="16" name="Rectangle 15"/>
          <p:cNvSpPr/>
          <p:nvPr/>
        </p:nvSpPr>
        <p:spPr>
          <a:xfrm>
            <a:off x="8288881" y="5428518"/>
            <a:ext cx="3469400" cy="636924"/>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rPr>
              <a:t>Deployment</a:t>
            </a:r>
            <a:endParaRPr lang="en-IN" sz="3200" b="1" dirty="0">
              <a:solidFill>
                <a:schemeClr val="tx1"/>
              </a:solidFill>
              <a:latin typeface="Bookman Old Style" panose="02050604050505020204" pitchFamily="18" charset="0"/>
            </a:endParaRPr>
          </a:p>
        </p:txBody>
      </p:sp>
      <p:sp>
        <p:nvSpPr>
          <p:cNvPr id="18" name="object 2"/>
          <p:cNvSpPr txBox="1">
            <a:spLocks noGrp="1"/>
          </p:cNvSpPr>
          <p:nvPr>
            <p:ph type="title"/>
          </p:nvPr>
        </p:nvSpPr>
        <p:spPr>
          <a:xfrm>
            <a:off x="1066800" y="261106"/>
            <a:ext cx="3657600" cy="505908"/>
          </a:xfrm>
          <a:prstGeom prst="rect">
            <a:avLst/>
          </a:prstGeom>
        </p:spPr>
        <p:txBody>
          <a:bodyPr vert="horz" wrap="square" lIns="0" tIns="13335" rIns="0" bIns="0" rtlCol="0">
            <a:spAutoFit/>
          </a:bodyPr>
          <a:lstStyle/>
          <a:p>
            <a:pPr marL="12700">
              <a:lnSpc>
                <a:spcPct val="100000"/>
              </a:lnSpc>
              <a:spcBef>
                <a:spcPts val="105"/>
              </a:spcBef>
              <a:tabLst>
                <a:tab pos="1015365" algn="l"/>
              </a:tabLst>
            </a:pPr>
            <a:r>
              <a:rPr lang="en-IN" u="none" dirty="0">
                <a:latin typeface="Bookman Old Style" panose="02050604050505020204" pitchFamily="18" charset="0"/>
              </a:rPr>
              <a:t> METHODOLOGY </a:t>
            </a:r>
            <a:endParaRPr u="sng" spc="-15" dirty="0">
              <a:latin typeface="Bookman Old Style" panose="02050604050505020204" pitchFamily="18" charset="0"/>
            </a:endParaRPr>
          </a:p>
        </p:txBody>
      </p:sp>
      <p:sp>
        <p:nvSpPr>
          <p:cNvPr id="30" name="Bent-Up Arrow 29"/>
          <p:cNvSpPr/>
          <p:nvPr/>
        </p:nvSpPr>
        <p:spPr>
          <a:xfrm rot="5400000">
            <a:off x="1065809" y="1960156"/>
            <a:ext cx="895659" cy="893678"/>
          </a:xfrm>
          <a:prstGeom prst="bentUpArrow">
            <a:avLst/>
          </a:prstGeom>
          <a:solidFill>
            <a:schemeClr val="tx1">
              <a:lumMod val="50000"/>
              <a:lumOff val="5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Bent-Up Arrow 30"/>
          <p:cNvSpPr/>
          <p:nvPr/>
        </p:nvSpPr>
        <p:spPr>
          <a:xfrm rot="5400000">
            <a:off x="4345232" y="3662541"/>
            <a:ext cx="895659" cy="893678"/>
          </a:xfrm>
          <a:prstGeom prst="bentUpArrow">
            <a:avLst/>
          </a:prstGeom>
          <a:solidFill>
            <a:schemeClr val="tx1">
              <a:lumMod val="50000"/>
              <a:lumOff val="5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Bent-Up Arrow 31"/>
          <p:cNvSpPr/>
          <p:nvPr/>
        </p:nvSpPr>
        <p:spPr>
          <a:xfrm rot="5400000">
            <a:off x="6583817" y="4426356"/>
            <a:ext cx="875094" cy="893678"/>
          </a:xfrm>
          <a:prstGeom prst="bentUpArrow">
            <a:avLst/>
          </a:prstGeom>
          <a:solidFill>
            <a:schemeClr val="tx1">
              <a:lumMod val="50000"/>
              <a:lumOff val="5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Bent-Up Arrow 32"/>
          <p:cNvSpPr/>
          <p:nvPr/>
        </p:nvSpPr>
        <p:spPr>
          <a:xfrm rot="5400000">
            <a:off x="7545921" y="5357955"/>
            <a:ext cx="865891" cy="620028"/>
          </a:xfrm>
          <a:prstGeom prst="bentUpArrow">
            <a:avLst/>
          </a:prstGeom>
          <a:solidFill>
            <a:schemeClr val="tx1">
              <a:lumMod val="50000"/>
              <a:lumOff val="5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Bent-Up Arrow 33"/>
          <p:cNvSpPr/>
          <p:nvPr/>
        </p:nvSpPr>
        <p:spPr>
          <a:xfrm rot="5400000">
            <a:off x="2723952" y="2917673"/>
            <a:ext cx="835630" cy="726866"/>
          </a:xfrm>
          <a:prstGeom prst="bentUpArrow">
            <a:avLst/>
          </a:prstGeom>
          <a:solidFill>
            <a:schemeClr val="tx1">
              <a:lumMod val="50000"/>
              <a:lumOff val="5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28425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261106"/>
            <a:ext cx="3657600" cy="505908"/>
          </a:xfrm>
          <a:prstGeom prst="rect">
            <a:avLst/>
          </a:prstGeom>
        </p:spPr>
        <p:txBody>
          <a:bodyPr vert="horz" wrap="square" lIns="0" tIns="13335" rIns="0" bIns="0" rtlCol="0">
            <a:spAutoFit/>
          </a:bodyPr>
          <a:lstStyle/>
          <a:p>
            <a:pPr marL="12700">
              <a:lnSpc>
                <a:spcPct val="100000"/>
              </a:lnSpc>
              <a:spcBef>
                <a:spcPts val="105"/>
              </a:spcBef>
              <a:tabLst>
                <a:tab pos="1015365" algn="l"/>
              </a:tabLst>
            </a:pPr>
            <a:r>
              <a:rPr lang="en-IN" u="none" dirty="0">
                <a:latin typeface="Bookman Old Style" panose="02050604050505020204" pitchFamily="18" charset="0"/>
              </a:rPr>
              <a:t> METHODOLOGY </a:t>
            </a:r>
            <a:endParaRPr u="sng" spc="-15" dirty="0">
              <a:latin typeface="Bookman Old Style" panose="02050604050505020204" pitchFamily="18" charset="0"/>
            </a:endParaRPr>
          </a:p>
        </p:txBody>
      </p:sp>
      <p:grpSp>
        <p:nvGrpSpPr>
          <p:cNvPr id="4" name="object 4"/>
          <p:cNvGrpSpPr/>
          <p:nvPr/>
        </p:nvGrpSpPr>
        <p:grpSpPr>
          <a:xfrm>
            <a:off x="0" y="0"/>
            <a:ext cx="12242800" cy="6908800"/>
            <a:chOff x="-24638" y="0"/>
            <a:chExt cx="12242800" cy="6908800"/>
          </a:xfrm>
        </p:grpSpPr>
        <p:sp>
          <p:nvSpPr>
            <p:cNvPr id="5"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pic>
          <p:nvPicPr>
            <p:cNvPr id="6" name="object 6"/>
            <p:cNvPicPr/>
            <p:nvPr/>
          </p:nvPicPr>
          <p:blipFill>
            <a:blip r:embed="rId2" cstate="print"/>
            <a:stretch>
              <a:fillRect/>
            </a:stretch>
          </p:blipFill>
          <p:spPr>
            <a:xfrm>
              <a:off x="286511" y="149351"/>
              <a:ext cx="890016" cy="670560"/>
            </a:xfrm>
            <a:prstGeom prst="rect">
              <a:avLst/>
            </a:prstGeom>
          </p:spPr>
        </p:pic>
        <p:sp>
          <p:nvSpPr>
            <p:cNvPr id="7" name="object 7"/>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grpSp>
      <p:sp>
        <p:nvSpPr>
          <p:cNvPr id="8" name="object 8"/>
          <p:cNvSpPr txBox="1"/>
          <p:nvPr/>
        </p:nvSpPr>
        <p:spPr>
          <a:xfrm>
            <a:off x="11518392" y="6340418"/>
            <a:ext cx="228600" cy="235585"/>
          </a:xfrm>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z="1400" b="1" spc="-225" dirty="0">
                <a:solidFill>
                  <a:srgbClr val="FFFFFF"/>
                </a:solidFill>
                <a:latin typeface="Trebuchet MS" panose="020B0603020202020204"/>
                <a:cs typeface="Trebuchet MS" panose="020B0603020202020204"/>
              </a:rPr>
              <a:t>11</a:t>
            </a:fld>
            <a:endParaRPr sz="1400">
              <a:latin typeface="Trebuchet MS" panose="020B0603020202020204"/>
              <a:cs typeface="Trebuchet MS" panose="020B0603020202020204"/>
            </a:endParaRPr>
          </a:p>
        </p:txBody>
      </p:sp>
      <p:sp>
        <p:nvSpPr>
          <p:cNvPr id="9" name="object 9"/>
          <p:cNvSpPr txBox="1">
            <a:spLocks noGrp="1"/>
          </p:cNvSpPr>
          <p:nvPr>
            <p:ph type="ftr" sz="quarter" idx="5"/>
          </p:nvPr>
        </p:nvSpPr>
        <p:spPr>
          <a:prstGeom prst="rect">
            <a:avLst/>
          </a:prstGeom>
        </p:spPr>
        <p:txBody>
          <a:bodyPr vert="horz" wrap="square" lIns="0" tIns="2540" rIns="0" bIns="0" rtlCol="0">
            <a:spAutoFit/>
          </a:bodyPr>
          <a:lstStyle/>
          <a:p>
            <a:pPr marL="12700">
              <a:lnSpc>
                <a:spcPct val="100000"/>
              </a:lnSpc>
              <a:spcBef>
                <a:spcPts val="20"/>
              </a:spcBef>
            </a:pPr>
            <a:r>
              <a:rPr spc="-155" dirty="0"/>
              <a:t>©</a:t>
            </a:r>
            <a:r>
              <a:rPr spc="140" dirty="0"/>
              <a:t> </a:t>
            </a:r>
            <a:r>
              <a:rPr spc="105" dirty="0"/>
              <a:t>BVRIT</a:t>
            </a:r>
            <a:r>
              <a:rPr spc="135" dirty="0"/>
              <a:t> </a:t>
            </a:r>
            <a:r>
              <a:rPr spc="85" dirty="0"/>
              <a:t>CSE(AI&amp;ML)</a:t>
            </a:r>
          </a:p>
        </p:txBody>
      </p:sp>
      <p:sp>
        <p:nvSpPr>
          <p:cNvPr id="10" name="object 7"/>
          <p:cNvSpPr/>
          <p:nvPr/>
        </p:nvSpPr>
        <p:spPr>
          <a:xfrm>
            <a:off x="286511" y="796497"/>
            <a:ext cx="4437889" cy="45719"/>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sp>
        <p:nvSpPr>
          <p:cNvPr id="3" name="TextBox 2"/>
          <p:cNvSpPr txBox="1"/>
          <p:nvPr/>
        </p:nvSpPr>
        <p:spPr>
          <a:xfrm>
            <a:off x="457200" y="644047"/>
            <a:ext cx="5943600" cy="5216813"/>
          </a:xfrm>
          <a:prstGeom prst="rect">
            <a:avLst/>
          </a:prstGeom>
          <a:noFill/>
        </p:spPr>
        <p:txBody>
          <a:bodyPr wrap="square" rtlCol="0">
            <a:spAutoFit/>
          </a:bodyPr>
          <a:lstStyle/>
          <a:p>
            <a:pPr>
              <a:lnSpc>
                <a:spcPct val="150000"/>
              </a:lnSpc>
            </a:pPr>
            <a:endParaRPr lang="en-IN" b="1" dirty="0">
              <a:latin typeface="Bookman Old Style" panose="02050604050505020204" pitchFamily="18" charset="0"/>
            </a:endParaRPr>
          </a:p>
          <a:p>
            <a:pPr lvl="0"/>
            <a:r>
              <a:rPr lang="en-IN" b="1" u="sng" dirty="0" smtClean="0">
                <a:latin typeface="Bookman Old Style" panose="02050604050505020204" pitchFamily="18" charset="0"/>
              </a:rPr>
              <a:t>1.Data </a:t>
            </a:r>
            <a:r>
              <a:rPr lang="en-IN" b="1" u="sng" dirty="0">
                <a:latin typeface="Bookman Old Style" panose="02050604050505020204" pitchFamily="18" charset="0"/>
              </a:rPr>
              <a:t>Collection and </a:t>
            </a:r>
            <a:r>
              <a:rPr lang="en-IN" b="1" u="sng" dirty="0" smtClean="0">
                <a:latin typeface="Bookman Old Style" panose="02050604050505020204" pitchFamily="18" charset="0"/>
              </a:rPr>
              <a:t>Pre-processing</a:t>
            </a:r>
          </a:p>
          <a:p>
            <a:pPr lvl="0"/>
            <a:r>
              <a:rPr lang="en-GB" dirty="0" smtClean="0">
                <a:latin typeface="Bookman Old Style" panose="02050604050505020204" pitchFamily="18" charset="0"/>
              </a:rPr>
              <a:t>Acquired </a:t>
            </a:r>
            <a:r>
              <a:rPr lang="en-GB" dirty="0">
                <a:latin typeface="Bookman Old Style" panose="02050604050505020204" pitchFamily="18" charset="0"/>
              </a:rPr>
              <a:t>a comprehensive dataset containing demographic, health, and claim-related information</a:t>
            </a:r>
            <a:r>
              <a:rPr lang="en-GB" dirty="0" smtClean="0">
                <a:latin typeface="Bookman Old Style" panose="02050604050505020204" pitchFamily="18" charset="0"/>
              </a:rPr>
              <a:t>.</a:t>
            </a:r>
          </a:p>
          <a:p>
            <a:pPr lvl="0"/>
            <a:endParaRPr lang="en-IN" dirty="0">
              <a:effectLst>
                <a:outerShdw blurRad="38100" dist="38100" dir="2700000" algn="tl">
                  <a:srgbClr val="000000">
                    <a:alpha val="43137"/>
                  </a:srgbClr>
                </a:outerShdw>
              </a:effectLst>
              <a:latin typeface="Bookman Old Style" panose="02050604050505020204" pitchFamily="18" charset="0"/>
            </a:endParaRPr>
          </a:p>
          <a:p>
            <a:pPr lvl="0"/>
            <a:r>
              <a:rPr lang="en-IN" b="1" u="sng" dirty="0">
                <a:latin typeface="Bookman Old Style" panose="02050604050505020204" pitchFamily="18" charset="0"/>
              </a:rPr>
              <a:t>2</a:t>
            </a:r>
            <a:r>
              <a:rPr lang="en-IN" b="1" u="sng" dirty="0" smtClean="0">
                <a:latin typeface="Bookman Old Style" panose="02050604050505020204" pitchFamily="18" charset="0"/>
              </a:rPr>
              <a:t>.Data </a:t>
            </a:r>
            <a:r>
              <a:rPr lang="en-IN" b="1" u="sng" dirty="0">
                <a:latin typeface="Bookman Old Style" panose="02050604050505020204" pitchFamily="18" charset="0"/>
              </a:rPr>
              <a:t>Analysis   </a:t>
            </a:r>
            <a:endParaRPr lang="en-IN" b="1" u="sng" dirty="0" smtClean="0">
              <a:latin typeface="Bookman Old Style" panose="02050604050505020204" pitchFamily="18" charset="0"/>
            </a:endParaRPr>
          </a:p>
          <a:p>
            <a:pPr lvl="0"/>
            <a:r>
              <a:rPr lang="en-GB" dirty="0" smtClean="0">
                <a:latin typeface="Bookman Old Style" panose="02050604050505020204" pitchFamily="18" charset="0"/>
              </a:rPr>
              <a:t>Explored </a:t>
            </a:r>
            <a:r>
              <a:rPr lang="en-GB" dirty="0">
                <a:latin typeface="Bookman Old Style" panose="02050604050505020204" pitchFamily="18" charset="0"/>
              </a:rPr>
              <a:t>relationships between key variables such as age, gender, BMI, blood pressure, and claim amounts. Conducted statistical analyses to identify trends, correlations, and significant factors affecting claim amounts</a:t>
            </a:r>
            <a:r>
              <a:rPr lang="en-GB" dirty="0" smtClean="0">
                <a:latin typeface="Bookman Old Style" panose="02050604050505020204" pitchFamily="18" charset="0"/>
              </a:rPr>
              <a:t>.</a:t>
            </a:r>
          </a:p>
          <a:p>
            <a:pPr lvl="0"/>
            <a:endParaRPr lang="en-GB" dirty="0" smtClean="0">
              <a:latin typeface="Bookman Old Style" panose="02050604050505020204" pitchFamily="18" charset="0"/>
            </a:endParaRPr>
          </a:p>
          <a:p>
            <a:pPr lvl="0"/>
            <a:r>
              <a:rPr lang="en-IN" b="1" u="sng" dirty="0">
                <a:latin typeface="Bookman Old Style" panose="02050604050505020204" pitchFamily="18" charset="0"/>
              </a:rPr>
              <a:t>3.Visualization Design</a:t>
            </a:r>
            <a:endParaRPr lang="en-IN" u="sng" dirty="0">
              <a:latin typeface="Bookman Old Style" panose="02050604050505020204" pitchFamily="18" charset="0"/>
            </a:endParaRPr>
          </a:p>
          <a:p>
            <a:pPr lvl="0"/>
            <a:r>
              <a:rPr lang="en-GB" dirty="0">
                <a:latin typeface="Bookman Old Style" panose="02050604050505020204" pitchFamily="18" charset="0"/>
              </a:rPr>
              <a:t>Designed user-friendly and interactive charts, including line, pie, and bar charts, to represent key insights effectively.</a:t>
            </a:r>
          </a:p>
          <a:p>
            <a:pPr lvl="0"/>
            <a:endParaRPr lang="en-IN" dirty="0">
              <a:effectLst>
                <a:outerShdw blurRad="38100" dist="38100" dir="2700000" algn="tl">
                  <a:srgbClr val="000000">
                    <a:alpha val="43137"/>
                  </a:srgbClr>
                </a:outerShdw>
              </a:effectLst>
              <a:latin typeface="Bookman Old Style" panose="02050604050505020204" pitchFamily="18" charset="0"/>
            </a:endParaRPr>
          </a:p>
        </p:txBody>
      </p:sp>
      <p:sp>
        <p:nvSpPr>
          <p:cNvPr id="11" name="TextBox 10"/>
          <p:cNvSpPr txBox="1"/>
          <p:nvPr/>
        </p:nvSpPr>
        <p:spPr>
          <a:xfrm>
            <a:off x="6509825" y="1108871"/>
            <a:ext cx="5598549" cy="4247317"/>
          </a:xfrm>
          <a:prstGeom prst="rect">
            <a:avLst/>
          </a:prstGeom>
          <a:noFill/>
        </p:spPr>
        <p:txBody>
          <a:bodyPr wrap="square" rtlCol="0">
            <a:spAutoFit/>
          </a:bodyPr>
          <a:lstStyle/>
          <a:p>
            <a:pPr lvl="0"/>
            <a:r>
              <a:rPr lang="en-IN" b="1" u="sng" dirty="0">
                <a:latin typeface="Bookman Old Style" panose="02050604050505020204" pitchFamily="18" charset="0"/>
              </a:rPr>
              <a:t>4.Tool Utilization</a:t>
            </a:r>
            <a:endParaRPr lang="en-IN" u="sng" dirty="0">
              <a:latin typeface="Bookman Old Style" panose="02050604050505020204" pitchFamily="18" charset="0"/>
            </a:endParaRPr>
          </a:p>
          <a:p>
            <a:pPr lvl="0"/>
            <a:r>
              <a:rPr lang="en-GB" dirty="0">
                <a:latin typeface="Bookman Old Style" panose="02050604050505020204" pitchFamily="18" charset="0"/>
              </a:rPr>
              <a:t>Leveraged </a:t>
            </a:r>
            <a:r>
              <a:rPr lang="en-GB" b="1" dirty="0">
                <a:latin typeface="Bookman Old Style" panose="02050604050505020204" pitchFamily="18" charset="0"/>
              </a:rPr>
              <a:t>Power BI</a:t>
            </a:r>
            <a:r>
              <a:rPr lang="en-GB" dirty="0">
                <a:latin typeface="Bookman Old Style" panose="02050604050505020204" pitchFamily="18" charset="0"/>
              </a:rPr>
              <a:t> for interactive dashboard development, enabling intuitive data exploration and filtering.</a:t>
            </a:r>
          </a:p>
          <a:p>
            <a:pPr lvl="0"/>
            <a:r>
              <a:rPr lang="en-GB" dirty="0">
                <a:latin typeface="Bookman Old Style" panose="02050604050505020204" pitchFamily="18" charset="0"/>
              </a:rPr>
              <a:t>Used Python libraries like </a:t>
            </a:r>
            <a:r>
              <a:rPr lang="en-GB" b="1" dirty="0" err="1">
                <a:latin typeface="Bookman Old Style" panose="02050604050505020204" pitchFamily="18" charset="0"/>
              </a:rPr>
              <a:t>Matplotlib</a:t>
            </a:r>
            <a:r>
              <a:rPr lang="en-GB" dirty="0">
                <a:latin typeface="Bookman Old Style" panose="02050604050505020204" pitchFamily="18" charset="0"/>
              </a:rPr>
              <a:t>, </a:t>
            </a:r>
            <a:r>
              <a:rPr lang="en-GB" b="1" dirty="0" err="1">
                <a:latin typeface="Bookman Old Style" panose="02050604050505020204" pitchFamily="18" charset="0"/>
              </a:rPr>
              <a:t>Seaborn</a:t>
            </a:r>
            <a:r>
              <a:rPr lang="en-GB" dirty="0">
                <a:latin typeface="Bookman Old Style" panose="02050604050505020204" pitchFamily="18" charset="0"/>
              </a:rPr>
              <a:t>, and </a:t>
            </a:r>
            <a:r>
              <a:rPr lang="en-GB" b="1" dirty="0">
                <a:latin typeface="Bookman Old Style" panose="02050604050505020204" pitchFamily="18" charset="0"/>
              </a:rPr>
              <a:t>Pandas</a:t>
            </a:r>
            <a:r>
              <a:rPr lang="en-GB" dirty="0">
                <a:latin typeface="Bookman Old Style" panose="02050604050505020204" pitchFamily="18" charset="0"/>
              </a:rPr>
              <a:t> for data manipulation and generating clear, insightful visualizations.</a:t>
            </a:r>
          </a:p>
          <a:p>
            <a:pPr lvl="0"/>
            <a:endParaRPr lang="en-IN" dirty="0">
              <a:effectLst>
                <a:outerShdw blurRad="38100" dist="38100" dir="2700000" algn="tl">
                  <a:srgbClr val="000000">
                    <a:alpha val="43137"/>
                  </a:srgbClr>
                </a:outerShdw>
              </a:effectLst>
              <a:latin typeface="Bookman Old Style" panose="02050604050505020204" pitchFamily="18" charset="0"/>
            </a:endParaRPr>
          </a:p>
          <a:p>
            <a:pPr lvl="0"/>
            <a:endParaRPr lang="en-IN" dirty="0">
              <a:effectLst>
                <a:outerShdw blurRad="38100" dist="38100" dir="2700000" algn="tl">
                  <a:srgbClr val="000000">
                    <a:alpha val="43137"/>
                  </a:srgbClr>
                </a:outerShdw>
              </a:effectLst>
              <a:latin typeface="Bookman Old Style" panose="02050604050505020204" pitchFamily="18" charset="0"/>
            </a:endParaRPr>
          </a:p>
          <a:p>
            <a:pPr lvl="0"/>
            <a:r>
              <a:rPr lang="en-IN" b="1" u="sng" dirty="0">
                <a:latin typeface="Bookman Old Style" panose="02050604050505020204" pitchFamily="18" charset="0"/>
              </a:rPr>
              <a:t>5.Testing and Refinement</a:t>
            </a:r>
            <a:endParaRPr lang="en-IN" u="sng" dirty="0">
              <a:latin typeface="Bookman Old Style" panose="02050604050505020204" pitchFamily="18" charset="0"/>
            </a:endParaRPr>
          </a:p>
          <a:p>
            <a:pPr lvl="0"/>
            <a:r>
              <a:rPr lang="en-GB" dirty="0">
                <a:latin typeface="Bookman Old Style" panose="02050604050505020204" pitchFamily="18" charset="0"/>
              </a:rPr>
              <a:t>Tested the dashboard for usability and accuracy, ensuring all features worked as intended.</a:t>
            </a:r>
          </a:p>
          <a:p>
            <a:pPr lvl="0"/>
            <a:r>
              <a:rPr lang="en-GB" dirty="0">
                <a:latin typeface="Bookman Old Style" panose="02050604050505020204" pitchFamily="18" charset="0"/>
              </a:rPr>
              <a:t>Incorporated feedback to refine visualizations and improve the overall user experience.</a:t>
            </a:r>
            <a:endParaRPr lang="en-IN" dirty="0">
              <a:effectLst>
                <a:outerShdw blurRad="38100" dist="38100" dir="2700000" algn="tl">
                  <a:srgbClr val="000000">
                    <a:alpha val="43137"/>
                  </a:srgbClr>
                </a:outerShdw>
              </a:effectLst>
              <a:latin typeface="Bookman Old Style" panose="0205060405050502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7338" y="270459"/>
            <a:ext cx="4560062" cy="505908"/>
          </a:xfrm>
          <a:prstGeom prst="rect">
            <a:avLst/>
          </a:prstGeom>
        </p:spPr>
        <p:txBody>
          <a:bodyPr vert="horz" wrap="square" lIns="0" tIns="13335" rIns="0" bIns="0" rtlCol="0">
            <a:spAutoFit/>
          </a:bodyPr>
          <a:lstStyle/>
          <a:p>
            <a:pPr marL="12700">
              <a:lnSpc>
                <a:spcPct val="100000"/>
              </a:lnSpc>
              <a:spcBef>
                <a:spcPts val="105"/>
              </a:spcBef>
            </a:pPr>
            <a:r>
              <a:rPr lang="en-US" u="none" spc="-65" dirty="0" smtClean="0">
                <a:latin typeface="Bookman Old Style" panose="02050604050505020204" pitchFamily="18" charset="0"/>
              </a:rPr>
              <a:t>ARCHITECTURE</a:t>
            </a:r>
            <a:endParaRPr u="none" spc="-65" dirty="0">
              <a:latin typeface="Bookman Old Style" panose="02050604050505020204" pitchFamily="18" charset="0"/>
            </a:endParaRPr>
          </a:p>
        </p:txBody>
      </p:sp>
      <p:sp>
        <p:nvSpPr>
          <p:cNvPr id="3" name="object 3"/>
          <p:cNvSpPr txBox="1"/>
          <p:nvPr/>
        </p:nvSpPr>
        <p:spPr>
          <a:xfrm>
            <a:off x="605918" y="15875"/>
            <a:ext cx="10709910" cy="3551613"/>
          </a:xfrm>
          <a:prstGeom prst="rect">
            <a:avLst/>
          </a:prstGeom>
        </p:spPr>
        <p:txBody>
          <a:bodyPr vert="horz" wrap="square" lIns="0" tIns="12065" rIns="0" bIns="0" rtlCol="0">
            <a:spAutoFit/>
          </a:bodyPr>
          <a:lstStyle/>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355600" marR="5080" indent="-342900" algn="just">
              <a:lnSpc>
                <a:spcPct val="150000"/>
              </a:lnSpc>
              <a:spcBef>
                <a:spcPts val="1200"/>
              </a:spcBef>
              <a:buClr>
                <a:srgbClr val="9E3611"/>
              </a:buClr>
              <a:buSzPct val="83000"/>
              <a:buFont typeface="Arial" panose="020B0604020202020204" pitchFamily="34" charset="0"/>
              <a:buChar char="•"/>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r>
              <a:rPr lang="en-US" sz="2000" dirty="0" smtClean="0">
                <a:latin typeface="Bookman Old Style" panose="02050604050505020204" pitchFamily="18" charset="0"/>
                <a:cs typeface="Cambria" panose="02040503050406030204"/>
              </a:rPr>
              <a:t>`</a:t>
            </a:r>
            <a:endParaRPr lang="en-IN" sz="2000" dirty="0">
              <a:latin typeface="Bookman Old Style" panose="02050604050505020204" pitchFamily="18" charset="0"/>
              <a:cs typeface="Cambria" panose="02040503050406030204"/>
            </a:endParaRPr>
          </a:p>
        </p:txBody>
      </p:sp>
      <p:grpSp>
        <p:nvGrpSpPr>
          <p:cNvPr id="4" name="object 4"/>
          <p:cNvGrpSpPr/>
          <p:nvPr/>
        </p:nvGrpSpPr>
        <p:grpSpPr>
          <a:xfrm>
            <a:off x="761" y="761"/>
            <a:ext cx="12192000" cy="6858000"/>
            <a:chOff x="761" y="761"/>
            <a:chExt cx="12192000" cy="6858000"/>
          </a:xfrm>
        </p:grpSpPr>
        <p:sp>
          <p:nvSpPr>
            <p:cNvPr id="5"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sp>
          <p:nvSpPr>
            <p:cNvPr id="6" name="object 6"/>
            <p:cNvSpPr/>
            <p:nvPr/>
          </p:nvSpPr>
          <p:spPr>
            <a:xfrm>
              <a:off x="109727" y="819911"/>
              <a:ext cx="4579620" cy="12065"/>
            </a:xfrm>
            <a:custGeom>
              <a:avLst/>
              <a:gdLst/>
              <a:ahLst/>
              <a:cxnLst/>
              <a:rect l="l" t="t" r="r" b="b"/>
              <a:pathLst>
                <a:path w="4579620" h="12065">
                  <a:moveTo>
                    <a:pt x="0" y="11557"/>
                  </a:moveTo>
                  <a:lnTo>
                    <a:pt x="4579493" y="0"/>
                  </a:lnTo>
                </a:path>
              </a:pathLst>
            </a:custGeom>
            <a:ln w="57150">
              <a:solidFill>
                <a:srgbClr val="001F5F"/>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86511" y="149351"/>
              <a:ext cx="890016" cy="670560"/>
            </a:xfrm>
            <a:prstGeom prst="rect">
              <a:avLst/>
            </a:prstGeom>
          </p:spPr>
        </p:pic>
        <p:sp>
          <p:nvSpPr>
            <p:cNvPr id="8" name="object 8"/>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225" dirty="0"/>
              <a:t>12</a:t>
            </a:fld>
            <a:endParaRPr spc="-225" dirty="0"/>
          </a:p>
        </p:txBody>
      </p:sp>
      <p:sp>
        <p:nvSpPr>
          <p:cNvPr id="10" name="object 10"/>
          <p:cNvSpPr txBox="1"/>
          <p:nvPr/>
        </p:nvSpPr>
        <p:spPr>
          <a:xfrm>
            <a:off x="5150865" y="6377429"/>
            <a:ext cx="1984375" cy="234950"/>
          </a:xfrm>
          <a:prstGeom prst="rect">
            <a:avLst/>
          </a:prstGeom>
        </p:spPr>
        <p:txBody>
          <a:bodyPr vert="horz" wrap="square" lIns="0" tIns="2540" rIns="0" bIns="0" rtlCol="0">
            <a:spAutoFit/>
          </a:bodyPr>
          <a:lstStyle/>
          <a:p>
            <a:pPr marL="12700">
              <a:lnSpc>
                <a:spcPct val="100000"/>
              </a:lnSpc>
              <a:spcBef>
                <a:spcPts val="20"/>
              </a:spcBef>
            </a:pPr>
            <a:r>
              <a:rPr sz="1400" b="1" spc="-155" dirty="0">
                <a:solidFill>
                  <a:srgbClr val="001F5F"/>
                </a:solidFill>
                <a:latin typeface="Cambria" panose="02040503050406030204"/>
                <a:cs typeface="Cambria" panose="02040503050406030204"/>
              </a:rPr>
              <a:t>©</a:t>
            </a:r>
            <a:r>
              <a:rPr sz="1400" b="1" spc="140" dirty="0">
                <a:solidFill>
                  <a:srgbClr val="001F5F"/>
                </a:solidFill>
                <a:latin typeface="Cambria" panose="02040503050406030204"/>
                <a:cs typeface="Cambria" panose="02040503050406030204"/>
              </a:rPr>
              <a:t> </a:t>
            </a:r>
            <a:r>
              <a:rPr sz="1400" b="1" spc="105" dirty="0">
                <a:solidFill>
                  <a:srgbClr val="001F5F"/>
                </a:solidFill>
                <a:latin typeface="Cambria" panose="02040503050406030204"/>
                <a:cs typeface="Cambria" panose="02040503050406030204"/>
              </a:rPr>
              <a:t>BVRIT</a:t>
            </a:r>
            <a:r>
              <a:rPr sz="1400" b="1" spc="135" dirty="0">
                <a:solidFill>
                  <a:srgbClr val="001F5F"/>
                </a:solidFill>
                <a:latin typeface="Cambria" panose="02040503050406030204"/>
                <a:cs typeface="Cambria" panose="02040503050406030204"/>
              </a:rPr>
              <a:t> </a:t>
            </a:r>
            <a:r>
              <a:rPr sz="1400" b="1" spc="85" dirty="0">
                <a:solidFill>
                  <a:srgbClr val="001F5F"/>
                </a:solidFill>
                <a:latin typeface="Cambria" panose="02040503050406030204"/>
                <a:cs typeface="Cambria" panose="02040503050406030204"/>
              </a:rPr>
              <a:t>CSE(AI&amp;ML)</a:t>
            </a:r>
            <a:endParaRPr sz="1400">
              <a:latin typeface="Cambria" panose="02040503050406030204"/>
              <a:cs typeface="Cambria" panose="02040503050406030204"/>
            </a:endParaRPr>
          </a:p>
        </p:txBody>
      </p:sp>
      <p:sp>
        <p:nvSpPr>
          <p:cNvPr id="12" name="Rectangle 2"/>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13" name="Rectangle 3"/>
          <p:cNvSpPr>
            <a:spLocks noChangeArrowheads="1"/>
          </p:cNvSpPr>
          <p:nvPr/>
        </p:nvSpPr>
        <p:spPr bwMode="auto">
          <a:xfrm>
            <a:off x="-761" y="37477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TextBox 14"/>
          <p:cNvSpPr txBox="1"/>
          <p:nvPr/>
        </p:nvSpPr>
        <p:spPr>
          <a:xfrm>
            <a:off x="121406" y="1085281"/>
            <a:ext cx="6931926" cy="1631216"/>
          </a:xfrm>
          <a:prstGeom prst="rect">
            <a:avLst/>
          </a:prstGeom>
          <a:solidFill>
            <a:schemeClr val="bg1">
              <a:lumMod val="95000"/>
            </a:schemeClr>
          </a:solidFill>
        </p:spPr>
        <p:txBody>
          <a:bodyPr wrap="square" rtlCol="0">
            <a:spAutoFit/>
          </a:bodyPr>
          <a:lstStyle/>
          <a:p>
            <a:r>
              <a:rPr lang="en-US" sz="2000" b="1" dirty="0">
                <a:latin typeface="Bookman Old Style" panose="02050604050505020204" pitchFamily="18" charset="0"/>
              </a:rPr>
              <a:t>1. Data Collection &amp; Preprocessing</a:t>
            </a:r>
          </a:p>
          <a:p>
            <a:pPr marL="342900" indent="-342900">
              <a:buFont typeface="Wingdings" panose="05000000000000000000" pitchFamily="2" charset="2"/>
              <a:buChar char="Ø"/>
            </a:pPr>
            <a:r>
              <a:rPr lang="en-US" sz="2000" dirty="0">
                <a:latin typeface="Bookman Old Style" panose="02050604050505020204" pitchFamily="18" charset="0"/>
              </a:rPr>
              <a:t>Source: </a:t>
            </a:r>
            <a:r>
              <a:rPr lang="en-US" sz="2000" dirty="0" err="1">
                <a:latin typeface="Bookman Old Style" panose="02050604050505020204" pitchFamily="18" charset="0"/>
              </a:rPr>
              <a:t>Kaggle</a:t>
            </a:r>
            <a:r>
              <a:rPr lang="en-US" sz="2000" dirty="0">
                <a:latin typeface="Bookman Old Style" panose="02050604050505020204" pitchFamily="18" charset="0"/>
              </a:rPr>
              <a:t> dataset (Demographic and Health)</a:t>
            </a:r>
          </a:p>
          <a:p>
            <a:pPr marL="342900" indent="-342900">
              <a:buFont typeface="Wingdings" panose="05000000000000000000" pitchFamily="2" charset="2"/>
              <a:buChar char="Ø"/>
            </a:pPr>
            <a:r>
              <a:rPr lang="en-US" sz="2000" dirty="0">
                <a:latin typeface="Bookman Old Style" panose="02050604050505020204" pitchFamily="18" charset="0"/>
              </a:rPr>
              <a:t>Tools: Python (Pandas, </a:t>
            </a:r>
            <a:r>
              <a:rPr lang="en-US" sz="2000" dirty="0" err="1">
                <a:latin typeface="Bookman Old Style" panose="02050604050505020204" pitchFamily="18" charset="0"/>
              </a:rPr>
              <a:t>NumPy</a:t>
            </a:r>
            <a:r>
              <a:rPr lang="en-US" sz="2000" dirty="0">
                <a:latin typeface="Bookman Old Style" panose="02050604050505020204" pitchFamily="18" charset="0"/>
              </a:rPr>
              <a:t>)</a:t>
            </a:r>
          </a:p>
          <a:p>
            <a:pPr marL="342900" indent="-342900">
              <a:buFont typeface="Wingdings" panose="05000000000000000000" pitchFamily="2" charset="2"/>
              <a:buChar char="Ø"/>
            </a:pPr>
            <a:r>
              <a:rPr lang="en-US" sz="2000" dirty="0">
                <a:latin typeface="Bookman Old Style" panose="02050604050505020204" pitchFamily="18" charset="0"/>
              </a:rPr>
              <a:t>Tasks: Data cleaning, missing value handling, and normalization.</a:t>
            </a:r>
          </a:p>
        </p:txBody>
      </p:sp>
      <p:sp>
        <p:nvSpPr>
          <p:cNvPr id="18" name="TextBox 17"/>
          <p:cNvSpPr txBox="1"/>
          <p:nvPr/>
        </p:nvSpPr>
        <p:spPr>
          <a:xfrm>
            <a:off x="4776966" y="2856197"/>
            <a:ext cx="6904217" cy="1631216"/>
          </a:xfrm>
          <a:prstGeom prst="rect">
            <a:avLst/>
          </a:prstGeom>
          <a:solidFill>
            <a:schemeClr val="bg1">
              <a:lumMod val="85000"/>
            </a:schemeClr>
          </a:solidFill>
        </p:spPr>
        <p:txBody>
          <a:bodyPr wrap="square" rtlCol="0">
            <a:spAutoFit/>
          </a:bodyPr>
          <a:lstStyle/>
          <a:p>
            <a:r>
              <a:rPr lang="en-US" sz="2000" b="1" dirty="0">
                <a:latin typeface="Bookman Old Style" panose="02050604050505020204" pitchFamily="18" charset="0"/>
              </a:rPr>
              <a:t>2. Data Analysis</a:t>
            </a:r>
          </a:p>
          <a:p>
            <a:pPr marL="342900" indent="-342900">
              <a:buFont typeface="Wingdings" panose="05000000000000000000" pitchFamily="2" charset="2"/>
              <a:buChar char="Ø"/>
            </a:pPr>
            <a:r>
              <a:rPr lang="en-US" sz="2000" dirty="0">
                <a:latin typeface="Bookman Old Style" panose="02050604050505020204" pitchFamily="18" charset="0"/>
              </a:rPr>
              <a:t>Statistical exploration of relationships between demographic and health variables.</a:t>
            </a:r>
          </a:p>
          <a:p>
            <a:pPr marL="342900" indent="-342900">
              <a:buFont typeface="Wingdings" panose="05000000000000000000" pitchFamily="2" charset="2"/>
              <a:buChar char="Ø"/>
            </a:pPr>
            <a:r>
              <a:rPr lang="en-US" sz="2000" dirty="0">
                <a:latin typeface="Bookman Old Style" panose="02050604050505020204" pitchFamily="18" charset="0"/>
              </a:rPr>
              <a:t>Identified trends and correlations affecting insurance claims.</a:t>
            </a:r>
          </a:p>
        </p:txBody>
      </p:sp>
      <p:sp>
        <p:nvSpPr>
          <p:cNvPr id="19" name="TextBox 18"/>
          <p:cNvSpPr txBox="1"/>
          <p:nvPr/>
        </p:nvSpPr>
        <p:spPr>
          <a:xfrm>
            <a:off x="207952" y="4688026"/>
            <a:ext cx="6845380" cy="1323439"/>
          </a:xfrm>
          <a:prstGeom prst="rect">
            <a:avLst/>
          </a:prstGeom>
          <a:solidFill>
            <a:schemeClr val="bg1">
              <a:lumMod val="75000"/>
            </a:schemeClr>
          </a:solidFill>
        </p:spPr>
        <p:txBody>
          <a:bodyPr wrap="square" rtlCol="0">
            <a:spAutoFit/>
          </a:bodyPr>
          <a:lstStyle/>
          <a:p>
            <a:r>
              <a:rPr lang="en-US" sz="2000" b="1" dirty="0" smtClean="0">
                <a:latin typeface="Bookman Old Style" panose="02050604050505020204" pitchFamily="18" charset="0"/>
              </a:rPr>
              <a:t>3.Dashboard </a:t>
            </a:r>
            <a:r>
              <a:rPr lang="en-US" sz="2000" b="1" dirty="0">
                <a:latin typeface="Bookman Old Style" panose="02050604050505020204" pitchFamily="18" charset="0"/>
              </a:rPr>
              <a:t>Development</a:t>
            </a:r>
          </a:p>
          <a:p>
            <a:r>
              <a:rPr lang="en-US" sz="2000" dirty="0">
                <a:latin typeface="Bookman Old Style" panose="02050604050505020204" pitchFamily="18" charset="0"/>
              </a:rPr>
              <a:t>Tool: Power BI</a:t>
            </a:r>
          </a:p>
          <a:p>
            <a:r>
              <a:rPr lang="en-US" sz="2000" dirty="0">
                <a:latin typeface="Bookman Old Style" panose="02050604050505020204" pitchFamily="18" charset="0"/>
              </a:rPr>
              <a:t>Features: Interactive filters, dynamic visuals, region-wise comparisons.</a:t>
            </a:r>
          </a:p>
        </p:txBody>
      </p:sp>
    </p:spTree>
    <p:extLst>
      <p:ext uri="{BB962C8B-B14F-4D97-AF65-F5344CB8AC3E}">
        <p14:creationId xmlns:p14="http://schemas.microsoft.com/office/powerpoint/2010/main" val="2750970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7338" y="270459"/>
            <a:ext cx="8751062" cy="505908"/>
          </a:xfrm>
          <a:prstGeom prst="rect">
            <a:avLst/>
          </a:prstGeom>
        </p:spPr>
        <p:txBody>
          <a:bodyPr vert="horz" wrap="square" lIns="0" tIns="13335" rIns="0" bIns="0" rtlCol="0">
            <a:spAutoFit/>
          </a:bodyPr>
          <a:lstStyle/>
          <a:p>
            <a:pPr marL="12700">
              <a:lnSpc>
                <a:spcPct val="100000"/>
              </a:lnSpc>
              <a:spcBef>
                <a:spcPts val="105"/>
              </a:spcBef>
            </a:pPr>
            <a:r>
              <a:rPr lang="en-US" u="none" spc="-65" dirty="0" smtClean="0">
                <a:latin typeface="Bookman Old Style" panose="02050604050505020204" pitchFamily="18" charset="0"/>
              </a:rPr>
              <a:t>IMPLEMENTATION DETAILS </a:t>
            </a:r>
            <a:endParaRPr u="none" spc="-65" dirty="0">
              <a:latin typeface="Bookman Old Style" panose="02050604050505020204" pitchFamily="18" charset="0"/>
            </a:endParaRPr>
          </a:p>
        </p:txBody>
      </p:sp>
      <p:sp>
        <p:nvSpPr>
          <p:cNvPr id="3" name="object 3"/>
          <p:cNvSpPr txBox="1"/>
          <p:nvPr/>
        </p:nvSpPr>
        <p:spPr>
          <a:xfrm>
            <a:off x="605918" y="15875"/>
            <a:ext cx="10709910" cy="3551613"/>
          </a:xfrm>
          <a:prstGeom prst="rect">
            <a:avLst/>
          </a:prstGeom>
        </p:spPr>
        <p:txBody>
          <a:bodyPr vert="horz" wrap="square" lIns="0" tIns="12065" rIns="0" bIns="0" rtlCol="0">
            <a:spAutoFit/>
          </a:bodyPr>
          <a:lstStyle/>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355600" marR="5080" indent="-342900" algn="just">
              <a:lnSpc>
                <a:spcPct val="150000"/>
              </a:lnSpc>
              <a:spcBef>
                <a:spcPts val="1200"/>
              </a:spcBef>
              <a:buClr>
                <a:srgbClr val="9E3611"/>
              </a:buClr>
              <a:buSzPct val="83000"/>
              <a:buFont typeface="Arial" panose="020B0604020202020204" pitchFamily="34" charset="0"/>
              <a:buChar char="•"/>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p:txBody>
      </p:sp>
      <p:grpSp>
        <p:nvGrpSpPr>
          <p:cNvPr id="4" name="object 4"/>
          <p:cNvGrpSpPr/>
          <p:nvPr/>
        </p:nvGrpSpPr>
        <p:grpSpPr>
          <a:xfrm>
            <a:off x="761" y="761"/>
            <a:ext cx="12192000" cy="6858000"/>
            <a:chOff x="761" y="761"/>
            <a:chExt cx="12192000" cy="6858000"/>
          </a:xfrm>
        </p:grpSpPr>
        <p:sp>
          <p:nvSpPr>
            <p:cNvPr id="5"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sp>
          <p:nvSpPr>
            <p:cNvPr id="6" name="object 6"/>
            <p:cNvSpPr/>
            <p:nvPr/>
          </p:nvSpPr>
          <p:spPr>
            <a:xfrm flipV="1">
              <a:off x="109726" y="774192"/>
              <a:ext cx="7738873" cy="45719"/>
            </a:xfrm>
            <a:custGeom>
              <a:avLst/>
              <a:gdLst/>
              <a:ahLst/>
              <a:cxnLst/>
              <a:rect l="l" t="t" r="r" b="b"/>
              <a:pathLst>
                <a:path w="4579620" h="12065">
                  <a:moveTo>
                    <a:pt x="0" y="11557"/>
                  </a:moveTo>
                  <a:lnTo>
                    <a:pt x="4579493" y="0"/>
                  </a:lnTo>
                </a:path>
              </a:pathLst>
            </a:custGeom>
            <a:ln w="57150">
              <a:solidFill>
                <a:srgbClr val="001F5F"/>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86511" y="149351"/>
              <a:ext cx="890016" cy="670560"/>
            </a:xfrm>
            <a:prstGeom prst="rect">
              <a:avLst/>
            </a:prstGeom>
          </p:spPr>
        </p:pic>
        <p:sp>
          <p:nvSpPr>
            <p:cNvPr id="8" name="object 8"/>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grpSp>
      <p:sp>
        <p:nvSpPr>
          <p:cNvPr id="9" name="object 9"/>
          <p:cNvSpPr txBox="1">
            <a:spLocks noGrp="1"/>
          </p:cNvSpPr>
          <p:nvPr>
            <p:ph type="sldNum" sz="quarter" idx="7"/>
          </p:nvPr>
        </p:nvSpPr>
        <p:spPr>
          <a:xfrm>
            <a:off x="11506200" y="6340417"/>
            <a:ext cx="202692" cy="218008"/>
          </a:xfrm>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225" dirty="0"/>
              <a:t>13</a:t>
            </a:fld>
            <a:endParaRPr spc="-225" dirty="0"/>
          </a:p>
        </p:txBody>
      </p:sp>
      <p:sp>
        <p:nvSpPr>
          <p:cNvPr id="10" name="object 10"/>
          <p:cNvSpPr txBox="1"/>
          <p:nvPr/>
        </p:nvSpPr>
        <p:spPr>
          <a:xfrm>
            <a:off x="5150865" y="6377429"/>
            <a:ext cx="1984375" cy="234950"/>
          </a:xfrm>
          <a:prstGeom prst="rect">
            <a:avLst/>
          </a:prstGeom>
        </p:spPr>
        <p:txBody>
          <a:bodyPr vert="horz" wrap="square" lIns="0" tIns="2540" rIns="0" bIns="0" rtlCol="0">
            <a:spAutoFit/>
          </a:bodyPr>
          <a:lstStyle/>
          <a:p>
            <a:pPr marL="12700">
              <a:lnSpc>
                <a:spcPct val="100000"/>
              </a:lnSpc>
              <a:spcBef>
                <a:spcPts val="20"/>
              </a:spcBef>
            </a:pPr>
            <a:r>
              <a:rPr sz="1400" b="1" spc="-155" dirty="0">
                <a:solidFill>
                  <a:srgbClr val="001F5F"/>
                </a:solidFill>
                <a:latin typeface="Cambria" panose="02040503050406030204"/>
                <a:cs typeface="Cambria" panose="02040503050406030204"/>
              </a:rPr>
              <a:t>©</a:t>
            </a:r>
            <a:r>
              <a:rPr sz="1400" b="1" spc="140" dirty="0">
                <a:solidFill>
                  <a:srgbClr val="001F5F"/>
                </a:solidFill>
                <a:latin typeface="Cambria" panose="02040503050406030204"/>
                <a:cs typeface="Cambria" panose="02040503050406030204"/>
              </a:rPr>
              <a:t> </a:t>
            </a:r>
            <a:r>
              <a:rPr sz="1400" b="1" spc="105" dirty="0">
                <a:solidFill>
                  <a:srgbClr val="001F5F"/>
                </a:solidFill>
                <a:latin typeface="Cambria" panose="02040503050406030204"/>
                <a:cs typeface="Cambria" panose="02040503050406030204"/>
              </a:rPr>
              <a:t>BVRIT</a:t>
            </a:r>
            <a:r>
              <a:rPr sz="1400" b="1" spc="135" dirty="0">
                <a:solidFill>
                  <a:srgbClr val="001F5F"/>
                </a:solidFill>
                <a:latin typeface="Cambria" panose="02040503050406030204"/>
                <a:cs typeface="Cambria" panose="02040503050406030204"/>
              </a:rPr>
              <a:t> </a:t>
            </a:r>
            <a:r>
              <a:rPr sz="1400" b="1" spc="85" dirty="0">
                <a:solidFill>
                  <a:srgbClr val="001F5F"/>
                </a:solidFill>
                <a:latin typeface="Cambria" panose="02040503050406030204"/>
                <a:cs typeface="Cambria" panose="02040503050406030204"/>
              </a:rPr>
              <a:t>CSE(AI&amp;ML)</a:t>
            </a:r>
            <a:endParaRPr sz="1400">
              <a:latin typeface="Cambria" panose="02040503050406030204"/>
              <a:cs typeface="Cambria" panose="02040503050406030204"/>
            </a:endParaRPr>
          </a:p>
        </p:txBody>
      </p:sp>
      <p:sp>
        <p:nvSpPr>
          <p:cNvPr id="12" name="Rectangle 2"/>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13" name="Rectangle 3"/>
          <p:cNvSpPr>
            <a:spLocks noChangeArrowheads="1"/>
          </p:cNvSpPr>
          <p:nvPr/>
        </p:nvSpPr>
        <p:spPr bwMode="auto">
          <a:xfrm>
            <a:off x="-27709" y="36271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TextBox 14"/>
          <p:cNvSpPr txBox="1"/>
          <p:nvPr/>
        </p:nvSpPr>
        <p:spPr>
          <a:xfrm>
            <a:off x="1176527" y="1256462"/>
            <a:ext cx="8458200" cy="1631216"/>
          </a:xfrm>
          <a:prstGeom prst="rect">
            <a:avLst/>
          </a:prstGeom>
          <a:solidFill>
            <a:schemeClr val="accent3">
              <a:lumMod val="20000"/>
              <a:lumOff val="80000"/>
            </a:schemeClr>
          </a:solidFill>
        </p:spPr>
        <p:txBody>
          <a:bodyPr wrap="square" rtlCol="0">
            <a:spAutoFit/>
          </a:bodyPr>
          <a:lstStyle/>
          <a:p>
            <a:r>
              <a:rPr lang="en-IN" sz="2000" dirty="0">
                <a:latin typeface="Bookman Old Style" panose="02050604050505020204" pitchFamily="18" charset="0"/>
              </a:rPr>
              <a:t>⚙</a:t>
            </a:r>
            <a:r>
              <a:rPr lang="en-IN" sz="2000" b="1" dirty="0" smtClean="0">
                <a:latin typeface="Bookman Old Style" panose="02050604050505020204" pitchFamily="18" charset="0"/>
              </a:rPr>
              <a:t> </a:t>
            </a:r>
            <a:r>
              <a:rPr lang="en-IN" sz="2000" b="1" dirty="0">
                <a:latin typeface="Bookman Old Style" panose="02050604050505020204" pitchFamily="18" charset="0"/>
              </a:rPr>
              <a:t>Data </a:t>
            </a:r>
            <a:r>
              <a:rPr lang="en-IN" sz="2000" b="1" dirty="0" err="1">
                <a:latin typeface="Bookman Old Style" panose="02050604050505020204" pitchFamily="18" charset="0"/>
              </a:rPr>
              <a:t>Preprocessing</a:t>
            </a:r>
            <a:endParaRPr lang="en-IN" sz="2000" b="1" dirty="0">
              <a:latin typeface="Bookman Old Style" panose="02050604050505020204" pitchFamily="18" charset="0"/>
            </a:endParaRPr>
          </a:p>
          <a:p>
            <a:pPr marL="285750" indent="-285750">
              <a:buFont typeface="Wingdings" panose="05000000000000000000" pitchFamily="2" charset="2"/>
              <a:buChar char="Ø"/>
            </a:pPr>
            <a:r>
              <a:rPr lang="en-IN" sz="2000" dirty="0">
                <a:latin typeface="Bookman Old Style" panose="02050604050505020204" pitchFamily="18" charset="0"/>
              </a:rPr>
              <a:t>Loaded and cleaned dataset (1,341 records, 9 attributes)</a:t>
            </a:r>
          </a:p>
          <a:p>
            <a:pPr marL="285750" indent="-285750">
              <a:buFont typeface="Wingdings" panose="05000000000000000000" pitchFamily="2" charset="2"/>
              <a:buChar char="Ø"/>
            </a:pPr>
            <a:r>
              <a:rPr lang="en-IN" sz="2000" dirty="0">
                <a:latin typeface="Bookman Old Style" panose="02050604050505020204" pitchFamily="18" charset="0"/>
              </a:rPr>
              <a:t>Removed missing/null entries and outliers</a:t>
            </a:r>
          </a:p>
          <a:p>
            <a:pPr marL="285750" indent="-285750">
              <a:buFont typeface="Wingdings" panose="05000000000000000000" pitchFamily="2" charset="2"/>
              <a:buChar char="Ø"/>
            </a:pPr>
            <a:r>
              <a:rPr lang="en-IN" sz="2000" dirty="0">
                <a:latin typeface="Bookman Old Style" panose="02050604050505020204" pitchFamily="18" charset="0"/>
              </a:rPr>
              <a:t>Standardized categorical fields (e.g., gender, region)</a:t>
            </a:r>
          </a:p>
          <a:p>
            <a:pPr marL="285750" indent="-285750">
              <a:buFont typeface="Wingdings" panose="05000000000000000000" pitchFamily="2" charset="2"/>
              <a:buChar char="Ø"/>
            </a:pPr>
            <a:r>
              <a:rPr lang="en-IN" sz="2000" dirty="0">
                <a:latin typeface="Bookman Old Style" panose="02050604050505020204" pitchFamily="18" charset="0"/>
              </a:rPr>
              <a:t>Converted numerical data types (e.g., BMI, </a:t>
            </a:r>
            <a:r>
              <a:rPr lang="en-IN" sz="2000" dirty="0" err="1" smtClean="0">
                <a:latin typeface="Bookman Old Style" panose="02050604050505020204" pitchFamily="18" charset="0"/>
              </a:rPr>
              <a:t>age,claims</a:t>
            </a:r>
            <a:r>
              <a:rPr lang="en-IN" sz="2000" dirty="0" smtClean="0">
                <a:latin typeface="Bookman Old Style" panose="02050604050505020204" pitchFamily="18" charset="0"/>
              </a:rPr>
              <a:t>)</a:t>
            </a:r>
            <a:endParaRPr lang="en-IN" sz="2000" dirty="0">
              <a:latin typeface="Bookman Old Style" panose="02050604050505020204" pitchFamily="18" charset="0"/>
            </a:endParaRPr>
          </a:p>
        </p:txBody>
      </p:sp>
      <p:sp>
        <p:nvSpPr>
          <p:cNvPr id="16" name="TextBox 15"/>
          <p:cNvSpPr txBox="1"/>
          <p:nvPr/>
        </p:nvSpPr>
        <p:spPr>
          <a:xfrm>
            <a:off x="731519" y="3258212"/>
            <a:ext cx="9553819" cy="2554545"/>
          </a:xfrm>
          <a:prstGeom prst="rect">
            <a:avLst/>
          </a:prstGeom>
          <a:solidFill>
            <a:schemeClr val="accent3">
              <a:lumMod val="40000"/>
              <a:lumOff val="60000"/>
            </a:schemeClr>
          </a:solidFill>
        </p:spPr>
        <p:txBody>
          <a:bodyPr wrap="square" rtlCol="0">
            <a:spAutoFit/>
          </a:bodyPr>
          <a:lstStyle/>
          <a:p>
            <a:r>
              <a:rPr lang="en-IN" sz="2000" b="1" dirty="0">
                <a:latin typeface="Bookman Old Style" panose="02050604050505020204" pitchFamily="18" charset="0"/>
              </a:rPr>
              <a:t>📊 Visualization &amp; Dashboard Design</a:t>
            </a:r>
          </a:p>
          <a:p>
            <a:r>
              <a:rPr lang="en-IN" sz="2000" dirty="0">
                <a:latin typeface="Bookman Old Style" panose="02050604050505020204" pitchFamily="18" charset="0"/>
              </a:rPr>
              <a:t>Used Python for basic visualizations and understanding data patterns</a:t>
            </a:r>
          </a:p>
          <a:p>
            <a:r>
              <a:rPr lang="en-IN" sz="2000" dirty="0">
                <a:latin typeface="Bookman Old Style" panose="02050604050505020204" pitchFamily="18" charset="0"/>
              </a:rPr>
              <a:t>Imported processed data into </a:t>
            </a:r>
            <a:r>
              <a:rPr lang="en-IN" sz="2000" b="1" dirty="0">
                <a:latin typeface="Bookman Old Style" panose="02050604050505020204" pitchFamily="18" charset="0"/>
              </a:rPr>
              <a:t>Power BI</a:t>
            </a:r>
            <a:endParaRPr lang="en-IN" sz="2000" dirty="0">
              <a:latin typeface="Bookman Old Style" panose="02050604050505020204" pitchFamily="18" charset="0"/>
            </a:endParaRPr>
          </a:p>
          <a:p>
            <a:r>
              <a:rPr lang="en-IN" sz="2000" dirty="0">
                <a:latin typeface="Bookman Old Style" panose="02050604050505020204" pitchFamily="18" charset="0"/>
              </a:rPr>
              <a:t>Developed charts:</a:t>
            </a:r>
          </a:p>
          <a:p>
            <a:pPr lvl="1"/>
            <a:r>
              <a:rPr lang="en-IN" sz="2000" b="1" dirty="0">
                <a:latin typeface="Bookman Old Style" panose="02050604050505020204" pitchFamily="18" charset="0"/>
              </a:rPr>
              <a:t>Bar Charts</a:t>
            </a:r>
            <a:r>
              <a:rPr lang="en-IN" sz="2000" dirty="0">
                <a:latin typeface="Bookman Old Style" panose="02050604050505020204" pitchFamily="18" charset="0"/>
              </a:rPr>
              <a:t> (e.g., average charges by region)</a:t>
            </a:r>
          </a:p>
          <a:p>
            <a:pPr lvl="1"/>
            <a:r>
              <a:rPr lang="en-IN" sz="2000" b="1" dirty="0">
                <a:latin typeface="Bookman Old Style" panose="02050604050505020204" pitchFamily="18" charset="0"/>
              </a:rPr>
              <a:t>Pie Charts</a:t>
            </a:r>
            <a:r>
              <a:rPr lang="en-IN" sz="2000" dirty="0">
                <a:latin typeface="Bookman Old Style" panose="02050604050505020204" pitchFamily="18" charset="0"/>
              </a:rPr>
              <a:t> (e.g., gender distribution)</a:t>
            </a:r>
          </a:p>
          <a:p>
            <a:pPr lvl="1"/>
            <a:r>
              <a:rPr lang="en-IN" sz="2000" b="1" dirty="0">
                <a:latin typeface="Bookman Old Style" panose="02050604050505020204" pitchFamily="18" charset="0"/>
              </a:rPr>
              <a:t>Line Graphs</a:t>
            </a:r>
            <a:r>
              <a:rPr lang="en-IN" sz="2000" dirty="0">
                <a:latin typeface="Bookman Old Style" panose="02050604050505020204" pitchFamily="18" charset="0"/>
              </a:rPr>
              <a:t> (e.g., BMI vs claims)</a:t>
            </a:r>
          </a:p>
          <a:p>
            <a:r>
              <a:rPr lang="en-IN" sz="2000" dirty="0">
                <a:latin typeface="Bookman Old Style" panose="02050604050505020204" pitchFamily="18" charset="0"/>
              </a:rPr>
              <a:t>Interactive filters for gender, smoking status, age range</a:t>
            </a:r>
          </a:p>
        </p:txBody>
      </p:sp>
    </p:spTree>
    <p:extLst>
      <p:ext uri="{BB962C8B-B14F-4D97-AF65-F5344CB8AC3E}">
        <p14:creationId xmlns:p14="http://schemas.microsoft.com/office/powerpoint/2010/main" val="1789087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7338" y="270459"/>
            <a:ext cx="5398262" cy="505908"/>
          </a:xfrm>
          <a:prstGeom prst="rect">
            <a:avLst/>
          </a:prstGeom>
        </p:spPr>
        <p:txBody>
          <a:bodyPr vert="horz" wrap="square" lIns="0" tIns="13335" rIns="0" bIns="0" rtlCol="0">
            <a:spAutoFit/>
          </a:bodyPr>
          <a:lstStyle/>
          <a:p>
            <a:pPr marL="12700">
              <a:lnSpc>
                <a:spcPct val="100000"/>
              </a:lnSpc>
              <a:spcBef>
                <a:spcPts val="105"/>
              </a:spcBef>
            </a:pPr>
            <a:r>
              <a:rPr lang="en-IN" u="none" spc="-65" dirty="0" smtClean="0">
                <a:latin typeface="Bookman Old Style" panose="02050604050505020204" pitchFamily="18" charset="0"/>
              </a:rPr>
              <a:t>RESULT &amp; DISCUSSION</a:t>
            </a:r>
            <a:endParaRPr u="none" spc="-65" dirty="0">
              <a:latin typeface="Bookman Old Style" panose="02050604050505020204" pitchFamily="18" charset="0"/>
            </a:endParaRPr>
          </a:p>
        </p:txBody>
      </p:sp>
      <p:sp>
        <p:nvSpPr>
          <p:cNvPr id="3" name="object 3"/>
          <p:cNvSpPr txBox="1"/>
          <p:nvPr/>
        </p:nvSpPr>
        <p:spPr>
          <a:xfrm>
            <a:off x="605918" y="15875"/>
            <a:ext cx="10709910" cy="3551613"/>
          </a:xfrm>
          <a:prstGeom prst="rect">
            <a:avLst/>
          </a:prstGeom>
        </p:spPr>
        <p:txBody>
          <a:bodyPr vert="horz" wrap="square" lIns="0" tIns="12065" rIns="0" bIns="0" rtlCol="0">
            <a:spAutoFit/>
          </a:bodyPr>
          <a:lstStyle/>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a:p>
            <a:pPr marL="355600" marR="5080" indent="-342900" algn="just">
              <a:lnSpc>
                <a:spcPct val="150000"/>
              </a:lnSpc>
              <a:spcBef>
                <a:spcPts val="1200"/>
              </a:spcBef>
              <a:buClr>
                <a:srgbClr val="9E3611"/>
              </a:buClr>
              <a:buSzPct val="83000"/>
              <a:buFont typeface="Arial" panose="020B0604020202020204" pitchFamily="34" charset="0"/>
              <a:buChar char="•"/>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US" sz="2000" dirty="0">
              <a:latin typeface="Bookman Old Style" panose="02050604050505020204" pitchFamily="18" charset="0"/>
              <a:cs typeface="Cambria" panose="02040503050406030204"/>
            </a:endParaRPr>
          </a:p>
          <a:p>
            <a:pPr marL="12700" marR="5080" algn="just">
              <a:lnSpc>
                <a:spcPct val="150000"/>
              </a:lnSpc>
              <a:spcBef>
                <a:spcPts val="1200"/>
              </a:spcBef>
              <a:buClr>
                <a:srgbClr val="9E3611"/>
              </a:buClr>
              <a:buSzPct val="83000"/>
              <a:tabLst>
                <a:tab pos="195580" algn="l"/>
              </a:tabLst>
            </a:pPr>
            <a:endParaRPr lang="en-IN" sz="2000" dirty="0">
              <a:latin typeface="Bookman Old Style" panose="02050604050505020204" pitchFamily="18" charset="0"/>
              <a:cs typeface="Cambria" panose="02040503050406030204"/>
            </a:endParaRPr>
          </a:p>
        </p:txBody>
      </p:sp>
      <p:grpSp>
        <p:nvGrpSpPr>
          <p:cNvPr id="4" name="object 4"/>
          <p:cNvGrpSpPr/>
          <p:nvPr/>
        </p:nvGrpSpPr>
        <p:grpSpPr>
          <a:xfrm>
            <a:off x="761" y="761"/>
            <a:ext cx="12192000" cy="6858000"/>
            <a:chOff x="761" y="761"/>
            <a:chExt cx="12192000" cy="6858000"/>
          </a:xfrm>
        </p:grpSpPr>
        <p:sp>
          <p:nvSpPr>
            <p:cNvPr id="5"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sp>
          <p:nvSpPr>
            <p:cNvPr id="6" name="object 6"/>
            <p:cNvSpPr/>
            <p:nvPr/>
          </p:nvSpPr>
          <p:spPr>
            <a:xfrm>
              <a:off x="109726" y="819911"/>
              <a:ext cx="6748273" cy="104317"/>
            </a:xfrm>
            <a:custGeom>
              <a:avLst/>
              <a:gdLst/>
              <a:ahLst/>
              <a:cxnLst/>
              <a:rect l="l" t="t" r="r" b="b"/>
              <a:pathLst>
                <a:path w="4579620" h="12065">
                  <a:moveTo>
                    <a:pt x="0" y="11557"/>
                  </a:moveTo>
                  <a:lnTo>
                    <a:pt x="4579493" y="0"/>
                  </a:lnTo>
                </a:path>
              </a:pathLst>
            </a:custGeom>
            <a:ln w="57150">
              <a:solidFill>
                <a:srgbClr val="001F5F"/>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86511" y="149351"/>
              <a:ext cx="890016" cy="670560"/>
            </a:xfrm>
            <a:prstGeom prst="rect">
              <a:avLst/>
            </a:prstGeom>
          </p:spPr>
        </p:pic>
        <p:sp>
          <p:nvSpPr>
            <p:cNvPr id="8" name="object 8"/>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grpSp>
      <p:sp>
        <p:nvSpPr>
          <p:cNvPr id="9" name="object 9"/>
          <p:cNvSpPr txBox="1">
            <a:spLocks noGrp="1"/>
          </p:cNvSpPr>
          <p:nvPr>
            <p:ph type="sldNum" sz="quarter" idx="7"/>
          </p:nvPr>
        </p:nvSpPr>
        <p:spPr>
          <a:xfrm>
            <a:off x="11506200" y="6359711"/>
            <a:ext cx="278892" cy="218008"/>
          </a:xfrm>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225" dirty="0"/>
              <a:t>14</a:t>
            </a:fld>
            <a:endParaRPr spc="-225" dirty="0"/>
          </a:p>
        </p:txBody>
      </p:sp>
      <p:sp>
        <p:nvSpPr>
          <p:cNvPr id="10" name="object 10"/>
          <p:cNvSpPr txBox="1"/>
          <p:nvPr/>
        </p:nvSpPr>
        <p:spPr>
          <a:xfrm>
            <a:off x="5150865" y="6377429"/>
            <a:ext cx="1984375" cy="234950"/>
          </a:xfrm>
          <a:prstGeom prst="rect">
            <a:avLst/>
          </a:prstGeom>
        </p:spPr>
        <p:txBody>
          <a:bodyPr vert="horz" wrap="square" lIns="0" tIns="2540" rIns="0" bIns="0" rtlCol="0">
            <a:spAutoFit/>
          </a:bodyPr>
          <a:lstStyle/>
          <a:p>
            <a:pPr marL="12700">
              <a:lnSpc>
                <a:spcPct val="100000"/>
              </a:lnSpc>
              <a:spcBef>
                <a:spcPts val="20"/>
              </a:spcBef>
            </a:pPr>
            <a:r>
              <a:rPr sz="1400" b="1" spc="-155" dirty="0">
                <a:solidFill>
                  <a:srgbClr val="001F5F"/>
                </a:solidFill>
                <a:latin typeface="Cambria" panose="02040503050406030204"/>
                <a:cs typeface="Cambria" panose="02040503050406030204"/>
              </a:rPr>
              <a:t>©</a:t>
            </a:r>
            <a:r>
              <a:rPr sz="1400" b="1" spc="140" dirty="0">
                <a:solidFill>
                  <a:srgbClr val="001F5F"/>
                </a:solidFill>
                <a:latin typeface="Cambria" panose="02040503050406030204"/>
                <a:cs typeface="Cambria" panose="02040503050406030204"/>
              </a:rPr>
              <a:t> </a:t>
            </a:r>
            <a:r>
              <a:rPr sz="1400" b="1" spc="105" dirty="0">
                <a:solidFill>
                  <a:srgbClr val="001F5F"/>
                </a:solidFill>
                <a:latin typeface="Cambria" panose="02040503050406030204"/>
                <a:cs typeface="Cambria" panose="02040503050406030204"/>
              </a:rPr>
              <a:t>BVRIT</a:t>
            </a:r>
            <a:r>
              <a:rPr sz="1400" b="1" spc="135" dirty="0">
                <a:solidFill>
                  <a:srgbClr val="001F5F"/>
                </a:solidFill>
                <a:latin typeface="Cambria" panose="02040503050406030204"/>
                <a:cs typeface="Cambria" panose="02040503050406030204"/>
              </a:rPr>
              <a:t> </a:t>
            </a:r>
            <a:r>
              <a:rPr sz="1400" b="1" spc="85" dirty="0">
                <a:solidFill>
                  <a:srgbClr val="001F5F"/>
                </a:solidFill>
                <a:latin typeface="Cambria" panose="02040503050406030204"/>
                <a:cs typeface="Cambria" panose="02040503050406030204"/>
              </a:rPr>
              <a:t>CSE(AI&amp;ML)</a:t>
            </a:r>
            <a:endParaRPr sz="1400">
              <a:latin typeface="Cambria" panose="02040503050406030204"/>
              <a:cs typeface="Cambria" panose="02040503050406030204"/>
            </a:endParaRPr>
          </a:p>
        </p:txBody>
      </p:sp>
      <p:sp>
        <p:nvSpPr>
          <p:cNvPr id="12" name="Rectangle 2"/>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13" name="Rectangle 3"/>
          <p:cNvSpPr>
            <a:spLocks noChangeArrowheads="1"/>
          </p:cNvSpPr>
          <p:nvPr/>
        </p:nvSpPr>
        <p:spPr bwMode="auto">
          <a:xfrm>
            <a:off x="-761" y="37477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 name="Rectangle 3"/>
          <p:cNvSpPr>
            <a:spLocks noChangeArrowheads="1"/>
          </p:cNvSpPr>
          <p:nvPr/>
        </p:nvSpPr>
        <p:spPr bwMode="auto">
          <a:xfrm>
            <a:off x="252644" y="1163239"/>
            <a:ext cx="1169945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smtClean="0">
                <a:ln>
                  <a:noFill/>
                </a:ln>
                <a:solidFill>
                  <a:schemeClr val="tx1"/>
                </a:solidFill>
                <a:effectLst/>
                <a:latin typeface="Bookman Old Style" panose="02050604050505020204" pitchFamily="18" charset="0"/>
              </a:rPr>
              <a:t>Age and BMI Correlation</a:t>
            </a:r>
            <a:r>
              <a:rPr kumimoji="0" lang="en-US" altLang="en-US" b="0" i="0" u="none" strike="noStrike" cap="none" normalizeH="0" baseline="0" dirty="0" smtClean="0">
                <a:ln>
                  <a:noFill/>
                </a:ln>
                <a:solidFill>
                  <a:schemeClr val="tx1"/>
                </a:solidFill>
                <a:effectLst/>
                <a:latin typeface="Bookman Old Style" panose="02050604050505020204" pitchFamily="18" charset="0"/>
              </a:rPr>
              <a:t>:</a:t>
            </a:r>
          </a:p>
          <a:p>
            <a:pPr lvl="1" eaLnBrk="0" fontAlgn="base" hangingPunct="0">
              <a:spcBef>
                <a:spcPct val="0"/>
              </a:spcBef>
              <a:spcAft>
                <a:spcPct val="0"/>
              </a:spcAft>
              <a:buFontTx/>
              <a:buChar char="•"/>
            </a:pPr>
            <a:r>
              <a:rPr kumimoji="0" lang="en-US" altLang="en-US" b="0" i="0" u="none" strike="noStrike" cap="none" normalizeH="0" baseline="0" dirty="0" smtClean="0">
                <a:ln>
                  <a:noFill/>
                </a:ln>
                <a:solidFill>
                  <a:schemeClr val="tx1"/>
                </a:solidFill>
                <a:effectLst/>
                <a:latin typeface="Bookman Old Style" panose="02050604050505020204" pitchFamily="18" charset="0"/>
              </a:rPr>
              <a:t>Claim amounts increase significantly with age and BMI.</a:t>
            </a:r>
          </a:p>
          <a:p>
            <a:pPr lvl="1" eaLnBrk="0" fontAlgn="base" hangingPunct="0">
              <a:spcBef>
                <a:spcPct val="0"/>
              </a:spcBef>
              <a:spcAft>
                <a:spcPct val="0"/>
              </a:spcAft>
              <a:buFontTx/>
              <a:buChar char="•"/>
            </a:pPr>
            <a:r>
              <a:rPr kumimoji="0" lang="en-US" altLang="en-US" b="0" i="0" u="none" strike="noStrike" cap="none" normalizeH="0" baseline="0" dirty="0" smtClean="0">
                <a:ln>
                  <a:noFill/>
                </a:ln>
                <a:solidFill>
                  <a:schemeClr val="tx1"/>
                </a:solidFill>
                <a:effectLst/>
                <a:latin typeface="Bookman Old Style" panose="02050604050505020204" pitchFamily="18" charset="0"/>
              </a:rPr>
              <a:t>Higher BMI individuals tend to have more frequent and costly claims.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smtClean="0">
              <a:ln>
                <a:noFill/>
              </a:ln>
              <a:solidFill>
                <a:schemeClr val="tx1"/>
              </a:solidFill>
              <a:effectLst/>
              <a:latin typeface="Bookman Old Style" panose="0205060405050502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smtClean="0">
                <a:ln>
                  <a:noFill/>
                </a:ln>
                <a:solidFill>
                  <a:schemeClr val="tx1"/>
                </a:solidFill>
                <a:effectLst/>
                <a:latin typeface="Bookman Old Style" panose="02050604050505020204" pitchFamily="18" charset="0"/>
              </a:rPr>
              <a:t>Smoking Status Impact</a:t>
            </a:r>
            <a:r>
              <a:rPr kumimoji="0" lang="en-US" altLang="en-US" b="0" i="0" u="none" strike="noStrike" cap="none" normalizeH="0" baseline="0" dirty="0" smtClean="0">
                <a:ln>
                  <a:noFill/>
                </a:ln>
                <a:solidFill>
                  <a:schemeClr val="tx1"/>
                </a:solidFill>
                <a:effectLst/>
                <a:latin typeface="Bookman Old Style" panose="02050604050505020204" pitchFamily="18" charset="0"/>
              </a:rPr>
              <a:t>:</a:t>
            </a:r>
          </a:p>
          <a:p>
            <a:pPr lvl="1" eaLnBrk="0" fontAlgn="base" hangingPunct="0">
              <a:spcBef>
                <a:spcPct val="0"/>
              </a:spcBef>
              <a:spcAft>
                <a:spcPct val="0"/>
              </a:spcAft>
              <a:buFontTx/>
              <a:buChar char="•"/>
            </a:pPr>
            <a:r>
              <a:rPr kumimoji="0" lang="en-US" altLang="en-US" b="0" i="0" u="none" strike="noStrike" cap="none" normalizeH="0" baseline="0" dirty="0" smtClean="0">
                <a:ln>
                  <a:noFill/>
                </a:ln>
                <a:solidFill>
                  <a:schemeClr val="tx1"/>
                </a:solidFill>
                <a:effectLst/>
                <a:latin typeface="Bookman Old Style" panose="02050604050505020204" pitchFamily="18" charset="0"/>
              </a:rPr>
              <a:t>Smokers consistently show </a:t>
            </a:r>
            <a:r>
              <a:rPr kumimoji="0" lang="en-US" altLang="en-US" b="1" i="0" u="none" strike="noStrike" cap="none" normalizeH="0" baseline="0" dirty="0" smtClean="0">
                <a:ln>
                  <a:noFill/>
                </a:ln>
                <a:solidFill>
                  <a:schemeClr val="tx1"/>
                </a:solidFill>
                <a:effectLst/>
                <a:latin typeface="Bookman Old Style" panose="02050604050505020204" pitchFamily="18" charset="0"/>
              </a:rPr>
              <a:t>higher insurance claims</a:t>
            </a:r>
            <a:r>
              <a:rPr kumimoji="0" lang="en-US" altLang="en-US" b="0" i="0" u="none" strike="noStrike" cap="none" normalizeH="0" baseline="0" dirty="0" smtClean="0">
                <a:ln>
                  <a:noFill/>
                </a:ln>
                <a:solidFill>
                  <a:schemeClr val="tx1"/>
                </a:solidFill>
                <a:effectLst/>
                <a:latin typeface="Bookman Old Style" panose="02050604050505020204" pitchFamily="18" charset="0"/>
              </a:rPr>
              <a:t> than non-smokers.</a:t>
            </a:r>
          </a:p>
          <a:p>
            <a:pPr lvl="1" eaLnBrk="0" fontAlgn="base" hangingPunct="0">
              <a:spcBef>
                <a:spcPct val="0"/>
              </a:spcBef>
              <a:spcAft>
                <a:spcPct val="0"/>
              </a:spcAft>
              <a:buFontTx/>
              <a:buChar char="•"/>
            </a:pPr>
            <a:r>
              <a:rPr kumimoji="0" lang="en-US" altLang="en-US" b="0" i="0" u="none" strike="noStrike" cap="none" normalizeH="0" baseline="0" dirty="0" smtClean="0">
                <a:ln>
                  <a:noFill/>
                </a:ln>
                <a:solidFill>
                  <a:schemeClr val="tx1"/>
                </a:solidFill>
                <a:effectLst/>
                <a:latin typeface="Bookman Old Style" panose="02050604050505020204" pitchFamily="18" charset="0"/>
              </a:rPr>
              <a:t>Clear risk indicator used in premium calculations.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smtClean="0">
              <a:ln>
                <a:noFill/>
              </a:ln>
              <a:solidFill>
                <a:schemeClr val="tx1"/>
              </a:solidFill>
              <a:effectLst/>
              <a:latin typeface="Bookman Old Style" panose="0205060405050502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smtClean="0">
                <a:ln>
                  <a:noFill/>
                </a:ln>
                <a:solidFill>
                  <a:schemeClr val="tx1"/>
                </a:solidFill>
                <a:effectLst/>
                <a:latin typeface="Bookman Old Style" panose="02050604050505020204" pitchFamily="18" charset="0"/>
              </a:rPr>
              <a:t>Gender and Region Trends</a:t>
            </a:r>
            <a:r>
              <a:rPr kumimoji="0" lang="en-US" altLang="en-US" b="0" i="0" u="none" strike="noStrike" cap="none" normalizeH="0" baseline="0" dirty="0" smtClean="0">
                <a:ln>
                  <a:noFill/>
                </a:ln>
                <a:solidFill>
                  <a:schemeClr val="tx1"/>
                </a:solidFill>
                <a:effectLst/>
                <a:latin typeface="Bookman Old Style" panose="02050604050505020204" pitchFamily="18" charset="0"/>
              </a:rPr>
              <a:t>:</a:t>
            </a:r>
          </a:p>
          <a:p>
            <a:pPr lvl="1" eaLnBrk="0" fontAlgn="base" hangingPunct="0">
              <a:spcBef>
                <a:spcPct val="0"/>
              </a:spcBef>
              <a:spcAft>
                <a:spcPct val="0"/>
              </a:spcAft>
              <a:buFontTx/>
              <a:buChar char="•"/>
            </a:pPr>
            <a:r>
              <a:rPr kumimoji="0" lang="en-US" altLang="en-US" b="0" i="0" u="none" strike="noStrike" cap="none" normalizeH="0" baseline="0" dirty="0" smtClean="0">
                <a:ln>
                  <a:noFill/>
                </a:ln>
                <a:solidFill>
                  <a:schemeClr val="tx1"/>
                </a:solidFill>
                <a:effectLst/>
                <a:latin typeface="Bookman Old Style" panose="02050604050505020204" pitchFamily="18" charset="0"/>
              </a:rPr>
              <a:t>No significant difference in average claims between genders.</a:t>
            </a:r>
          </a:p>
          <a:p>
            <a:pPr lvl="1" eaLnBrk="0" fontAlgn="base" hangingPunct="0">
              <a:spcBef>
                <a:spcPct val="0"/>
              </a:spcBef>
              <a:spcAft>
                <a:spcPct val="0"/>
              </a:spcAft>
              <a:buFontTx/>
              <a:buChar char="•"/>
            </a:pPr>
            <a:r>
              <a:rPr kumimoji="0" lang="en-US" altLang="en-US" b="0" i="0" u="none" strike="noStrike" cap="none" normalizeH="0" baseline="0" dirty="0" smtClean="0">
                <a:ln>
                  <a:noFill/>
                </a:ln>
                <a:solidFill>
                  <a:schemeClr val="tx1"/>
                </a:solidFill>
                <a:effectLst/>
                <a:latin typeface="Bookman Old Style" panose="02050604050505020204" pitchFamily="18" charset="0"/>
              </a:rPr>
              <a:t>Regional disparities observed in claim amounts (e.g., Southeast region had higher average claims).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smtClean="0">
              <a:ln>
                <a:noFill/>
              </a:ln>
              <a:solidFill>
                <a:schemeClr val="tx1"/>
              </a:solidFill>
              <a:effectLst/>
              <a:latin typeface="Bookman Old Style" panose="0205060405050502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smtClean="0">
                <a:ln>
                  <a:noFill/>
                </a:ln>
                <a:solidFill>
                  <a:schemeClr val="tx1"/>
                </a:solidFill>
                <a:effectLst/>
                <a:latin typeface="Bookman Old Style" panose="02050604050505020204" pitchFamily="18" charset="0"/>
              </a:rPr>
              <a:t>Family Size and Charges</a:t>
            </a:r>
            <a:r>
              <a:rPr kumimoji="0" lang="en-US" altLang="en-US" b="0" i="0" u="none" strike="noStrike" cap="none" normalizeH="0" baseline="0" dirty="0" smtClean="0">
                <a:ln>
                  <a:noFill/>
                </a:ln>
                <a:solidFill>
                  <a:schemeClr val="tx1"/>
                </a:solidFill>
                <a:effectLst/>
                <a:latin typeface="Bookman Old Style" panose="02050604050505020204" pitchFamily="18" charset="0"/>
              </a:rPr>
              <a:t>:</a:t>
            </a:r>
          </a:p>
          <a:p>
            <a:pPr lvl="1" eaLnBrk="0" fontAlgn="base" hangingPunct="0">
              <a:spcBef>
                <a:spcPct val="0"/>
              </a:spcBef>
              <a:spcAft>
                <a:spcPct val="0"/>
              </a:spcAft>
              <a:buFontTx/>
              <a:buChar char="•"/>
            </a:pPr>
            <a:r>
              <a:rPr kumimoji="0" lang="en-US" altLang="en-US" b="0" i="0" u="none" strike="noStrike" cap="none" normalizeH="0" baseline="0" dirty="0" smtClean="0">
                <a:ln>
                  <a:noFill/>
                </a:ln>
                <a:solidFill>
                  <a:schemeClr val="tx1"/>
                </a:solidFill>
                <a:effectLst/>
                <a:latin typeface="Bookman Old Style" panose="02050604050505020204" pitchFamily="18" charset="0"/>
              </a:rPr>
              <a:t>Number of children had minimal impact on insurance claims.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Bookman Old Style" panose="02050604050505020204" pitchFamily="18" charset="0"/>
            </a:endParaRPr>
          </a:p>
        </p:txBody>
      </p:sp>
    </p:spTree>
    <p:extLst>
      <p:ext uri="{BB962C8B-B14F-4D97-AF65-F5344CB8AC3E}">
        <p14:creationId xmlns:p14="http://schemas.microsoft.com/office/powerpoint/2010/main" val="1700249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9675" y="1195796"/>
            <a:ext cx="10362234" cy="4192814"/>
          </a:xfrm>
          <a:prstGeom prst="rect">
            <a:avLst/>
          </a:prstGeom>
        </p:spPr>
        <p:txBody>
          <a:bodyPr vert="horz" wrap="square" lIns="0" tIns="12065" rIns="0" bIns="0" rtlCol="0">
            <a:spAutoFit/>
          </a:bodyPr>
          <a:lstStyle/>
          <a:p>
            <a:pPr marL="354965" marR="5080" indent="-342900">
              <a:lnSpc>
                <a:spcPct val="150000"/>
              </a:lnSpc>
              <a:spcBef>
                <a:spcPts val="95"/>
              </a:spcBef>
              <a:buClr>
                <a:srgbClr val="9E3611"/>
              </a:buClr>
              <a:buSzPct val="83000"/>
              <a:buFont typeface="Arial" panose="020B0604020202020204" pitchFamily="34" charset="0"/>
              <a:buChar char="•"/>
              <a:tabLst>
                <a:tab pos="195580" algn="l"/>
              </a:tabLst>
            </a:pPr>
            <a:r>
              <a:rPr lang="en-GB" sz="2000" b="1" dirty="0" smtClean="0">
                <a:latin typeface="Bookman Old Style" panose="02050604050505020204" pitchFamily="18" charset="0"/>
              </a:rPr>
              <a:t>HealthInsurancePlans</a:t>
            </a:r>
            <a:r>
              <a:rPr lang="en-GB" sz="2000" b="1" dirty="0">
                <a:latin typeface="Bookman Old Style" panose="02050604050505020204" pitchFamily="18" charset="0"/>
              </a:rPr>
              <a:t>:</a:t>
            </a:r>
            <a:r>
              <a:rPr lang="en-GB" sz="2000" dirty="0">
                <a:latin typeface="Bookman Old Style" panose="02050604050505020204" pitchFamily="18" charset="0"/>
              </a:rPr>
              <a:t/>
            </a:r>
            <a:br>
              <a:rPr lang="en-GB" sz="2000" dirty="0">
                <a:latin typeface="Bookman Old Style" panose="02050604050505020204" pitchFamily="18" charset="0"/>
              </a:rPr>
            </a:br>
            <a:r>
              <a:rPr lang="en-GB" sz="2000" dirty="0">
                <a:latin typeface="Bookman Old Style" panose="02050604050505020204" pitchFamily="18" charset="0"/>
              </a:rPr>
              <a:t>Health insurers can use this data to design better health plans, tailoring them to the health profiles of their customer </a:t>
            </a:r>
            <a:r>
              <a:rPr lang="en-GB" sz="2000" dirty="0" smtClean="0">
                <a:latin typeface="Bookman Old Style" panose="02050604050505020204" pitchFamily="18" charset="0"/>
              </a:rPr>
              <a:t>base.</a:t>
            </a:r>
          </a:p>
          <a:p>
            <a:pPr marL="354965" marR="5080" indent="-342900">
              <a:lnSpc>
                <a:spcPct val="150000"/>
              </a:lnSpc>
              <a:spcBef>
                <a:spcPts val="95"/>
              </a:spcBef>
              <a:buClr>
                <a:srgbClr val="9E3611"/>
              </a:buClr>
              <a:buSzPct val="83000"/>
              <a:buFont typeface="Arial" panose="020B0604020202020204" pitchFamily="34" charset="0"/>
              <a:buChar char="•"/>
              <a:tabLst>
                <a:tab pos="195580" algn="l"/>
              </a:tabLst>
            </a:pPr>
            <a:r>
              <a:rPr lang="en-GB" sz="2000" b="1" dirty="0">
                <a:latin typeface="Bookman Old Style" panose="02050604050505020204" pitchFamily="18" charset="0"/>
              </a:rPr>
              <a:t>Customer Insights and Retention:</a:t>
            </a:r>
            <a:r>
              <a:rPr lang="en-GB" sz="2000" dirty="0">
                <a:latin typeface="Bookman Old Style" panose="02050604050505020204" pitchFamily="18" charset="0"/>
              </a:rPr>
              <a:t/>
            </a:r>
            <a:br>
              <a:rPr lang="en-GB" sz="2000" dirty="0">
                <a:latin typeface="Bookman Old Style" panose="02050604050505020204" pitchFamily="18" charset="0"/>
              </a:rPr>
            </a:br>
            <a:r>
              <a:rPr lang="en-GB" sz="2000" dirty="0">
                <a:latin typeface="Bookman Old Style" panose="02050604050505020204" pitchFamily="18" charset="0"/>
              </a:rPr>
              <a:t>Insurance companies can leverage the data insights to better understand customer </a:t>
            </a:r>
            <a:r>
              <a:rPr lang="en-GB" sz="2000" dirty="0" err="1">
                <a:latin typeface="Bookman Old Style" panose="02050604050505020204" pitchFamily="18" charset="0"/>
              </a:rPr>
              <a:t>behavior</a:t>
            </a:r>
            <a:r>
              <a:rPr lang="en-GB" sz="2000" dirty="0">
                <a:latin typeface="Bookman Old Style" panose="02050604050505020204" pitchFamily="18" charset="0"/>
              </a:rPr>
              <a:t> and preferences. For example, knowing that non-smokers or certain age groups tend to have fewer claims can help insurers offer personalized services or incentives to retain customers</a:t>
            </a:r>
            <a:r>
              <a:rPr lang="en-GB" sz="2000" dirty="0" smtClean="0">
                <a:latin typeface="Bookman Old Style" panose="02050604050505020204" pitchFamily="18" charset="0"/>
              </a:rPr>
              <a:t>.</a:t>
            </a:r>
          </a:p>
          <a:p>
            <a:pPr marL="12065" marR="5080">
              <a:lnSpc>
                <a:spcPct val="150000"/>
              </a:lnSpc>
              <a:spcBef>
                <a:spcPts val="95"/>
              </a:spcBef>
              <a:buClr>
                <a:srgbClr val="9E3611"/>
              </a:buClr>
              <a:buSzPct val="83000"/>
              <a:tabLst>
                <a:tab pos="195580" algn="l"/>
              </a:tabLst>
            </a:pPr>
            <a:endParaRPr lang="en-US" sz="2000" dirty="0">
              <a:latin typeface="Bookman Old Style" panose="02050604050505020204" pitchFamily="18" charset="0"/>
            </a:endParaRPr>
          </a:p>
        </p:txBody>
      </p:sp>
      <p:grpSp>
        <p:nvGrpSpPr>
          <p:cNvPr id="4" name="object 4"/>
          <p:cNvGrpSpPr/>
          <p:nvPr/>
        </p:nvGrpSpPr>
        <p:grpSpPr>
          <a:xfrm>
            <a:off x="-83457" y="-25400"/>
            <a:ext cx="12242800" cy="6908800"/>
            <a:chOff x="-24638" y="0"/>
            <a:chExt cx="12242800" cy="6908800"/>
          </a:xfrm>
        </p:grpSpPr>
        <p:sp>
          <p:nvSpPr>
            <p:cNvPr id="5" name="object 5"/>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pic>
          <p:nvPicPr>
            <p:cNvPr id="6" name="object 6"/>
            <p:cNvPicPr/>
            <p:nvPr/>
          </p:nvPicPr>
          <p:blipFill>
            <a:blip r:embed="rId2" cstate="print"/>
            <a:stretch>
              <a:fillRect/>
            </a:stretch>
          </p:blipFill>
          <p:spPr>
            <a:xfrm>
              <a:off x="368067" y="198526"/>
              <a:ext cx="716267" cy="536448"/>
            </a:xfrm>
            <a:prstGeom prst="rect">
              <a:avLst/>
            </a:prstGeom>
          </p:spPr>
        </p:pic>
        <p:sp>
          <p:nvSpPr>
            <p:cNvPr id="7" name="object 7"/>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grpSp>
      <p:sp>
        <p:nvSpPr>
          <p:cNvPr id="8" name="object 8"/>
          <p:cNvSpPr txBox="1"/>
          <p:nvPr/>
        </p:nvSpPr>
        <p:spPr>
          <a:xfrm>
            <a:off x="11506200" y="6346187"/>
            <a:ext cx="228600" cy="235585"/>
          </a:xfrm>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z="1400" b="1" spc="-225" dirty="0">
                <a:solidFill>
                  <a:srgbClr val="FFFFFF"/>
                </a:solidFill>
                <a:latin typeface="Trebuchet MS" panose="020B0603020202020204"/>
                <a:cs typeface="Trebuchet MS" panose="020B0603020202020204"/>
              </a:rPr>
              <a:t>15</a:t>
            </a:fld>
            <a:endParaRPr sz="1400" dirty="0">
              <a:latin typeface="Trebuchet MS" panose="020B0603020202020204"/>
              <a:cs typeface="Trebuchet MS" panose="020B0603020202020204"/>
            </a:endParaRPr>
          </a:p>
        </p:txBody>
      </p:sp>
      <p:sp>
        <p:nvSpPr>
          <p:cNvPr id="9" name="object 9"/>
          <p:cNvSpPr txBox="1">
            <a:spLocks noGrp="1"/>
          </p:cNvSpPr>
          <p:nvPr>
            <p:ph type="ftr" sz="quarter" idx="5"/>
          </p:nvPr>
        </p:nvSpPr>
        <p:spPr>
          <a:prstGeom prst="rect">
            <a:avLst/>
          </a:prstGeom>
        </p:spPr>
        <p:txBody>
          <a:bodyPr vert="horz" wrap="square" lIns="0" tIns="2540" rIns="0" bIns="0" rtlCol="0">
            <a:spAutoFit/>
          </a:bodyPr>
          <a:lstStyle/>
          <a:p>
            <a:pPr marL="12700">
              <a:lnSpc>
                <a:spcPct val="100000"/>
              </a:lnSpc>
              <a:spcBef>
                <a:spcPts val="20"/>
              </a:spcBef>
            </a:pPr>
            <a:r>
              <a:rPr spc="-155" dirty="0"/>
              <a:t>©</a:t>
            </a:r>
            <a:r>
              <a:rPr spc="140" dirty="0"/>
              <a:t> </a:t>
            </a:r>
            <a:r>
              <a:rPr spc="105" dirty="0"/>
              <a:t>BVRIT</a:t>
            </a:r>
            <a:r>
              <a:rPr spc="135" dirty="0"/>
              <a:t> </a:t>
            </a:r>
            <a:r>
              <a:rPr spc="85" dirty="0"/>
              <a:t>CSE(AI&amp;ML)</a:t>
            </a:r>
          </a:p>
        </p:txBody>
      </p:sp>
      <p:sp>
        <p:nvSpPr>
          <p:cNvPr id="13" name="Title 12"/>
          <p:cNvSpPr>
            <a:spLocks noGrp="1"/>
          </p:cNvSpPr>
          <p:nvPr>
            <p:ph type="title"/>
          </p:nvPr>
        </p:nvSpPr>
        <p:spPr>
          <a:xfrm>
            <a:off x="1219200" y="198526"/>
            <a:ext cx="3233883" cy="427747"/>
          </a:xfrm>
        </p:spPr>
        <p:txBody>
          <a:bodyPr/>
          <a:lstStyle/>
          <a:p>
            <a:r>
              <a:rPr lang="en-IN" u="none" dirty="0">
                <a:latin typeface="Bookman Old Style" panose="02050604050505020204" pitchFamily="18" charset="0"/>
              </a:rPr>
              <a:t>APPLICATIONS</a:t>
            </a:r>
          </a:p>
        </p:txBody>
      </p:sp>
      <p:sp>
        <p:nvSpPr>
          <p:cNvPr id="19" name="object 7"/>
          <p:cNvSpPr/>
          <p:nvPr/>
        </p:nvSpPr>
        <p:spPr>
          <a:xfrm>
            <a:off x="382748" y="778319"/>
            <a:ext cx="4127733" cy="45719"/>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9901" y="256733"/>
            <a:ext cx="5570474" cy="505267"/>
          </a:xfrm>
          <a:prstGeom prst="rect">
            <a:avLst/>
          </a:prstGeom>
        </p:spPr>
        <p:txBody>
          <a:bodyPr vert="horz" wrap="square" lIns="0" tIns="12700" rIns="0" bIns="0" rtlCol="0">
            <a:spAutoFit/>
          </a:bodyPr>
          <a:lstStyle/>
          <a:p>
            <a:pPr marL="12700">
              <a:lnSpc>
                <a:spcPct val="100000"/>
              </a:lnSpc>
              <a:spcBef>
                <a:spcPts val="100"/>
              </a:spcBef>
              <a:tabLst>
                <a:tab pos="2894330" algn="l"/>
              </a:tabLst>
            </a:pPr>
            <a:r>
              <a:rPr lang="en-GB" u="none" dirty="0" smtClean="0">
                <a:latin typeface="Bookman Old Style" panose="02050604050505020204" pitchFamily="18" charset="0"/>
              </a:rPr>
              <a:t>CONCLUSION</a:t>
            </a:r>
            <a:endParaRPr u="none" dirty="0">
              <a:latin typeface="Bookman Old Style" panose="02050604050505020204" pitchFamily="18" charset="0"/>
            </a:endParaRPr>
          </a:p>
        </p:txBody>
      </p:sp>
      <p:sp>
        <p:nvSpPr>
          <p:cNvPr id="3" name="object 3"/>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sp>
        <p:nvSpPr>
          <p:cNvPr id="4" name="object 4"/>
          <p:cNvSpPr txBox="1"/>
          <p:nvPr/>
        </p:nvSpPr>
        <p:spPr>
          <a:xfrm>
            <a:off x="11543792" y="6329883"/>
            <a:ext cx="177800" cy="228268"/>
          </a:xfrm>
          <a:prstGeom prst="rect">
            <a:avLst/>
          </a:prstGeom>
        </p:spPr>
        <p:txBody>
          <a:bodyPr vert="horz" wrap="square" lIns="0" tIns="12700" rIns="0" bIns="0" rtlCol="0">
            <a:spAutoFit/>
          </a:bodyPr>
          <a:lstStyle/>
          <a:p>
            <a:pPr marL="12700">
              <a:lnSpc>
                <a:spcPct val="100000"/>
              </a:lnSpc>
              <a:spcBef>
                <a:spcPts val="100"/>
              </a:spcBef>
            </a:pPr>
            <a:r>
              <a:rPr sz="1400" b="1" spc="-225" dirty="0">
                <a:solidFill>
                  <a:srgbClr val="FFFFFF"/>
                </a:solidFill>
                <a:latin typeface="Trebuchet MS" panose="020B0603020202020204"/>
                <a:cs typeface="Trebuchet MS" panose="020B0603020202020204"/>
              </a:rPr>
              <a:t>1</a:t>
            </a:r>
            <a:r>
              <a:rPr lang="en-IN" sz="1400" b="1" spc="-225" dirty="0">
                <a:solidFill>
                  <a:srgbClr val="FFFFFF"/>
                </a:solidFill>
                <a:latin typeface="Trebuchet MS" panose="020B0603020202020204"/>
                <a:cs typeface="Trebuchet MS" panose="020B0603020202020204"/>
              </a:rPr>
              <a:t>4</a:t>
            </a:r>
            <a:endParaRPr sz="1400" dirty="0">
              <a:latin typeface="Trebuchet MS" panose="020B0603020202020204"/>
              <a:cs typeface="Trebuchet MS" panose="020B0603020202020204"/>
            </a:endParaRPr>
          </a:p>
        </p:txBody>
      </p:sp>
      <p:pic>
        <p:nvPicPr>
          <p:cNvPr id="5" name="Picture 4"/>
          <p:cNvPicPr>
            <a:picLocks noChangeAspect="1"/>
          </p:cNvPicPr>
          <p:nvPr/>
        </p:nvPicPr>
        <p:blipFill>
          <a:blip r:embed="rId2"/>
          <a:stretch>
            <a:fillRect/>
          </a:stretch>
        </p:blipFill>
        <p:spPr>
          <a:xfrm>
            <a:off x="228600" y="152400"/>
            <a:ext cx="719390" cy="536494"/>
          </a:xfrm>
          <a:prstGeom prst="rect">
            <a:avLst/>
          </a:prstGeom>
        </p:spPr>
      </p:pic>
      <p:sp>
        <p:nvSpPr>
          <p:cNvPr id="8" name="object 10"/>
          <p:cNvSpPr/>
          <p:nvPr/>
        </p:nvSpPr>
        <p:spPr>
          <a:xfrm>
            <a:off x="152400" y="762000"/>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dirty="0"/>
          </a:p>
        </p:txBody>
      </p:sp>
      <p:sp>
        <p:nvSpPr>
          <p:cNvPr id="7" name="TextBox 6"/>
          <p:cNvSpPr txBox="1"/>
          <p:nvPr/>
        </p:nvSpPr>
        <p:spPr>
          <a:xfrm>
            <a:off x="4800600" y="6418989"/>
            <a:ext cx="6119768" cy="369332"/>
          </a:xfrm>
          <a:prstGeom prst="rect">
            <a:avLst/>
          </a:prstGeom>
          <a:noFill/>
        </p:spPr>
        <p:txBody>
          <a:bodyPr wrap="square">
            <a:spAutoFit/>
          </a:bodyPr>
          <a:lstStyle/>
          <a:p>
            <a:pPr marL="12700">
              <a:lnSpc>
                <a:spcPct val="100000"/>
              </a:lnSpc>
              <a:spcBef>
                <a:spcPts val="20"/>
              </a:spcBef>
            </a:pPr>
            <a:r>
              <a:rPr lang="en-IN" spc="-155" dirty="0"/>
              <a:t>©</a:t>
            </a:r>
            <a:r>
              <a:rPr lang="en-IN" spc="140" dirty="0"/>
              <a:t> </a:t>
            </a:r>
            <a:r>
              <a:rPr lang="en-IN" spc="105" dirty="0"/>
              <a:t>BVRIT</a:t>
            </a:r>
            <a:r>
              <a:rPr lang="en-IN" spc="135" dirty="0"/>
              <a:t> </a:t>
            </a:r>
            <a:r>
              <a:rPr lang="en-IN" spc="85" dirty="0"/>
              <a:t>CSE(AI&amp;ML)</a:t>
            </a:r>
          </a:p>
        </p:txBody>
      </p:sp>
      <p:sp>
        <p:nvSpPr>
          <p:cNvPr id="9" name="object 10"/>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dirty="0"/>
          </a:p>
        </p:txBody>
      </p:sp>
      <p:sp>
        <p:nvSpPr>
          <p:cNvPr id="6" name="TextBox 5"/>
          <p:cNvSpPr txBox="1"/>
          <p:nvPr/>
        </p:nvSpPr>
        <p:spPr>
          <a:xfrm>
            <a:off x="1447800" y="2286000"/>
            <a:ext cx="5257800" cy="1524000"/>
          </a:xfrm>
          <a:prstGeom prst="rect">
            <a:avLst/>
          </a:prstGeom>
          <a:noFill/>
        </p:spPr>
        <p:txBody>
          <a:bodyPr wrap="square" rtlCol="0">
            <a:spAutoFit/>
          </a:bodyPr>
          <a:lstStyle/>
          <a:p>
            <a:endParaRPr lang="en-IN" dirty="0"/>
          </a:p>
        </p:txBody>
      </p:sp>
      <p:sp>
        <p:nvSpPr>
          <p:cNvPr id="12" name="Rectangle 2"/>
          <p:cNvSpPr>
            <a:spLocks noChangeArrowheads="1"/>
          </p:cNvSpPr>
          <p:nvPr/>
        </p:nvSpPr>
        <p:spPr bwMode="auto">
          <a:xfrm>
            <a:off x="236129" y="1536935"/>
            <a:ext cx="1149299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smtClean="0">
                <a:ln>
                  <a:noFill/>
                </a:ln>
                <a:solidFill>
                  <a:schemeClr val="tx1"/>
                </a:solidFill>
                <a:effectLst/>
                <a:latin typeface="Bookman Old Style" panose="02050604050505020204" pitchFamily="18" charset="0"/>
              </a:rPr>
              <a:t>This project successfully demonstrated the </a:t>
            </a:r>
            <a:r>
              <a:rPr kumimoji="0" lang="en-US" altLang="en-US" sz="2000" b="1" i="0" u="none" strike="noStrike" cap="none" normalizeH="0" baseline="0" dirty="0" smtClean="0">
                <a:ln>
                  <a:noFill/>
                </a:ln>
                <a:solidFill>
                  <a:schemeClr val="tx1"/>
                </a:solidFill>
                <a:effectLst/>
                <a:latin typeface="Bookman Old Style" panose="02050604050505020204" pitchFamily="18" charset="0"/>
              </a:rPr>
              <a:t>power of data analytics and visualization</a:t>
            </a:r>
            <a:r>
              <a:rPr kumimoji="0" lang="en-US" altLang="en-US" sz="2000" b="0" i="0" u="none" strike="noStrike" cap="none" normalizeH="0" baseline="0" dirty="0" smtClean="0">
                <a:ln>
                  <a:noFill/>
                </a:ln>
                <a:solidFill>
                  <a:schemeClr val="tx1"/>
                </a:solidFill>
                <a:effectLst/>
                <a:latin typeface="Bookman Old Style" panose="02050604050505020204" pitchFamily="18" charset="0"/>
              </a:rPr>
              <a:t> in understanding health insurance claim patterns.</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smtClean="0">
              <a:ln>
                <a:noFill/>
              </a:ln>
              <a:solidFill>
                <a:schemeClr val="tx1"/>
              </a:solidFill>
              <a:effectLst/>
              <a:latin typeface="Bookman Old Style" panose="02050604050505020204" pitchFamily="18" charset="0"/>
            </a:endParaRP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smtClean="0">
                <a:ln>
                  <a:noFill/>
                </a:ln>
                <a:solidFill>
                  <a:schemeClr val="tx1"/>
                </a:solidFill>
                <a:effectLst/>
                <a:latin typeface="Bookman Old Style" panose="02050604050505020204" pitchFamily="18" charset="0"/>
              </a:rPr>
              <a:t>By analyzing demographic and health-related attributes, we identified </a:t>
            </a:r>
            <a:r>
              <a:rPr kumimoji="0" lang="en-US" altLang="en-US" sz="2000" b="1" i="0" u="none" strike="noStrike" cap="none" normalizeH="0" baseline="0" dirty="0" smtClean="0">
                <a:ln>
                  <a:noFill/>
                </a:ln>
                <a:solidFill>
                  <a:schemeClr val="tx1"/>
                </a:solidFill>
                <a:effectLst/>
                <a:latin typeface="Bookman Old Style" panose="02050604050505020204" pitchFamily="18" charset="0"/>
              </a:rPr>
              <a:t>key factors</a:t>
            </a:r>
            <a:r>
              <a:rPr kumimoji="0" lang="en-US" altLang="en-US" sz="2000" b="0" i="0" u="none" strike="noStrike" cap="none" normalizeH="0" baseline="0" dirty="0" smtClean="0">
                <a:ln>
                  <a:noFill/>
                </a:ln>
                <a:solidFill>
                  <a:schemeClr val="tx1"/>
                </a:solidFill>
                <a:effectLst/>
                <a:latin typeface="Bookman Old Style" panose="02050604050505020204" pitchFamily="18" charset="0"/>
              </a:rPr>
              <a:t> such as age, BMI, and smoking status that </a:t>
            </a:r>
            <a:r>
              <a:rPr kumimoji="0" lang="en-US" altLang="en-US" sz="2000" b="1" i="0" u="none" strike="noStrike" cap="none" normalizeH="0" baseline="0" dirty="0" smtClean="0">
                <a:ln>
                  <a:noFill/>
                </a:ln>
                <a:solidFill>
                  <a:schemeClr val="tx1"/>
                </a:solidFill>
                <a:effectLst/>
                <a:latin typeface="Bookman Old Style" panose="02050604050505020204" pitchFamily="18" charset="0"/>
              </a:rPr>
              <a:t>significantly influence claim amounts</a:t>
            </a:r>
            <a:r>
              <a:rPr kumimoji="0" lang="en-US" altLang="en-US" sz="2000" b="0" i="0" u="none" strike="noStrike" cap="none" normalizeH="0" baseline="0" dirty="0" smtClean="0">
                <a:ln>
                  <a:noFill/>
                </a:ln>
                <a:solidFill>
                  <a:schemeClr val="tx1"/>
                </a:solidFill>
                <a:effectLst/>
                <a:latin typeface="Bookman Old Style" panose="02050604050505020204" pitchFamily="18" charset="0"/>
              </a:rPr>
              <a:t>.</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smtClean="0">
              <a:ln>
                <a:noFill/>
              </a:ln>
              <a:solidFill>
                <a:schemeClr val="tx1"/>
              </a:solidFill>
              <a:effectLst/>
              <a:latin typeface="Bookman Old Style" panose="02050604050505020204" pitchFamily="18" charset="0"/>
            </a:endParaRP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smtClean="0">
                <a:ln>
                  <a:noFill/>
                </a:ln>
                <a:solidFill>
                  <a:schemeClr val="tx1"/>
                </a:solidFill>
                <a:effectLst/>
                <a:latin typeface="Bookman Old Style" panose="02050604050505020204" pitchFamily="18" charset="0"/>
              </a:rPr>
              <a:t>Ultimately, this project empowers insurance companies to:</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smtClean="0">
                <a:ln>
                  <a:noFill/>
                </a:ln>
                <a:solidFill>
                  <a:schemeClr val="tx1"/>
                </a:solidFill>
                <a:effectLst/>
                <a:latin typeface="Bookman Old Style" panose="02050604050505020204" pitchFamily="18" charset="0"/>
              </a:rPr>
              <a:t>Design </a:t>
            </a:r>
            <a:r>
              <a:rPr kumimoji="0" lang="en-US" altLang="en-US" sz="2000" b="1" i="0" u="none" strike="noStrike" cap="none" normalizeH="0" baseline="0" dirty="0" smtClean="0">
                <a:ln>
                  <a:noFill/>
                </a:ln>
                <a:solidFill>
                  <a:schemeClr val="tx1"/>
                </a:solidFill>
                <a:effectLst/>
                <a:latin typeface="Bookman Old Style" panose="02050604050505020204" pitchFamily="18" charset="0"/>
              </a:rPr>
              <a:t>more personalized health plans</a:t>
            </a:r>
            <a:endParaRPr kumimoji="0" lang="en-US" altLang="en-US" sz="2000" b="0" i="0" u="none" strike="noStrike" cap="none" normalizeH="0" baseline="0" dirty="0" smtClean="0">
              <a:ln>
                <a:noFill/>
              </a:ln>
              <a:solidFill>
                <a:schemeClr val="tx1"/>
              </a:solidFill>
              <a:effectLst/>
              <a:latin typeface="Bookman Old Style" panose="02050604050505020204" pitchFamily="18"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smtClean="0">
                <a:ln>
                  <a:noFill/>
                </a:ln>
                <a:solidFill>
                  <a:schemeClr val="tx1"/>
                </a:solidFill>
                <a:effectLst/>
                <a:latin typeface="Bookman Old Style" panose="02050604050505020204" pitchFamily="18" charset="0"/>
              </a:rPr>
              <a:t>Improve </a:t>
            </a:r>
            <a:r>
              <a:rPr kumimoji="0" lang="en-US" altLang="en-US" sz="2000" b="1" i="0" u="none" strike="noStrike" cap="none" normalizeH="0" baseline="0" dirty="0" smtClean="0">
                <a:ln>
                  <a:noFill/>
                </a:ln>
                <a:solidFill>
                  <a:schemeClr val="tx1"/>
                </a:solidFill>
                <a:effectLst/>
                <a:latin typeface="Bookman Old Style" panose="02050604050505020204" pitchFamily="18" charset="0"/>
              </a:rPr>
              <a:t>risk assessment</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smtClean="0">
              <a:ln>
                <a:noFill/>
              </a:ln>
              <a:solidFill>
                <a:schemeClr val="tx1"/>
              </a:solidFill>
              <a:effectLst/>
              <a:latin typeface="Bookman Old Style" panose="02050604050505020204" pitchFamily="18" charset="0"/>
            </a:endParaRP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smtClean="0">
                <a:ln>
                  <a:noFill/>
                </a:ln>
                <a:solidFill>
                  <a:schemeClr val="tx1"/>
                </a:solidFill>
                <a:effectLst/>
                <a:latin typeface="Bookman Old Style" panose="02050604050505020204" pitchFamily="18" charset="0"/>
              </a:rPr>
              <a:t>Future enhancements can include </a:t>
            </a:r>
            <a:r>
              <a:rPr kumimoji="0" lang="en-US" altLang="en-US" sz="2000" b="1" i="0" u="none" strike="noStrike" cap="none" normalizeH="0" baseline="0" dirty="0" smtClean="0">
                <a:ln>
                  <a:noFill/>
                </a:ln>
                <a:solidFill>
                  <a:schemeClr val="tx1"/>
                </a:solidFill>
                <a:effectLst/>
                <a:latin typeface="Bookman Old Style" panose="02050604050505020204" pitchFamily="18" charset="0"/>
              </a:rPr>
              <a:t>real-time data integration</a:t>
            </a:r>
            <a:r>
              <a:rPr kumimoji="0" lang="en-US" altLang="en-US" sz="2000" b="0" i="0" u="none" strike="noStrike" cap="none" normalizeH="0" baseline="0" dirty="0" smtClean="0">
                <a:ln>
                  <a:noFill/>
                </a:ln>
                <a:solidFill>
                  <a:schemeClr val="tx1"/>
                </a:solidFill>
                <a:effectLst/>
                <a:latin typeface="Bookman Old Style" panose="02050604050505020204" pitchFamily="18" charset="0"/>
              </a:rPr>
              <a:t>, </a:t>
            </a:r>
            <a:r>
              <a:rPr kumimoji="0" lang="en-US" altLang="en-US" sz="2000" b="1" i="0" u="none" strike="noStrike" cap="none" normalizeH="0" baseline="0" dirty="0" smtClean="0">
                <a:ln>
                  <a:noFill/>
                </a:ln>
                <a:solidFill>
                  <a:schemeClr val="tx1"/>
                </a:solidFill>
                <a:effectLst/>
                <a:latin typeface="Bookman Old Style" panose="02050604050505020204" pitchFamily="18" charset="0"/>
              </a:rPr>
              <a:t>predictive modeling</a:t>
            </a:r>
            <a:r>
              <a:rPr kumimoji="0" lang="en-US" altLang="en-US" sz="2000" b="0" i="0" u="none" strike="noStrike" cap="none" normalizeH="0" baseline="0" dirty="0" smtClean="0">
                <a:ln>
                  <a:noFill/>
                </a:ln>
                <a:solidFill>
                  <a:schemeClr val="tx1"/>
                </a:solidFill>
                <a:effectLst/>
                <a:latin typeface="Bookman Old Style" panose="02050604050505020204" pitchFamily="18" charset="0"/>
              </a:rPr>
              <a:t>, and </a:t>
            </a:r>
            <a:r>
              <a:rPr kumimoji="0" lang="en-US" altLang="en-US" sz="2000" b="1" i="0" u="none" strike="noStrike" cap="none" normalizeH="0" baseline="0" dirty="0" smtClean="0">
                <a:ln>
                  <a:noFill/>
                </a:ln>
                <a:solidFill>
                  <a:schemeClr val="tx1"/>
                </a:solidFill>
                <a:effectLst/>
                <a:latin typeface="Bookman Old Style" panose="02050604050505020204" pitchFamily="18" charset="0"/>
              </a:rPr>
              <a:t>integration with external health data sources</a:t>
            </a:r>
            <a:r>
              <a:rPr kumimoji="0" lang="en-US" altLang="en-US" sz="2000" b="0" i="0" u="none" strike="noStrike" cap="none" normalizeH="0" baseline="0" dirty="0" smtClean="0">
                <a:ln>
                  <a:noFill/>
                </a:ln>
                <a:solidFill>
                  <a:schemeClr val="tx1"/>
                </a:solidFill>
                <a:effectLst/>
                <a:latin typeface="Bookman Old Style" panose="02050604050505020204" pitchFamily="18" charset="0"/>
              </a:rPr>
              <a:t>.</a:t>
            </a:r>
          </a:p>
        </p:txBody>
      </p:sp>
    </p:spTree>
    <p:extLst>
      <p:ext uri="{BB962C8B-B14F-4D97-AF65-F5344CB8AC3E}">
        <p14:creationId xmlns:p14="http://schemas.microsoft.com/office/powerpoint/2010/main" val="862323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401043" y="6230111"/>
            <a:ext cx="457200" cy="457200"/>
            <a:chOff x="11401043" y="6230111"/>
            <a:chExt cx="457200" cy="457200"/>
          </a:xfrm>
        </p:grpSpPr>
        <p:pic>
          <p:nvPicPr>
            <p:cNvPr id="3" name="object 3"/>
            <p:cNvPicPr/>
            <p:nvPr/>
          </p:nvPicPr>
          <p:blipFill>
            <a:blip r:embed="rId2" cstate="print"/>
            <a:stretch>
              <a:fillRect/>
            </a:stretch>
          </p:blipFill>
          <p:spPr>
            <a:xfrm>
              <a:off x="11401043" y="6230111"/>
              <a:ext cx="457200" cy="457200"/>
            </a:xfrm>
            <a:prstGeom prst="rect">
              <a:avLst/>
            </a:prstGeom>
          </p:spPr>
        </p:pic>
        <p:sp>
          <p:nvSpPr>
            <p:cNvPr id="4" name="object 4"/>
            <p:cNvSpPr/>
            <p:nvPr/>
          </p:nvSpPr>
          <p:spPr>
            <a:xfrm>
              <a:off x="11431523" y="6259067"/>
              <a:ext cx="398145" cy="399415"/>
            </a:xfrm>
            <a:custGeom>
              <a:avLst/>
              <a:gdLst/>
              <a:ahLst/>
              <a:cxnLst/>
              <a:rect l="l" t="t" r="r" b="b"/>
              <a:pathLst>
                <a:path w="398145" h="399415">
                  <a:moveTo>
                    <a:pt x="0" y="199643"/>
                  </a:moveTo>
                  <a:lnTo>
                    <a:pt x="5251" y="153867"/>
                  </a:lnTo>
                  <a:lnTo>
                    <a:pt x="20211" y="111845"/>
                  </a:lnTo>
                  <a:lnTo>
                    <a:pt x="43687" y="74776"/>
                  </a:lnTo>
                  <a:lnTo>
                    <a:pt x="74484" y="43859"/>
                  </a:lnTo>
                  <a:lnTo>
                    <a:pt x="111411" y="20291"/>
                  </a:lnTo>
                  <a:lnTo>
                    <a:pt x="153275" y="5272"/>
                  </a:lnTo>
                  <a:lnTo>
                    <a:pt x="198881" y="0"/>
                  </a:lnTo>
                  <a:lnTo>
                    <a:pt x="244488" y="5272"/>
                  </a:lnTo>
                  <a:lnTo>
                    <a:pt x="286352" y="20291"/>
                  </a:lnTo>
                  <a:lnTo>
                    <a:pt x="323279" y="43859"/>
                  </a:lnTo>
                  <a:lnTo>
                    <a:pt x="354076" y="74776"/>
                  </a:lnTo>
                  <a:lnTo>
                    <a:pt x="377552" y="111845"/>
                  </a:lnTo>
                  <a:lnTo>
                    <a:pt x="392512" y="153867"/>
                  </a:lnTo>
                  <a:lnTo>
                    <a:pt x="397764" y="199643"/>
                  </a:lnTo>
                  <a:lnTo>
                    <a:pt x="392512" y="245420"/>
                  </a:lnTo>
                  <a:lnTo>
                    <a:pt x="377552" y="287442"/>
                  </a:lnTo>
                  <a:lnTo>
                    <a:pt x="354076" y="324511"/>
                  </a:lnTo>
                  <a:lnTo>
                    <a:pt x="323279" y="355428"/>
                  </a:lnTo>
                  <a:lnTo>
                    <a:pt x="286352" y="378996"/>
                  </a:lnTo>
                  <a:lnTo>
                    <a:pt x="244488" y="394015"/>
                  </a:lnTo>
                  <a:lnTo>
                    <a:pt x="198881" y="399287"/>
                  </a:lnTo>
                  <a:lnTo>
                    <a:pt x="153275" y="394015"/>
                  </a:lnTo>
                  <a:lnTo>
                    <a:pt x="111411" y="378996"/>
                  </a:lnTo>
                  <a:lnTo>
                    <a:pt x="74484" y="355428"/>
                  </a:lnTo>
                  <a:lnTo>
                    <a:pt x="43687" y="324511"/>
                  </a:lnTo>
                  <a:lnTo>
                    <a:pt x="20211" y="287442"/>
                  </a:lnTo>
                  <a:lnTo>
                    <a:pt x="5251" y="245420"/>
                  </a:lnTo>
                  <a:lnTo>
                    <a:pt x="0" y="199643"/>
                  </a:lnTo>
                  <a:close/>
                </a:path>
              </a:pathLst>
            </a:custGeom>
            <a:ln w="12700">
              <a:solidFill>
                <a:srgbClr val="FFFFFF"/>
              </a:solidFill>
            </a:ln>
          </p:spPr>
          <p:txBody>
            <a:bodyPr wrap="square" lIns="0" tIns="0" rIns="0" bIns="0" rtlCol="0"/>
            <a:lstStyle/>
            <a:p>
              <a:endParaRPr/>
            </a:p>
          </p:txBody>
        </p:sp>
      </p:grpSp>
      <p:sp>
        <p:nvSpPr>
          <p:cNvPr id="5" name="object 5"/>
          <p:cNvSpPr txBox="1">
            <a:spLocks noGrp="1"/>
          </p:cNvSpPr>
          <p:nvPr>
            <p:ph type="title"/>
          </p:nvPr>
        </p:nvSpPr>
        <p:spPr>
          <a:xfrm>
            <a:off x="1062757" y="283482"/>
            <a:ext cx="3529965" cy="514350"/>
          </a:xfrm>
          <a:prstGeom prst="rect">
            <a:avLst/>
          </a:prstGeom>
        </p:spPr>
        <p:txBody>
          <a:bodyPr vert="horz" wrap="square" lIns="0" tIns="13335" rIns="0" bIns="0" rtlCol="0">
            <a:spAutoFit/>
          </a:bodyPr>
          <a:lstStyle/>
          <a:p>
            <a:pPr marL="12700">
              <a:lnSpc>
                <a:spcPct val="100000"/>
              </a:lnSpc>
              <a:spcBef>
                <a:spcPts val="105"/>
              </a:spcBef>
              <a:tabLst>
                <a:tab pos="1094740" algn="l"/>
              </a:tabLst>
            </a:pPr>
            <a:r>
              <a:rPr lang="en-IN" b="1" u="none" spc="125" dirty="0">
                <a:latin typeface="Bookman Old Style" panose="02050604050505020204" pitchFamily="18" charset="0"/>
              </a:rPr>
              <a:t>  REFERENCES</a:t>
            </a:r>
            <a:endParaRPr u="none" dirty="0">
              <a:latin typeface="Bookman Old Style" panose="02050604050505020204" pitchFamily="18" charset="0"/>
            </a:endParaRPr>
          </a:p>
        </p:txBody>
      </p:sp>
      <p:grpSp>
        <p:nvGrpSpPr>
          <p:cNvPr id="7" name="object 7"/>
          <p:cNvGrpSpPr/>
          <p:nvPr/>
        </p:nvGrpSpPr>
        <p:grpSpPr>
          <a:xfrm>
            <a:off x="-24638" y="0"/>
            <a:ext cx="12242800" cy="6908800"/>
            <a:chOff x="-24638" y="0"/>
            <a:chExt cx="12242800" cy="6908800"/>
          </a:xfrm>
        </p:grpSpPr>
        <p:sp>
          <p:nvSpPr>
            <p:cNvPr id="8" name="object 8"/>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pic>
          <p:nvPicPr>
            <p:cNvPr id="9" name="object 9"/>
            <p:cNvPicPr/>
            <p:nvPr/>
          </p:nvPicPr>
          <p:blipFill>
            <a:blip r:embed="rId3" cstate="print"/>
            <a:stretch>
              <a:fillRect/>
            </a:stretch>
          </p:blipFill>
          <p:spPr>
            <a:xfrm>
              <a:off x="368067" y="198526"/>
              <a:ext cx="716267" cy="536448"/>
            </a:xfrm>
            <a:prstGeom prst="rect">
              <a:avLst/>
            </a:prstGeom>
          </p:spPr>
        </p:pic>
        <p:sp>
          <p:nvSpPr>
            <p:cNvPr id="10" name="object 10"/>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dirty="0"/>
            </a:p>
          </p:txBody>
        </p:sp>
      </p:grpSp>
      <p:sp>
        <p:nvSpPr>
          <p:cNvPr id="11" name="object 11"/>
          <p:cNvSpPr txBox="1"/>
          <p:nvPr/>
        </p:nvSpPr>
        <p:spPr>
          <a:xfrm>
            <a:off x="11518392" y="6340418"/>
            <a:ext cx="228600" cy="235585"/>
          </a:xfrm>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z="1400" b="1" spc="-225" dirty="0">
                <a:solidFill>
                  <a:srgbClr val="FFFFFF"/>
                </a:solidFill>
                <a:latin typeface="Trebuchet MS" panose="020B0603020202020204"/>
                <a:cs typeface="Trebuchet MS" panose="020B0603020202020204"/>
              </a:rPr>
              <a:t>17</a:t>
            </a:fld>
            <a:endParaRPr sz="1400">
              <a:latin typeface="Trebuchet MS" panose="020B0603020202020204"/>
              <a:cs typeface="Trebuchet MS" panose="020B0603020202020204"/>
            </a:endParaRPr>
          </a:p>
        </p:txBody>
      </p:sp>
      <p:sp>
        <p:nvSpPr>
          <p:cNvPr id="12" name="object 12"/>
          <p:cNvSpPr txBox="1">
            <a:spLocks noGrp="1"/>
          </p:cNvSpPr>
          <p:nvPr>
            <p:ph type="ftr" sz="quarter" idx="5"/>
          </p:nvPr>
        </p:nvSpPr>
        <p:spPr>
          <a:prstGeom prst="rect">
            <a:avLst/>
          </a:prstGeom>
        </p:spPr>
        <p:txBody>
          <a:bodyPr vert="horz" wrap="square" lIns="0" tIns="2540" rIns="0" bIns="0" rtlCol="0">
            <a:spAutoFit/>
          </a:bodyPr>
          <a:lstStyle/>
          <a:p>
            <a:pPr marL="12700">
              <a:lnSpc>
                <a:spcPct val="100000"/>
              </a:lnSpc>
              <a:spcBef>
                <a:spcPts val="20"/>
              </a:spcBef>
            </a:pPr>
            <a:r>
              <a:rPr spc="-155" dirty="0"/>
              <a:t>©</a:t>
            </a:r>
            <a:r>
              <a:rPr spc="140" dirty="0"/>
              <a:t> </a:t>
            </a:r>
            <a:r>
              <a:rPr spc="105" dirty="0"/>
              <a:t>BVRIT</a:t>
            </a:r>
            <a:r>
              <a:rPr spc="135" dirty="0"/>
              <a:t> </a:t>
            </a:r>
            <a:r>
              <a:rPr spc="85" dirty="0"/>
              <a:t>CSE(AI&amp;ML)</a:t>
            </a:r>
          </a:p>
        </p:txBody>
      </p:sp>
      <p:sp>
        <p:nvSpPr>
          <p:cNvPr id="13" name="object 10"/>
          <p:cNvSpPr/>
          <p:nvPr/>
        </p:nvSpPr>
        <p:spPr>
          <a:xfrm>
            <a:off x="368067" y="797832"/>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dirty="0"/>
          </a:p>
        </p:txBody>
      </p:sp>
      <p:graphicFrame>
        <p:nvGraphicFramePr>
          <p:cNvPr id="14" name="Table 13">
            <a:extLst>
              <a:ext uri="{FF2B5EF4-FFF2-40B4-BE49-F238E27FC236}">
                <a16:creationId xmlns:a16="http://schemas.microsoft.com/office/drawing/2014/main" id="{5986EEE6-52CA-85F4-8F60-F115C249E8E8}"/>
              </a:ext>
            </a:extLst>
          </p:cNvPr>
          <p:cNvGraphicFramePr>
            <a:graphicFrameLocks noGrp="1"/>
          </p:cNvGraphicFramePr>
          <p:nvPr>
            <p:extLst>
              <p:ext uri="{D42A27DB-BD31-4B8C-83A1-F6EECF244321}">
                <p14:modId xmlns:p14="http://schemas.microsoft.com/office/powerpoint/2010/main" val="3029058872"/>
              </p:ext>
            </p:extLst>
          </p:nvPr>
        </p:nvGraphicFramePr>
        <p:xfrm>
          <a:off x="390704" y="1576473"/>
          <a:ext cx="11410971" cy="3742674"/>
        </p:xfrm>
        <a:graphic>
          <a:graphicData uri="http://schemas.openxmlformats.org/drawingml/2006/table">
            <a:tbl>
              <a:tblPr firstRow="1" bandRow="1">
                <a:tableStyleId>{5940675A-B579-460E-94D1-54222C63F5DA}</a:tableStyleId>
              </a:tblPr>
              <a:tblGrid>
                <a:gridCol w="2785893">
                  <a:extLst>
                    <a:ext uri="{9D8B030D-6E8A-4147-A177-3AD203B41FA5}">
                      <a16:colId xmlns:a16="http://schemas.microsoft.com/office/drawing/2014/main" val="2294263220"/>
                    </a:ext>
                  </a:extLst>
                </a:gridCol>
                <a:gridCol w="2875026">
                  <a:extLst>
                    <a:ext uri="{9D8B030D-6E8A-4147-A177-3AD203B41FA5}">
                      <a16:colId xmlns:a16="http://schemas.microsoft.com/office/drawing/2014/main" val="1425798394"/>
                    </a:ext>
                  </a:extLst>
                </a:gridCol>
                <a:gridCol w="2875026">
                  <a:extLst>
                    <a:ext uri="{9D8B030D-6E8A-4147-A177-3AD203B41FA5}">
                      <a16:colId xmlns:a16="http://schemas.microsoft.com/office/drawing/2014/main" val="4292754630"/>
                    </a:ext>
                  </a:extLst>
                </a:gridCol>
                <a:gridCol w="2875026">
                  <a:extLst>
                    <a:ext uri="{9D8B030D-6E8A-4147-A177-3AD203B41FA5}">
                      <a16:colId xmlns:a16="http://schemas.microsoft.com/office/drawing/2014/main" val="2473188414"/>
                    </a:ext>
                  </a:extLst>
                </a:gridCol>
              </a:tblGrid>
              <a:tr h="725154">
                <a:tc>
                  <a:txBody>
                    <a:bodyPr/>
                    <a:lstStyle/>
                    <a:p>
                      <a:pPr algn="l"/>
                      <a:r>
                        <a:rPr lang="en-IN" b="1" dirty="0">
                          <a:latin typeface="Bookman Old Style" panose="02050604050505020204" pitchFamily="18" charset="0"/>
                        </a:rPr>
                        <a:t>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b="1" dirty="0">
                          <a:latin typeface="Bookman Old Style" panose="02050604050505020204" pitchFamily="18" charset="0"/>
                        </a:rPr>
                        <a:t> 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b="1" dirty="0">
                          <a:latin typeface="Bookman Old Style" panose="02050604050505020204" pitchFamily="18" charset="0"/>
                        </a:rPr>
                        <a:t>    Name of the paper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b="1" dirty="0">
                          <a:latin typeface="Bookman Old Style" panose="02050604050505020204" pitchFamily="18" charset="0"/>
                        </a:rPr>
                        <a:t> Model used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010167"/>
                  </a:ext>
                </a:extLst>
              </a:tr>
              <a:tr h="725154">
                <a:tc>
                  <a:txBody>
                    <a:bodyPr/>
                    <a:lstStyle/>
                    <a:p>
                      <a:pPr algn="l"/>
                      <a:r>
                        <a:rPr lang="en-IN" dirty="0" smtClean="0">
                          <a:latin typeface="Bookman Old Style" panose="02050604050505020204" pitchFamily="18" charset="0"/>
                        </a:rPr>
                        <a:t>2022</a:t>
                      </a:r>
                      <a:endParaRPr lang="en-IN" dirty="0">
                        <a:latin typeface="Bookman Old Style" panose="0205060405050502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err="1" smtClean="0">
                          <a:latin typeface="Bookman Old Style" panose="02050604050505020204" pitchFamily="18" charset="0"/>
                        </a:rPr>
                        <a:t>A.Singh</a:t>
                      </a:r>
                      <a:r>
                        <a:rPr lang="en-IN" dirty="0" smtClean="0">
                          <a:latin typeface="Bookman Old Style" panose="02050604050505020204" pitchFamily="18" charset="0"/>
                        </a:rPr>
                        <a:t>, &amp; </a:t>
                      </a:r>
                      <a:r>
                        <a:rPr lang="en-IN" dirty="0" err="1" smtClean="0">
                          <a:latin typeface="Bookman Old Style" panose="02050604050505020204" pitchFamily="18" charset="0"/>
                        </a:rPr>
                        <a:t>N.Gupta</a:t>
                      </a:r>
                      <a:endParaRPr lang="en-IN" dirty="0">
                        <a:latin typeface="Bookman Old Style" panose="0205060405050502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GB" i="0" dirty="0" smtClean="0">
                          <a:latin typeface="Bookman Old Style" panose="02050604050505020204" pitchFamily="18" charset="0"/>
                        </a:rPr>
                        <a:t>Analyzing Insurance Claim Data Using Big Data Analytics</a:t>
                      </a:r>
                      <a:endParaRPr lang="en-IN" i="0" dirty="0">
                        <a:latin typeface="Bookman Old Style" panose="0205060405050502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GB" dirty="0" smtClean="0">
                          <a:latin typeface="Bookman Old Style" panose="02050604050505020204" pitchFamily="18" charset="0"/>
                        </a:rPr>
                        <a:t>Big Data Analytics, Ensemble Learning</a:t>
                      </a:r>
                      <a:endParaRPr lang="en-IN" dirty="0">
                        <a:latin typeface="Bookman Old Style" panose="0205060405050502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0632783"/>
                  </a:ext>
                </a:extLst>
              </a:tr>
              <a:tr h="725154">
                <a:tc>
                  <a:txBody>
                    <a:bodyPr/>
                    <a:lstStyle/>
                    <a:p>
                      <a:pPr algn="l"/>
                      <a:r>
                        <a:rPr lang="en-IN" dirty="0" smtClean="0">
                          <a:latin typeface="Bookman Old Style" panose="02050604050505020204" pitchFamily="18" charset="0"/>
                        </a:rPr>
                        <a:t>2023</a:t>
                      </a:r>
                      <a:endParaRPr lang="en-IN" dirty="0">
                        <a:latin typeface="Bookman Old Style" panose="0205060405050502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b="0" i="0" u="none" strike="noStrike" dirty="0" err="1" smtClean="0">
                          <a:solidFill>
                            <a:schemeClr val="tx1"/>
                          </a:solidFill>
                          <a:effectLst/>
                          <a:latin typeface="Bookman Old Style" panose="02050604050505020204" pitchFamily="18" charset="0"/>
                          <a:ea typeface="+mn-ea"/>
                          <a:cs typeface="+mn-cs"/>
                        </a:rPr>
                        <a:t>Ditdit</a:t>
                      </a:r>
                      <a:r>
                        <a:rPr lang="en-IN" b="0" i="0" u="none" strike="noStrike" dirty="0" smtClean="0">
                          <a:solidFill>
                            <a:schemeClr val="tx1"/>
                          </a:solidFill>
                          <a:effectLst/>
                          <a:latin typeface="Bookman Old Style" panose="02050604050505020204" pitchFamily="18" charset="0"/>
                          <a:ea typeface="+mn-ea"/>
                          <a:cs typeface="+mn-cs"/>
                        </a:rPr>
                        <a:t> </a:t>
                      </a:r>
                      <a:r>
                        <a:rPr lang="en-IN" b="0" i="0" u="none" strike="noStrike" dirty="0" err="1" smtClean="0">
                          <a:solidFill>
                            <a:schemeClr val="tx1"/>
                          </a:solidFill>
                          <a:effectLst/>
                          <a:latin typeface="Bookman Old Style" panose="02050604050505020204" pitchFamily="18" charset="0"/>
                          <a:ea typeface="+mn-ea"/>
                          <a:cs typeface="+mn-cs"/>
                        </a:rPr>
                        <a:t>Nugeraha</a:t>
                      </a:r>
                      <a:r>
                        <a:rPr lang="en-IN" b="0" i="0" u="none" strike="noStrike" dirty="0" smtClean="0">
                          <a:solidFill>
                            <a:schemeClr val="tx1"/>
                          </a:solidFill>
                          <a:effectLst/>
                          <a:latin typeface="Bookman Old Style" panose="02050604050505020204" pitchFamily="18" charset="0"/>
                          <a:ea typeface="+mn-ea"/>
                          <a:cs typeface="+mn-cs"/>
                        </a:rPr>
                        <a:t> </a:t>
                      </a:r>
                      <a:r>
                        <a:rPr lang="en-IN" b="0" i="0" u="none" strike="noStrike" dirty="0" err="1" smtClean="0">
                          <a:solidFill>
                            <a:schemeClr val="tx1"/>
                          </a:solidFill>
                          <a:effectLst/>
                          <a:latin typeface="Bookman Old Style" panose="02050604050505020204" pitchFamily="18" charset="0"/>
                          <a:ea typeface="+mn-ea"/>
                          <a:cs typeface="+mn-cs"/>
                        </a:rPr>
                        <a:t>Utama</a:t>
                      </a:r>
                      <a:r>
                        <a:rPr lang="en-IN" b="0" i="0" u="none" strike="noStrike" dirty="0" smtClean="0">
                          <a:solidFill>
                            <a:schemeClr val="tx1"/>
                          </a:solidFill>
                          <a:effectLst/>
                          <a:latin typeface="Bookman Old Style" panose="02050604050505020204" pitchFamily="18" charset="0"/>
                          <a:ea typeface="+mn-ea"/>
                          <a:cs typeface="+mn-cs"/>
                        </a:rPr>
                        <a:t> &amp;</a:t>
                      </a:r>
                    </a:p>
                    <a:p>
                      <a:pPr algn="l"/>
                      <a:r>
                        <a:rPr lang="en-IN" b="0" i="0" u="none" strike="noStrike" dirty="0" err="1" smtClean="0">
                          <a:solidFill>
                            <a:schemeClr val="tx1"/>
                          </a:solidFill>
                          <a:effectLst/>
                          <a:latin typeface="Bookman Old Style" panose="02050604050505020204" pitchFamily="18" charset="0"/>
                          <a:ea typeface="+mn-ea"/>
                          <a:cs typeface="+mn-cs"/>
                        </a:rPr>
                        <a:t>Sumiatie</a:t>
                      </a:r>
                      <a:r>
                        <a:rPr lang="en-IN" b="0" i="0" u="none" strike="noStrike" dirty="0" smtClean="0">
                          <a:solidFill>
                            <a:schemeClr val="tx1"/>
                          </a:solidFill>
                          <a:effectLst/>
                          <a:latin typeface="Bookman Old Style" panose="02050604050505020204" pitchFamily="18" charset="0"/>
                          <a:ea typeface="+mn-ea"/>
                          <a:cs typeface="+mn-cs"/>
                        </a:rPr>
                        <a:t> </a:t>
                      </a:r>
                      <a:r>
                        <a:rPr lang="en-IN" b="0" i="0" u="none" strike="noStrike" dirty="0" err="1" smtClean="0">
                          <a:solidFill>
                            <a:schemeClr val="tx1"/>
                          </a:solidFill>
                          <a:effectLst/>
                          <a:latin typeface="Bookman Old Style" panose="02050604050505020204" pitchFamily="18" charset="0"/>
                          <a:ea typeface="+mn-ea"/>
                          <a:cs typeface="+mn-cs"/>
                        </a:rPr>
                        <a:t>Susanto</a:t>
                      </a:r>
                      <a:endParaRPr lang="en-IN" dirty="0">
                        <a:latin typeface="Bookman Old Style" panose="0205060405050502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b="0" i="0" dirty="0" smtClean="0">
                          <a:solidFill>
                            <a:schemeClr val="tx1"/>
                          </a:solidFill>
                          <a:effectLst/>
                          <a:latin typeface="Bookman Old Style" panose="02050604050505020204" pitchFamily="18" charset="0"/>
                          <a:ea typeface="+mn-ea"/>
                          <a:cs typeface="+mn-cs"/>
                        </a:rPr>
                        <a:t>Service Oriented Fuzzy Decision Model for Health Insurance Claim</a:t>
                      </a:r>
                      <a:endParaRPr lang="en-GB" b="0" i="0" dirty="0">
                        <a:solidFill>
                          <a:schemeClr val="tx1"/>
                        </a:solidFill>
                        <a:effectLst/>
                        <a:latin typeface="Bookman Old Style" panose="0205060405050502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GB" dirty="0" smtClean="0">
                          <a:latin typeface="Bookman Old Style" panose="02050604050505020204" pitchFamily="18" charset="0"/>
                        </a:rPr>
                        <a:t>Object-Oriented Analysis and Design (OOAD)</a:t>
                      </a:r>
                      <a:endParaRPr lang="en-IN" dirty="0">
                        <a:latin typeface="Bookman Old Style" panose="0205060405050502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1949416"/>
                  </a:ext>
                </a:extLst>
              </a:tr>
              <a:tr h="725154">
                <a:tc>
                  <a:txBody>
                    <a:bodyPr/>
                    <a:lstStyle/>
                    <a:p>
                      <a:pPr algn="l"/>
                      <a:r>
                        <a:rPr lang="en-IN" dirty="0" smtClean="0">
                          <a:latin typeface="Bookman Old Style" panose="02050604050505020204" pitchFamily="18" charset="0"/>
                        </a:rPr>
                        <a:t>2015</a:t>
                      </a:r>
                      <a:endParaRPr lang="en-IN" dirty="0">
                        <a:latin typeface="Bookman Old Style" panose="0205060405050502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b="0" i="0" u="none" strike="noStrike" dirty="0" smtClean="0">
                          <a:solidFill>
                            <a:schemeClr val="tx1"/>
                          </a:solidFill>
                          <a:effectLst/>
                          <a:latin typeface="Bookman Old Style" panose="02050604050505020204" pitchFamily="18" charset="0"/>
                          <a:ea typeface="+mn-ea"/>
                          <a:cs typeface="+mn-cs"/>
                        </a:rPr>
                        <a:t>Stephen</a:t>
                      </a:r>
                      <a:r>
                        <a:rPr lang="en-IN" b="0" i="0" u="none" strike="noStrike" baseline="0" dirty="0" smtClean="0">
                          <a:solidFill>
                            <a:schemeClr val="tx1"/>
                          </a:solidFill>
                          <a:effectLst/>
                          <a:latin typeface="Bookman Old Style" panose="02050604050505020204" pitchFamily="18" charset="0"/>
                          <a:ea typeface="+mn-ea"/>
                          <a:cs typeface="+mn-cs"/>
                        </a:rPr>
                        <a:t> J. Redmond &amp;</a:t>
                      </a:r>
                    </a:p>
                    <a:p>
                      <a:pPr algn="l"/>
                      <a:r>
                        <a:rPr lang="en-IN" b="0" i="0" u="none" strike="noStrike" dirty="0" smtClean="0">
                          <a:solidFill>
                            <a:schemeClr val="tx1"/>
                          </a:solidFill>
                          <a:effectLst/>
                          <a:latin typeface="Bookman Old Style" panose="02050604050505020204" pitchFamily="18" charset="0"/>
                          <a:ea typeface="+mn-ea"/>
                          <a:cs typeface="+mn-cs"/>
                        </a:rPr>
                        <a:t>Yang </a:t>
                      </a:r>
                      <a:r>
                        <a:rPr lang="en-IN" b="0" i="0" u="none" strike="noStrike" dirty="0" err="1" smtClean="0">
                          <a:solidFill>
                            <a:schemeClr val="tx1"/>
                          </a:solidFill>
                          <a:effectLst/>
                          <a:latin typeface="Bookman Old Style" panose="02050604050505020204" pitchFamily="18" charset="0"/>
                          <a:ea typeface="+mn-ea"/>
                          <a:cs typeface="+mn-cs"/>
                        </a:rPr>
                        <a:t>Xie</a:t>
                      </a:r>
                      <a:endParaRPr lang="en-IN" dirty="0">
                        <a:solidFill>
                          <a:schemeClr val="tx1"/>
                        </a:solidFill>
                        <a:latin typeface="Bookman Old Style" panose="0205060405050502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b="0" i="0" dirty="0" smtClean="0">
                          <a:solidFill>
                            <a:schemeClr val="tx1"/>
                          </a:solidFill>
                          <a:effectLst/>
                          <a:latin typeface="Bookman Old Style" panose="02050604050505020204" pitchFamily="18" charset="0"/>
                          <a:ea typeface="+mn-ea"/>
                          <a:cs typeface="+mn-cs"/>
                        </a:rPr>
                        <a:t>Predicting Days in Hospital Using Health Insurance Claims</a:t>
                      </a:r>
                      <a:endParaRPr lang="en-GB" b="0" i="0" dirty="0">
                        <a:solidFill>
                          <a:schemeClr val="tx1"/>
                        </a:solidFill>
                        <a:effectLst/>
                        <a:latin typeface="Bookman Old Style" panose="02050604050505020204" pitchFamily="18"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dirty="0" smtClean="0">
                          <a:latin typeface="Bookman Old Style" panose="02050604050505020204" pitchFamily="18" charset="0"/>
                        </a:rPr>
                        <a:t>The model used in the study is a </a:t>
                      </a:r>
                      <a:r>
                        <a:rPr lang="en-GB" b="0" dirty="0" smtClean="0">
                          <a:latin typeface="Bookman Old Style" panose="02050604050505020204" pitchFamily="18" charset="0"/>
                        </a:rPr>
                        <a:t>Regression Decision Tree Algorithm.</a:t>
                      </a:r>
                      <a:endParaRPr lang="en-GB" b="0" dirty="0">
                        <a:latin typeface="Bookman Old Style" panose="0205060405050502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416123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7326" y="2407361"/>
            <a:ext cx="5570474" cy="843821"/>
          </a:xfrm>
          <a:prstGeom prst="rect">
            <a:avLst/>
          </a:prstGeom>
        </p:spPr>
        <p:txBody>
          <a:bodyPr vert="horz" wrap="square" lIns="0" tIns="12700" rIns="0" bIns="0" rtlCol="0">
            <a:spAutoFit/>
          </a:bodyPr>
          <a:lstStyle/>
          <a:p>
            <a:pPr marL="12700">
              <a:lnSpc>
                <a:spcPct val="100000"/>
              </a:lnSpc>
              <a:spcBef>
                <a:spcPts val="100"/>
              </a:spcBef>
              <a:tabLst>
                <a:tab pos="2894330" algn="l"/>
              </a:tabLst>
            </a:pPr>
            <a:r>
              <a:rPr sz="5400" b="0" u="none" spc="370" dirty="0">
                <a:latin typeface="Bookman Old Style" panose="02050604050505020204" pitchFamily="18" charset="0"/>
              </a:rPr>
              <a:t>THAN</a:t>
            </a:r>
            <a:r>
              <a:rPr sz="5400" b="0" u="none" spc="365" dirty="0">
                <a:latin typeface="Bookman Old Style" panose="02050604050505020204" pitchFamily="18" charset="0"/>
              </a:rPr>
              <a:t>K</a:t>
            </a:r>
            <a:r>
              <a:rPr sz="5400" b="0" u="none" dirty="0">
                <a:latin typeface="Bookman Old Style" panose="02050604050505020204" pitchFamily="18" charset="0"/>
              </a:rPr>
              <a:t>	</a:t>
            </a:r>
            <a:r>
              <a:rPr sz="5400" b="0" u="none" spc="620" dirty="0">
                <a:latin typeface="Bookman Old Style" panose="02050604050505020204" pitchFamily="18" charset="0"/>
              </a:rPr>
              <a:t>YOU</a:t>
            </a:r>
            <a:endParaRPr sz="5400" dirty="0">
              <a:latin typeface="Bookman Old Style" panose="02050604050505020204" pitchFamily="18" charset="0"/>
            </a:endParaRPr>
          </a:p>
        </p:txBody>
      </p:sp>
      <p:sp>
        <p:nvSpPr>
          <p:cNvPr id="3" name="object 3"/>
          <p:cNvSpPr/>
          <p:nvPr/>
        </p:nvSpPr>
        <p:spPr>
          <a:xfrm>
            <a:off x="761" y="761"/>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50800">
            <a:solidFill>
              <a:srgbClr val="EE8B6A"/>
            </a:solidFill>
          </a:ln>
        </p:spPr>
        <p:txBody>
          <a:bodyPr wrap="square" lIns="0" tIns="0" rIns="0" bIns="0" rtlCol="0"/>
          <a:lstStyle/>
          <a:p>
            <a:endParaRPr/>
          </a:p>
        </p:txBody>
      </p:sp>
      <p:sp>
        <p:nvSpPr>
          <p:cNvPr id="4" name="object 4"/>
          <p:cNvSpPr txBox="1"/>
          <p:nvPr/>
        </p:nvSpPr>
        <p:spPr>
          <a:xfrm>
            <a:off x="11543792" y="6329883"/>
            <a:ext cx="177800" cy="228268"/>
          </a:xfrm>
          <a:prstGeom prst="rect">
            <a:avLst/>
          </a:prstGeom>
        </p:spPr>
        <p:txBody>
          <a:bodyPr vert="horz" wrap="square" lIns="0" tIns="12700" rIns="0" bIns="0" rtlCol="0">
            <a:spAutoFit/>
          </a:bodyPr>
          <a:lstStyle/>
          <a:p>
            <a:pPr marL="12700">
              <a:lnSpc>
                <a:spcPct val="100000"/>
              </a:lnSpc>
              <a:spcBef>
                <a:spcPts val="100"/>
              </a:spcBef>
            </a:pPr>
            <a:r>
              <a:rPr sz="1400" b="1" spc="-225" dirty="0">
                <a:solidFill>
                  <a:srgbClr val="FFFFFF"/>
                </a:solidFill>
                <a:latin typeface="Trebuchet MS" panose="020B0603020202020204"/>
                <a:cs typeface="Trebuchet MS" panose="020B0603020202020204"/>
              </a:rPr>
              <a:t>1</a:t>
            </a:r>
            <a:r>
              <a:rPr lang="en-IN" sz="1400" b="1" spc="-225" dirty="0">
                <a:solidFill>
                  <a:srgbClr val="FFFFFF"/>
                </a:solidFill>
                <a:latin typeface="Trebuchet MS" panose="020B0603020202020204"/>
                <a:cs typeface="Trebuchet MS" panose="020B0603020202020204"/>
              </a:rPr>
              <a:t>4</a:t>
            </a:r>
            <a:endParaRPr sz="1400" dirty="0">
              <a:latin typeface="Trebuchet MS" panose="020B0603020202020204"/>
              <a:cs typeface="Trebuchet MS" panose="020B0603020202020204"/>
            </a:endParaRPr>
          </a:p>
        </p:txBody>
      </p:sp>
      <p:pic>
        <p:nvPicPr>
          <p:cNvPr id="5" name="Picture 4"/>
          <p:cNvPicPr>
            <a:picLocks noChangeAspect="1"/>
          </p:cNvPicPr>
          <p:nvPr/>
        </p:nvPicPr>
        <p:blipFill>
          <a:blip r:embed="rId2"/>
          <a:stretch>
            <a:fillRect/>
          </a:stretch>
        </p:blipFill>
        <p:spPr>
          <a:xfrm>
            <a:off x="228600" y="152400"/>
            <a:ext cx="719390" cy="536494"/>
          </a:xfrm>
          <a:prstGeom prst="rect">
            <a:avLst/>
          </a:prstGeom>
        </p:spPr>
      </p:pic>
      <p:sp>
        <p:nvSpPr>
          <p:cNvPr id="8" name="object 10"/>
          <p:cNvSpPr/>
          <p:nvPr/>
        </p:nvSpPr>
        <p:spPr>
          <a:xfrm>
            <a:off x="152400" y="762000"/>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dirty="0"/>
          </a:p>
        </p:txBody>
      </p:sp>
      <p:sp>
        <p:nvSpPr>
          <p:cNvPr id="7" name="TextBox 6"/>
          <p:cNvSpPr txBox="1"/>
          <p:nvPr/>
        </p:nvSpPr>
        <p:spPr>
          <a:xfrm>
            <a:off x="4800600" y="6418989"/>
            <a:ext cx="6119768" cy="369332"/>
          </a:xfrm>
          <a:prstGeom prst="rect">
            <a:avLst/>
          </a:prstGeom>
          <a:noFill/>
        </p:spPr>
        <p:txBody>
          <a:bodyPr wrap="square">
            <a:spAutoFit/>
          </a:bodyPr>
          <a:lstStyle/>
          <a:p>
            <a:pPr marL="12700">
              <a:lnSpc>
                <a:spcPct val="100000"/>
              </a:lnSpc>
              <a:spcBef>
                <a:spcPts val="20"/>
              </a:spcBef>
            </a:pPr>
            <a:r>
              <a:rPr lang="en-IN" spc="-155" dirty="0"/>
              <a:t>©</a:t>
            </a:r>
            <a:r>
              <a:rPr lang="en-IN" spc="140" dirty="0"/>
              <a:t> </a:t>
            </a:r>
            <a:r>
              <a:rPr lang="en-IN" spc="105" dirty="0"/>
              <a:t>BVRIT</a:t>
            </a:r>
            <a:r>
              <a:rPr lang="en-IN" spc="135" dirty="0"/>
              <a:t> </a:t>
            </a:r>
            <a:r>
              <a:rPr lang="en-IN" spc="85" dirty="0"/>
              <a:t>CSE(AI&amp;ML)</a:t>
            </a:r>
          </a:p>
        </p:txBody>
      </p:sp>
      <p:sp>
        <p:nvSpPr>
          <p:cNvPr id="9" name="object 10"/>
          <p:cNvSpPr/>
          <p:nvPr/>
        </p:nvSpPr>
        <p:spPr>
          <a:xfrm>
            <a:off x="7727442" y="6136385"/>
            <a:ext cx="4224655" cy="0"/>
          </a:xfrm>
          <a:custGeom>
            <a:avLst/>
            <a:gdLst/>
            <a:ahLst/>
            <a:cxnLst/>
            <a:rect l="l" t="t" r="r" b="b"/>
            <a:pathLst>
              <a:path w="4224655">
                <a:moveTo>
                  <a:pt x="0" y="0"/>
                </a:moveTo>
                <a:lnTo>
                  <a:pt x="4224528" y="0"/>
                </a:lnTo>
              </a:path>
            </a:pathLst>
          </a:custGeom>
          <a:ln w="38100">
            <a:solidFill>
              <a:srgbClr val="001F5F"/>
            </a:solidFill>
          </a:ln>
        </p:spPr>
        <p:txBody>
          <a:bodyPr wrap="square" lIns="0" tIns="0" rIns="0" bIns="0" rtlCol="0"/>
          <a:lstStyle/>
          <a:p>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803</TotalTime>
  <Words>1309</Words>
  <Application>Microsoft Office PowerPoint</Application>
  <PresentationFormat>Widescreen</PresentationFormat>
  <Paragraphs>217</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Bookman Old Style</vt:lpstr>
      <vt:lpstr>Calibri</vt:lpstr>
      <vt:lpstr>Cambria</vt:lpstr>
      <vt:lpstr>Trebuchet MS</vt:lpstr>
      <vt:lpstr>Wingdings</vt:lpstr>
      <vt:lpstr>Office Theme</vt:lpstr>
      <vt:lpstr>B V RAJU INSTITUTE OF TECHNOLOGY</vt:lpstr>
      <vt:lpstr>OUTLINE</vt:lpstr>
      <vt:lpstr>INTRODUCTION TO TOPIC</vt:lpstr>
      <vt:lpstr>ABSTRACT</vt:lpstr>
      <vt:lpstr>PowerPoint Presentation</vt:lpstr>
      <vt:lpstr>PROBLEM STATEMENT</vt:lpstr>
      <vt:lpstr>MOTIVATION</vt:lpstr>
      <vt:lpstr>DATASETS</vt:lpstr>
      <vt:lpstr>LITERATURE REVIEW</vt:lpstr>
      <vt:lpstr> METHODOLOGY </vt:lpstr>
      <vt:lpstr> METHODOLOGY </vt:lpstr>
      <vt:lpstr>ARCHITECTURE</vt:lpstr>
      <vt:lpstr>IMPLEMENTATION DETAILS </vt:lpstr>
      <vt:lpstr>RESULT &amp; DISCUSSION</vt:lpstr>
      <vt:lpstr>APPLICATIONS</vt:lpstr>
      <vt:lpstr>CONCLUSION</vt:lpstr>
      <vt:lpstr>  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License Plate Recognition</dc:title>
  <dc:creator>Tarun Sai Reddy N</dc:creator>
  <cp:lastModifiedBy>Mohd Ghouse</cp:lastModifiedBy>
  <cp:revision>86</cp:revision>
  <dcterms:created xsi:type="dcterms:W3CDTF">2024-03-18T16:11:00Z</dcterms:created>
  <dcterms:modified xsi:type="dcterms:W3CDTF">2026-01-09T18:14:31Z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2024-03-16T05:30:00Z</vt:filetime>
  </property>
  <property fmtid="{D5CDD505-2E9C-101B-9397-08002B2CF9AE}" pid="3" name="Creator">
    <vt:lpwstr>Microsoft® PowerPoint® LTSC</vt:lpwstr>
  </property>
  <property fmtid="{D5CDD505-2E9C-101B-9397-08002B2CF9AE}" pid="4" name="LastSaved">
    <vt:filetime>2024-03-18T05:30:00Z</vt:filetime>
  </property>
  <property fmtid="{D5CDD505-2E9C-101B-9397-08002B2CF9AE}" pid="5" name="ICV">
    <vt:lpwstr>7ED9C40C03114A0C85689DD0F71FF677_12</vt:lpwstr>
  </property>
  <property fmtid="{D5CDD505-2E9C-101B-9397-08002B2CF9AE}" pid="6" name="KSOProductBuildVer">
    <vt:lpwstr>1033-12.2.0.19307</vt:lpwstr>
  </property>
</Properties>
</file>